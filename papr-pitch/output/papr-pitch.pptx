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Bahnschrift" panose="020B0502040204020203" pitchFamily="34"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story: Max spent his summer doing AI alignment research at MIT. Derek spent his waiting on PO paperwork before he could continue his intern project. Will likes to pretend he is good at abstract math. We combined the domain experience with the technical experience. The tagline is humorous, not an endorsement.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Industry benchmarks, not papr performance measurements. Time: APQC measure 110916, cross-industry median 2.0 days from requisition received to PO released, including waiting. https://www.apqc.org/resources/benchmarking/open-standards-benchmarking/measures/average-days-issue-purchase-order . Cost: APQC, How Efficient Is Your Procurement Process?, April 29, 2026, about $14 to more than $54 per purchase order across organizations. This is not a manual-only range and is not purchase value. https://www.apqc.org/resource-library/resource/how-efficient-your-procurement-process-benchmarks-reveal-wide-performance . Record-keeping: Ardent Partners, State of ePayables 2025, average invoice exception rate 18.4%, reported by Andrew Bartolini January 22, 2026. https://payablesplace.ardentpartners.com/2026/01/state-of-epayables-part-nine-ap-benchmarks-and-best-in-class-performance/ . This is a downstream AP metric, not a PO error rate. Exceptions have multiple causes; the deck does not attribute all of them to missing records. Retrieved October 18, 2026. An invoice exception is an issue that interrupts normal processing and needs resolution, such as missing PO information or data that does not match. Definition and examples: Ardent Partners, https://payablesplace.ardentpartners.com/2017/06/aps-need-speed-invoice-exception-handling/ and https://payablesplace.ardentpartners.com/2020/09/overcoming-traditional-challenges-in-ap-will-result-in-modern-success/ . The 18.4% remains the 2025 average invoice exception rate, not a rate of fraud or papr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Simplified overview with an illustrative laptop request: the user submits natural language plus company and user configuration. Authorization is checked before product search. papr translates the request into explicit required specifications and preferences: the example requires a price at most USD 1,200 and at least 16 GB RAM, while low weight is a preference. The agent searches for candidates and verifies encoded requirements against supplied evidence, ranking eligible discovered candidates by preferences. A formal check establishes consistency with the encoded conditions, not independent truth of vendor claims. Ambiguous specs require clarification. Failed authorization or unmet requirements can yield a denial without completing every stage shown. Both approvals and denials retain the request, submitter and proof-based reason. This diagram groups internal operations for presentation and does not claim a literal production trace.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Industry benchmarks, not papr performance measurements. Time: APQC measure 110916, cross-industry median 2.0 days from requisition received to PO released, including waiting. https://www.apqc.org/resources/benchmarking/open-standards-benchmarking/measures/average-days-issue-purchase-order . Cost: APQC, How Efficient Is Your Procurement Process?, April 29, 2026, about $14 to more than $54 per purchase order across organizations. This is not a manual-only range and is not purchase value. https://www.apqc.org/resource-library/resource/how-efficient-your-procurement-process-benchmarks-reveal-wide-performance . Record-keeping: Ardent Partners, State of ePayables 2025, average invoice exception rate 18.4%, reported by Andrew Bartolini January 22, 2026. https://payablesplace.ardentpartners.com/2026/01/state-of-epayables-part-nine-ap-benchmarks-and-best-in-class-performance/ . This is a downstream AP metric, not a PO error rate. Exceptions have multiple causes; the deck does not attribute all of them to missing records. Retrieved October 18, 2026. An invoice exception is an issue that interrupts normal processing and needs resolution, such as missing PO information or data that does not match. Definition and examples: Ardent Partners, https://payablesplace.ardentpartners.com/2017/06/aps-need-speed-invoice-exception-handling/ and https://payablesplace.ardentpartners.com/2020/09/overcoming-traditional-challenges-in-ap-will-result-in-modern-success/ . The 18.4% remains the 2025 average invoice exception rate, not a rate of fraud or papr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Hypothetical pilot targets, not observed papr performance or statistically comparable before-and-after results. The prior slide uses cross-industry benchmark populations; this scenario concerns routine in-policy purchases handled through papr. Time: user-selected target of 20 minutes from requisition received to PO released, including waits, to validate in a matched pilot. Procurement is broader than PO processing, so do not call this total procurement lead time. Cost: illustrative fully allocated per-PO estimate of 6 minutes of human labor at an assumed loaded USD 60/hour (USD 6) plus USD 4 allocated technology and overhead cost = USD 10. The USD 4 allowance must cover applicable model/search services, platform fees, integration amortization, support, and other overhead without double counting; actual allocation and achieved throughput need measurement. This is not a vendor quote, measured unit cost, validated savings, or the pricing assumption on the opportunity slide. Exceptions: at most 10% is an aspirational pilot hypothesis for invoice exceptions, not a model prediction or a claim papr can control all accounts-payable outcomes. A proposed pilot would track the share of downstream invoices linked to papr-issued POs requiring exception handling and compare with a matched baseline using the same exception definition. Supplier invoice quality, receipt confirmation, matching, price changes and other downstream processes remain material. The 18.4% industry benchmark is not a measured baseline for those customers. No relative savings or improvement percentages should be claimed from this comparison. Citation provenance: [Projected time] 20 minutes is the project team’s requested pilot target for elapsed time from requisition to PO release on routine, in-policy purchases. It is not a measured result or an external benchmark. Source: papr pitch planning, October 18, 2026. [Illustrative cost model] Illustrative estimate: 6 minutes of human work × an assumed loaded labor rate of $60/hour = $6; add an assumed $4 per PO for technology and allocated overhead = $10. Both inputs are unvalidated. The overhead allowance must cover applicable model/search services, platform fees, integration amortization, support, and other costs without double counting. Source: illustrative model developed for this deck, October 18, 2026. [Projected exception rate] The ≤10% invoice-exception figure is a proposed pilot hypothesis introduced for this deck, not a measured papr outcome, published study, or model prediction. Validate with a matched cohort of invoices linked to papr-issued POs. Vendor invoice quality and receiving processes also affect exceptions. Source: illustrative pilot hypothesis developed for this deck, October 18,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logic model, not a literal solver trace. Natural-language requests and company/user configuration become explicit predicates. For each candidate x, H(x) is the conjunction of authorization, budget, required specifications, and vendor-policy checks in the current context. S is the eligible set of discovered candidates. SMT verification checks the encoded conditions against supplied evidence. Preferences such as low weight guide ranking within S, not across every possible product on the web. argmax assumes a defined preference score and nonempty S; if no candidate qualifies, no candidate is selected. Ambiguous language and uncertain product facts need clarification or review. Formal proof guarantees only what follows from its modeled assumptions, not the independent truth of a vendor listing. OpenAI comparison: OpenAI, On the Navier–Stokes Millennium Prize Problem, September 8, 2026, describes AI agents producing a proof and subsequent Lean formalization and verification. https://openai.com/index/navier-stokes-solution/ . The comparison is to the broad pattern of AI work checked formally, not identical tools: OpenAI describes Lean, whereas this deck describes papr using SMT. This line does not claim an awarded Millennium Prize or equivalent mathematical difficulty. Retrieved October 18,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request, requester, and candidate values. Documentation is a core output of papr: keep all PO requests, the submitter, and the proof-based reason for approval or denial. The original request and resulting decision remain associated, so finance can understand what was asked and why it passed or failed. The sample shows eligibility under the encoded rules, not completion of a real purchase. Do not claim immutable logs, cryptographic signatures, automatic regulatory compliance, or fields beyond the demonstrated product story. Mention that denials are retained too, rather than keeping only successful purchases.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Market context: Grand View Research, Procurement Software Market Size, Share &amp; Trends Analysis Report, 2026-2033, estimates global procurement software revenue at USD 10.9 billion in 2026 (USD 10.1 billion in 2025). https://www.grandviewresearch.com/industry-analysis/procurement-software-market-report . This broad category includes sourcing, contracts, suppliers, spend analysis, and e-procurement. It is not a PO-only addressable market or purchasing transaction volume. AI adoption and value: McKinsey, The state of AI in 2026: On the road to ROI, August 25, 2026, survey of 1,719 participants across 97 countries, May 4-June 8, 2026. https://www.mckinsey.com/capabilities/quantumblack/our-insights/the-state-of-ai . 40% of respondents at large organizations (annual revenue greater than USD 1 billion) report scaling AI agents in at least one function. 6% of all respondents qualify as AI high performers: they attribute at least 5% of EBIT (earnings before interest and taxes) to AI and describe AI value as significant. These are cross-industry respondent reports, not procurement-specific penetration or a comparison with papr. papr has no measured effectiveness or commercial traction benchmark yet. Sources rechecked October 18, 2026. Proposed expansion strategy, not achieved traction: enter through finance teams handling routine IT purchases. Position papr around faster approvals and traceable decisions, using a recurring purchasing workflow as the initial entry point. Next, build integrations with existing ERP and supplier catalogs while preserving approval controls; these integrations are planned, not claimed as built. Expand into more categories and teams within each customer, reusing encoded policies and decision records where applicable. This is the proposed route into the broad procurement-software category. The AI adoption and value statistics provide cross-industry context, not evidence of procurement-specific demand or papr effectiveness.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audience and invite a finance team to pilot papr on its purchase-order workflow. Team: Max Prince, Derek Nester, and Will Hamlin. Keep the invitation open for questions and discussion; no deployment, customer, or measured-result claim is implied.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4BC4AD0-B52D-4054-86CB-CF985956E3B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D274869-9EEC-4BDA-84FF-90C152EF328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B298160-ECB5-46DA-A45D-9B36BC4BAF9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D191E88-E52E-49B4-A78F-05F2FD0F7FD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0689FAC-5C4B-44C6-8090-BD91B204FE4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F637A98-B0DB-48F6-98E7-0DD0BD92F0E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10613C3-A5E5-4BBD-B6B7-47BEE0E0F4E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FC4F3BA-234F-4B00-91B0-17E02A0448C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FA7050-0BF6-458D-92E8-274DA66BE49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9CB38EC-8273-48D8-A8C3-9A0F5321B1C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hyperlink" Target="https://www.apqc.org/resources/benchmarking/open-standards-benchmarking/measures/average-days-issue-purchase-order"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svg"/><Relationship Id="rId5" Type="http://schemas.openxmlformats.org/officeDocument/2006/relationships/hyperlink" Target="https://payablesplace.ardentpartners.com/2026/01/state-of-epayables-part-nine-ap-benchmarks-and-best-in-class-performance/" TargetMode="External"/><Relationship Id="rId4" Type="http://schemas.openxmlformats.org/officeDocument/2006/relationships/hyperlink" Target="https://www.apqc.org/resource-library/resource/how-efficient-your-procurement-process-benchmarks-reveal-wide-performanc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apqc.org/resources/benchmarking/open-standards-benchmarking/measures/average-days-issue-purchase-order"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svg"/><Relationship Id="rId5" Type="http://schemas.openxmlformats.org/officeDocument/2006/relationships/hyperlink" Target="https://payablesplace.ardentpartners.com/2026/01/state-of-epayables-part-nine-ap-benchmarks-and-best-in-class-performance/" TargetMode="External"/><Relationship Id="rId4" Type="http://schemas.openxmlformats.org/officeDocument/2006/relationships/hyperlink" Target="https://www.apqc.org/resource-library/resource/how-efficient-your-procurement-process-benchmarks-reveal-wide-performan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www.grandviewresearch.com/industry-analysis/procurement-software-market-report"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svg"/><Relationship Id="rId4" Type="http://schemas.openxmlformats.org/officeDocument/2006/relationships/hyperlink" Target="https://www.mckinsey.com/capabilities/quantumblack/our-insights/the-state-of-ai"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1-0">
            <a:extLst>
              <a:ext uri="{FF2B5EF4-FFF2-40B4-BE49-F238E27FC236}">
                <a16:creationId xmlns:a16="http://schemas.microsoft.com/office/drawing/2014/main" id="{C47792AF-CC2C-47BB-843C-66F39BA0238A}"/>
              </a:ext>
            </a:extLst>
          </p:cNvPr>
          <p:cNvSpPr>
            <a:spLocks noGrp="1"/>
          </p:cNvSpPr>
          <p:nvPr/>
        </p:nvSpPr>
        <p:spPr>
          <a:xfrm>
            <a:off x="9448800" y="0"/>
            <a:ext cx="2743200" cy="6858000"/>
          </a:xfrm>
          <a:prstGeom prst="rect">
            <a:avLst/>
          </a:prstGeom>
          <a:solidFill>
            <a:srgbClr val="BEDDFF"/>
          </a:solidFill>
          <a:ln w="0">
            <a:noFill/>
          </a:ln>
        </p:spPr>
      </p:sp>
      <p:sp>
        <p:nvSpPr>
          <p:cNvPr id="2" name="s1-1">
            <a:extLst>
              <a:ext uri="{FF2B5EF4-FFF2-40B4-BE49-F238E27FC236}">
                <a16:creationId xmlns:a16="http://schemas.microsoft.com/office/drawing/2014/main" id="{63DEE92E-8DDF-4A08-ACAD-85C8483C1279}"/>
              </a:ext>
            </a:extLst>
          </p:cNvPr>
          <p:cNvSpPr>
            <a:spLocks noGrp="1"/>
          </p:cNvSpPr>
          <p:nvPr/>
        </p:nvSpPr>
        <p:spPr>
          <a:xfrm>
            <a:off x="838200" y="628650"/>
            <a:ext cx="7810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PROOF-BASED PURCHASING</a:t>
            </a:r>
          </a:p>
        </p:txBody>
      </p:sp>
      <p:pic>
        <p:nvPicPr>
          <p:cNvPr id="3" name="Graphic 2">
            <a:extLst>
              <a:ext uri="{FF2B5EF4-FFF2-40B4-BE49-F238E27FC236}">
                <a16:creationId xmlns:a16="http://schemas.microsoft.com/office/drawing/2014/main" id="{EBB39CB0-16EF-4C70-A9DA-F8A26CB36F70}"/>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85800" y="1924050"/>
            <a:ext cx="7810500" cy="2386584"/>
          </a:xfrm>
          <a:prstGeom prst="rect">
            <a:avLst/>
          </a:prstGeom>
        </p:spPr>
      </p:pic>
      <p:sp>
        <p:nvSpPr>
          <p:cNvPr id="4" name="s1-3">
            <a:extLst>
              <a:ext uri="{FF2B5EF4-FFF2-40B4-BE49-F238E27FC236}">
                <a16:creationId xmlns:a16="http://schemas.microsoft.com/office/drawing/2014/main" id="{FC700EC0-3451-40FE-AE56-2E49E50DAD4C}"/>
              </a:ext>
            </a:extLst>
          </p:cNvPr>
          <p:cNvSpPr>
            <a:spLocks noGrp="1"/>
          </p:cNvSpPr>
          <p:nvPr/>
        </p:nvSpPr>
        <p:spPr>
          <a:xfrm>
            <a:off x="838200" y="4667250"/>
            <a:ext cx="7810500" cy="1047750"/>
          </a:xfrm>
          <a:prstGeom prst="rect">
            <a:avLst/>
          </a:prstGeom>
          <a:noFill/>
          <a:ln w="0">
            <a:noFill/>
          </a:ln>
        </p:spPr>
        <p:txBody>
          <a:bodyPr lIns="0" tIns="0" rIns="0" bIns="0">
            <a:noAutofit/>
          </a:bodyPr>
          <a:lstStyle>
            <a:defPPr>
              <a:defRPr sz="2775">
                <a:solidFill>
                  <a:srgbClr val="111F31"/>
                </a:solidFill>
                <a:latin typeface="Times New Roman"/>
                <a:ea typeface="Times New Roman"/>
                <a:cs typeface="Times New Roman"/>
              </a:defRPr>
            </a:defPPr>
            <a:lvl1pPr>
              <a:defRPr sz="2775">
                <a:solidFill>
                  <a:srgbClr val="111F31"/>
                </a:solidFill>
                <a:latin typeface="Times New Roman"/>
                <a:ea typeface="Times New Roman"/>
                <a:cs typeface="Times New Roman"/>
              </a:defRPr>
            </a:lvl1pPr>
            <a:lvl2pPr>
              <a:defRPr sz="2775">
                <a:solidFill>
                  <a:srgbClr val="111F31"/>
                </a:solidFill>
                <a:latin typeface="Times New Roman"/>
                <a:ea typeface="Times New Roman"/>
                <a:cs typeface="Times New Roman"/>
              </a:defRPr>
            </a:lvl2pPr>
            <a:lvl3pPr>
              <a:defRPr sz="2775">
                <a:solidFill>
                  <a:srgbClr val="111F31"/>
                </a:solidFill>
                <a:latin typeface="Times New Roman"/>
                <a:ea typeface="Times New Roman"/>
                <a:cs typeface="Times New Roman"/>
              </a:defRPr>
            </a:lvl3pPr>
            <a:lvl4pPr>
              <a:defRPr sz="2775">
                <a:solidFill>
                  <a:srgbClr val="111F31"/>
                </a:solidFill>
                <a:latin typeface="Times New Roman"/>
                <a:ea typeface="Times New Roman"/>
                <a:cs typeface="Times New Roman"/>
              </a:defRPr>
            </a:lvl4pPr>
            <a:lvl5pPr>
              <a:defRPr sz="2775">
                <a:solidFill>
                  <a:srgbClr val="111F31"/>
                </a:solidFill>
                <a:latin typeface="Times New Roman"/>
                <a:ea typeface="Times New Roman"/>
                <a:cs typeface="Times New Roman"/>
              </a:defRPr>
            </a:lvl5pPr>
            <a:lvl6pPr>
              <a:defRPr sz="2775">
                <a:solidFill>
                  <a:srgbClr val="111F31"/>
                </a:solidFill>
                <a:latin typeface="Times New Roman"/>
                <a:ea typeface="Times New Roman"/>
                <a:cs typeface="Times New Roman"/>
              </a:defRPr>
            </a:lvl6pPr>
            <a:lvl7pPr>
              <a:defRPr sz="2775">
                <a:solidFill>
                  <a:srgbClr val="111F31"/>
                </a:solidFill>
                <a:latin typeface="Times New Roman"/>
                <a:ea typeface="Times New Roman"/>
                <a:cs typeface="Times New Roman"/>
              </a:defRPr>
            </a:lvl7pPr>
            <a:lvl8pPr>
              <a:defRPr sz="2775">
                <a:solidFill>
                  <a:srgbClr val="111F31"/>
                </a:solidFill>
                <a:latin typeface="Times New Roman"/>
                <a:ea typeface="Times New Roman"/>
                <a:cs typeface="Times New Roman"/>
              </a:defRPr>
            </a:lvl8pPr>
            <a:lvl9pPr>
              <a:defRPr sz="2775">
                <a:solidFill>
                  <a:srgbClr val="111F31"/>
                </a:solidFill>
                <a:latin typeface="Times New Roman"/>
                <a:ea typeface="Times New Roman"/>
                <a:cs typeface="Times New Roman"/>
              </a:defRPr>
            </a:lvl9pPr>
          </a:lstStyle>
          <a:p>
            <a:pPr>
              <a:defRPr sz="2775">
                <a:solidFill>
                  <a:srgbClr val="111F31"/>
                </a:solidFill>
                <a:latin typeface="Times New Roman"/>
                <a:ea typeface="Times New Roman"/>
                <a:cs typeface="Times New Roman"/>
              </a:defRPr>
            </a:pPr>
            <a:r>
              <a:rPr sz="2775">
                <a:solidFill>
                  <a:srgbClr val="111F31"/>
                </a:solidFill>
                <a:latin typeface="Times New Roman"/>
                <a:ea typeface="Times New Roman"/>
                <a:cs typeface="Times New Roman"/>
              </a:rPr>
              <a:t>Terrence Tao's weapon of choice,</a:t>
            </a:r>
          </a:p>
          <a:p>
            <a:pPr>
              <a:defRPr sz="2775">
                <a:solidFill>
                  <a:srgbClr val="111F31"/>
                </a:solidFill>
                <a:latin typeface="Times New Roman"/>
                <a:ea typeface="Times New Roman"/>
                <a:cs typeface="Times New Roman"/>
              </a:defRPr>
            </a:pPr>
            <a:r>
              <a:rPr sz="2775">
                <a:solidFill>
                  <a:srgbClr val="111F31"/>
                </a:solidFill>
                <a:latin typeface="Times New Roman"/>
                <a:ea typeface="Times New Roman"/>
                <a:cs typeface="Times New Roman"/>
              </a:rPr>
              <a:t>now aimed at corporate finance.</a:t>
            </a:r>
          </a:p>
        </p:txBody>
      </p:sp>
      <p:sp>
        <p:nvSpPr>
          <p:cNvPr id="5" name="s1-4">
            <a:extLst>
              <a:ext uri="{FF2B5EF4-FFF2-40B4-BE49-F238E27FC236}">
                <a16:creationId xmlns:a16="http://schemas.microsoft.com/office/drawing/2014/main" id="{FEC1B384-8AB2-47F1-8ABA-CFEAF82CCA3F}"/>
              </a:ext>
            </a:extLst>
          </p:cNvPr>
          <p:cNvSpPr>
            <a:spLocks noGrp="1"/>
          </p:cNvSpPr>
          <p:nvPr/>
        </p:nvSpPr>
        <p:spPr>
          <a:xfrm>
            <a:off x="838200" y="6200775"/>
            <a:ext cx="7810500" cy="285750"/>
          </a:xfrm>
          <a:prstGeom prst="rect">
            <a:avLst/>
          </a:prstGeom>
          <a:noFill/>
          <a:ln w="0">
            <a:noFill/>
          </a:ln>
        </p:spPr>
        <p:txBody>
          <a:bodyPr lIns="0" tIns="0" rIns="0" bIns="0">
            <a:noAutofit/>
          </a:bodyPr>
          <a:lstStyle>
            <a:defPPr>
              <a:defRPr sz="1500">
                <a:solidFill>
                  <a:srgbClr val="111F31"/>
                </a:solidFill>
                <a:latin typeface="Bahnschrift"/>
                <a:ea typeface="Bahnschrift"/>
                <a:cs typeface="Bahnschrift"/>
              </a:defRPr>
            </a:defPPr>
            <a:lvl1pPr>
              <a:defRPr sz="1500">
                <a:solidFill>
                  <a:srgbClr val="111F31"/>
                </a:solidFill>
                <a:latin typeface="Bahnschrift"/>
                <a:ea typeface="Bahnschrift"/>
                <a:cs typeface="Bahnschrift"/>
              </a:defRPr>
            </a:lvl1pPr>
            <a:lvl2pPr>
              <a:defRPr sz="1500">
                <a:solidFill>
                  <a:srgbClr val="111F31"/>
                </a:solidFill>
                <a:latin typeface="Bahnschrift"/>
                <a:ea typeface="Bahnschrift"/>
                <a:cs typeface="Bahnschrift"/>
              </a:defRPr>
            </a:lvl2pPr>
            <a:lvl3pPr>
              <a:defRPr sz="1500">
                <a:solidFill>
                  <a:srgbClr val="111F31"/>
                </a:solidFill>
                <a:latin typeface="Bahnschrift"/>
                <a:ea typeface="Bahnschrift"/>
                <a:cs typeface="Bahnschrift"/>
              </a:defRPr>
            </a:lvl3pPr>
            <a:lvl4pPr>
              <a:defRPr sz="1500">
                <a:solidFill>
                  <a:srgbClr val="111F31"/>
                </a:solidFill>
                <a:latin typeface="Bahnschrift"/>
                <a:ea typeface="Bahnschrift"/>
                <a:cs typeface="Bahnschrift"/>
              </a:defRPr>
            </a:lvl4pPr>
            <a:lvl5pPr>
              <a:defRPr sz="1500">
                <a:solidFill>
                  <a:srgbClr val="111F31"/>
                </a:solidFill>
                <a:latin typeface="Bahnschrift"/>
                <a:ea typeface="Bahnschrift"/>
                <a:cs typeface="Bahnschrift"/>
              </a:defRPr>
            </a:lvl5pPr>
            <a:lvl6pPr>
              <a:defRPr sz="1500">
                <a:solidFill>
                  <a:srgbClr val="111F31"/>
                </a:solidFill>
                <a:latin typeface="Bahnschrift"/>
                <a:ea typeface="Bahnschrift"/>
                <a:cs typeface="Bahnschrift"/>
              </a:defRPr>
            </a:lvl6pPr>
            <a:lvl7pPr>
              <a:defRPr sz="1500">
                <a:solidFill>
                  <a:srgbClr val="111F31"/>
                </a:solidFill>
                <a:latin typeface="Bahnschrift"/>
                <a:ea typeface="Bahnschrift"/>
                <a:cs typeface="Bahnschrift"/>
              </a:defRPr>
            </a:lvl7pPr>
            <a:lvl8pPr>
              <a:defRPr sz="1500">
                <a:solidFill>
                  <a:srgbClr val="111F31"/>
                </a:solidFill>
                <a:latin typeface="Bahnschrift"/>
                <a:ea typeface="Bahnschrift"/>
                <a:cs typeface="Bahnschrift"/>
              </a:defRPr>
            </a:lvl8pPr>
            <a:lvl9pPr>
              <a:defRPr sz="1500">
                <a:solidFill>
                  <a:srgbClr val="111F31"/>
                </a:solidFill>
                <a:latin typeface="Bahnschrift"/>
                <a:ea typeface="Bahnschrift"/>
                <a:cs typeface="Bahnschrift"/>
              </a:defRPr>
            </a:lvl9pPr>
          </a:lstStyle>
          <a:p>
            <a:pPr>
              <a:defRPr sz="1500">
                <a:solidFill>
                  <a:srgbClr val="111F31"/>
                </a:solidFill>
                <a:latin typeface="Bahnschrift"/>
                <a:ea typeface="Bahnschrift"/>
                <a:cs typeface="Bahnschrift"/>
              </a:defRPr>
            </a:pPr>
            <a:r>
              <a:rPr sz="1500">
                <a:solidFill>
                  <a:srgbClr val="111F31"/>
                </a:solidFill>
                <a:latin typeface="Bahnschrift"/>
                <a:ea typeface="Bahnschrift"/>
                <a:cs typeface="Bahnschrift"/>
              </a:rPr>
              <a:t>Max Prince  /  Derek Nester  /  Will Hamlin</a:t>
            </a:r>
          </a:p>
        </p:txBody>
      </p:sp>
      <p:pic>
        <p:nvPicPr>
          <p:cNvPr id="6" name="Graphic 5">
            <a:extLst>
              <a:ext uri="{FF2B5EF4-FFF2-40B4-BE49-F238E27FC236}">
                <a16:creationId xmlns:a16="http://schemas.microsoft.com/office/drawing/2014/main" id="{6865665D-2FD8-4028-BD14-2BADD33F5F0C}"/>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9906000" y="2647950"/>
            <a:ext cx="1828800" cy="1277303"/>
          </a:xfrm>
          <a:prstGeom prst="rect">
            <a:avLst/>
          </a:prstGeom>
        </p:spPr>
      </p:pic>
      <p:sp>
        <p:nvSpPr>
          <p:cNvPr id="7" name="s1-6">
            <a:extLst>
              <a:ext uri="{FF2B5EF4-FFF2-40B4-BE49-F238E27FC236}">
                <a16:creationId xmlns:a16="http://schemas.microsoft.com/office/drawing/2014/main" id="{F11BA23D-1C94-4E9B-BEED-6889591E1D0E}"/>
              </a:ext>
            </a:extLst>
          </p:cNvPr>
          <p:cNvSpPr>
            <a:spLocks noGrp="1"/>
          </p:cNvSpPr>
          <p:nvPr/>
        </p:nvSpPr>
        <p:spPr>
          <a:xfrm>
            <a:off x="9944100" y="6219825"/>
            <a:ext cx="2095500" cy="228600"/>
          </a:xfrm>
          <a:prstGeom prst="rect">
            <a:avLst/>
          </a:prstGeom>
          <a:noFill/>
          <a:ln w="0">
            <a:noFill/>
          </a:ln>
        </p:spPr>
        <p:txBody>
          <a:bodyPr lIns="0" tIns="0" rIns="0" bIns="0">
            <a:noAutofit/>
          </a:bodyPr>
          <a:lstStyle>
            <a:defPPr>
              <a:defRPr sz="1200">
                <a:solidFill>
                  <a:srgbClr val="111F31"/>
                </a:solidFill>
                <a:latin typeface="Bahnschrift"/>
                <a:ea typeface="Bahnschrift"/>
                <a:cs typeface="Bahnschrift"/>
              </a:defRPr>
            </a:defPPr>
            <a:lvl1pPr>
              <a:defRPr sz="1200">
                <a:solidFill>
                  <a:srgbClr val="111F31"/>
                </a:solidFill>
                <a:latin typeface="Bahnschrift"/>
                <a:ea typeface="Bahnschrift"/>
                <a:cs typeface="Bahnschrift"/>
              </a:defRPr>
            </a:lvl1pPr>
            <a:lvl2pPr>
              <a:defRPr sz="1200">
                <a:solidFill>
                  <a:srgbClr val="111F31"/>
                </a:solidFill>
                <a:latin typeface="Bahnschrift"/>
                <a:ea typeface="Bahnschrift"/>
                <a:cs typeface="Bahnschrift"/>
              </a:defRPr>
            </a:lvl2pPr>
            <a:lvl3pPr>
              <a:defRPr sz="1200">
                <a:solidFill>
                  <a:srgbClr val="111F31"/>
                </a:solidFill>
                <a:latin typeface="Bahnschrift"/>
                <a:ea typeface="Bahnschrift"/>
                <a:cs typeface="Bahnschrift"/>
              </a:defRPr>
            </a:lvl3pPr>
            <a:lvl4pPr>
              <a:defRPr sz="1200">
                <a:solidFill>
                  <a:srgbClr val="111F31"/>
                </a:solidFill>
                <a:latin typeface="Bahnschrift"/>
                <a:ea typeface="Bahnschrift"/>
                <a:cs typeface="Bahnschrift"/>
              </a:defRPr>
            </a:lvl4pPr>
            <a:lvl5pPr>
              <a:defRPr sz="1200">
                <a:solidFill>
                  <a:srgbClr val="111F31"/>
                </a:solidFill>
                <a:latin typeface="Bahnschrift"/>
                <a:ea typeface="Bahnschrift"/>
                <a:cs typeface="Bahnschrift"/>
              </a:defRPr>
            </a:lvl5pPr>
            <a:lvl6pPr>
              <a:defRPr sz="1200">
                <a:solidFill>
                  <a:srgbClr val="111F31"/>
                </a:solidFill>
                <a:latin typeface="Bahnschrift"/>
                <a:ea typeface="Bahnschrift"/>
                <a:cs typeface="Bahnschrift"/>
              </a:defRPr>
            </a:lvl6pPr>
            <a:lvl7pPr>
              <a:defRPr sz="1200">
                <a:solidFill>
                  <a:srgbClr val="111F31"/>
                </a:solidFill>
                <a:latin typeface="Bahnschrift"/>
                <a:ea typeface="Bahnschrift"/>
                <a:cs typeface="Bahnschrift"/>
              </a:defRPr>
            </a:lvl7pPr>
            <a:lvl8pPr>
              <a:defRPr sz="1200">
                <a:solidFill>
                  <a:srgbClr val="111F31"/>
                </a:solidFill>
                <a:latin typeface="Bahnschrift"/>
                <a:ea typeface="Bahnschrift"/>
                <a:cs typeface="Bahnschrift"/>
              </a:defRPr>
            </a:lvl8pPr>
            <a:lvl9pPr>
              <a:defRPr sz="1200">
                <a:solidFill>
                  <a:srgbClr val="111F31"/>
                </a:solidFill>
                <a:latin typeface="Bahnschrift"/>
                <a:ea typeface="Bahnschrift"/>
                <a:cs typeface="Bahnschrift"/>
              </a:defRPr>
            </a:lvl9pPr>
          </a:lstStyle>
          <a:p>
            <a:pPr>
              <a:defRPr sz="1200">
                <a:solidFill>
                  <a:srgbClr val="111F31"/>
                </a:solidFill>
                <a:latin typeface="Bahnschrift"/>
                <a:ea typeface="Bahnschrift"/>
                <a:cs typeface="Bahnschrift"/>
              </a:defRPr>
            </a:pPr>
            <a:r>
              <a:rPr sz="1200">
                <a:solidFill>
                  <a:srgbClr val="111F31"/>
                </a:solidFill>
                <a:latin typeface="Bahnschrift"/>
                <a:ea typeface="Bahnschrift"/>
                <a:cs typeface="Bahnschrift"/>
              </a:rPr>
              <a:t>DUBHACKS 2026</a:t>
            </a:r>
          </a:p>
        </p:txBody>
      </p:sp>
    </p:spTree>
    <p:extLst>
      <p:ext uri="{BB962C8B-B14F-4D97-AF65-F5344CB8AC3E}">
        <p14:creationId xmlns:p14="http://schemas.microsoft.com/office/powerpoint/2010/main" val="1127446267"/>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5"/>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50"/>
                                        <p:tgtEl>
                                          <p:spTgt spid="2"/>
                                        </p:tgtEl>
                                      </p:cBhvr>
                                    </p:animEffect>
                                  </p:childTnLst>
                                </p:cTn>
                              </p:par>
                              <p:par>
                                <p:cTn id="8" presetID="0" presetClass="entr" presetSubtype="0" decel="80000" fill="hold" grpId="1" nodeType="withEffect">
                                  <p:stCondLst>
                                    <p:cond delay="85"/>
                                  </p:stCondLst>
                                  <p:childTnLst>
                                    <p:set>
                                      <p:cBhvr>
                                        <p:cTn id="9" dur="1" fill="hold">
                                          <p:stCondLst>
                                            <p:cond delay="849"/>
                                          </p:stCondLst>
                                        </p:cTn>
                                        <p:tgtEl>
                                          <p:spTgt spid="2"/>
                                        </p:tgtEl>
                                        <p:attrNameLst>
                                          <p:attrName>style.visibility</p:attrName>
                                        </p:attrNameLst>
                                      </p:cBhvr>
                                      <p:to>
                                        <p:strVal val="visible"/>
                                      </p:to>
                                    </p:set>
                                    <p:animMotion origin="layout" pathEditMode="relative">
                                      <p:cBhvr from="" to="">
                                        <p:cTn id="10" dur="850" fill="hold">
                                          <p:stCondLst>
                                            <p:cond delay="0"/>
                                          </p:stCondLst>
                                        </p:cTn>
                                        <p:tgtEl>
                                          <p:spTgt spid="2"/>
                                        </p:tgtEl>
                                        <p:attrNameLst>
                                          <p:attrName>ppt_x</p:attrName>
                                          <p:attrName>ppt_y</p:attrName>
                                        </p:attrNameLst>
                                      </p:cBhvr>
                                      <p:from x="0" y="25"/>
                                      <p:to x="0" y="0"/>
                                    </p:animMotion>
                                  </p:childTnLst>
                                </p:cTn>
                              </p:par>
                              <p:par>
                                <p:cTn id="11" presetID="10" presetClass="entr" presetSubtype="0" fill="hold" nodeType="withEffect">
                                  <p:stCondLst>
                                    <p:cond delay="1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850"/>
                                        <p:tgtEl>
                                          <p:spTgt spid="3"/>
                                        </p:tgtEl>
                                      </p:cBhvr>
                                    </p:animEffect>
                                  </p:childTnLst>
                                </p:cTn>
                              </p:par>
                              <p:par>
                                <p:cTn id="14" presetID="0" presetClass="entr" presetSubtype="0" decel="80000" fill="hold" nodeType="withEffect">
                                  <p:stCondLst>
                                    <p:cond delay="170"/>
                                  </p:stCondLst>
                                  <p:childTnLst>
                                    <p:set>
                                      <p:cBhvr>
                                        <p:cTn id="15" dur="1" fill="hold">
                                          <p:stCondLst>
                                            <p:cond delay="849"/>
                                          </p:stCondLst>
                                        </p:cTn>
                                        <p:tgtEl>
                                          <p:spTgt spid="3"/>
                                        </p:tgtEl>
                                        <p:attrNameLst>
                                          <p:attrName>style.visibility</p:attrName>
                                        </p:attrNameLst>
                                      </p:cBhvr>
                                      <p:to>
                                        <p:strVal val="visible"/>
                                      </p:to>
                                    </p:set>
                                    <p:animMotion origin="layout" pathEditMode="relative">
                                      <p:cBhvr from="" to="">
                                        <p:cTn id="16" dur="850" fill="hold">
                                          <p:stCondLst>
                                            <p:cond delay="0"/>
                                          </p:stCondLst>
                                        </p:cTn>
                                        <p:tgtEl>
                                          <p:spTgt spid="3"/>
                                        </p:tgtEl>
                                        <p:attrNameLst>
                                          <p:attrName>ppt_x</p:attrName>
                                          <p:attrName>ppt_y</p:attrName>
                                        </p:attrNameLst>
                                      </p:cBhvr>
                                      <p:from x="0" y="25"/>
                                      <p:to x="0" y="0"/>
                                    </p:animMotion>
                                  </p:childTnLst>
                                </p:cTn>
                              </p:par>
                              <p:par>
                                <p:cTn id="17" presetID="10" presetClass="entr" presetSubtype="0" fill="hold" grpId="0" nodeType="withEffect">
                                  <p:stCondLst>
                                    <p:cond delay="255"/>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850"/>
                                        <p:tgtEl>
                                          <p:spTgt spid="4"/>
                                        </p:tgtEl>
                                      </p:cBhvr>
                                    </p:animEffect>
                                  </p:childTnLst>
                                </p:cTn>
                              </p:par>
                              <p:par>
                                <p:cTn id="20" presetID="0" presetClass="entr" presetSubtype="0" decel="80000" fill="hold" grpId="1" nodeType="withEffect">
                                  <p:stCondLst>
                                    <p:cond delay="255"/>
                                  </p:stCondLst>
                                  <p:childTnLst>
                                    <p:set>
                                      <p:cBhvr>
                                        <p:cTn id="21" dur="1" fill="hold">
                                          <p:stCondLst>
                                            <p:cond delay="849"/>
                                          </p:stCondLst>
                                        </p:cTn>
                                        <p:tgtEl>
                                          <p:spTgt spid="4"/>
                                        </p:tgtEl>
                                        <p:attrNameLst>
                                          <p:attrName>style.visibility</p:attrName>
                                        </p:attrNameLst>
                                      </p:cBhvr>
                                      <p:to>
                                        <p:strVal val="visible"/>
                                      </p:to>
                                    </p:set>
                                    <p:animMotion origin="layout" pathEditMode="relative">
                                      <p:cBhvr from="" to="">
                                        <p:cTn id="22" dur="850" fill="hold">
                                          <p:stCondLst>
                                            <p:cond delay="0"/>
                                          </p:stCondLst>
                                        </p:cTn>
                                        <p:tgtEl>
                                          <p:spTgt spid="4"/>
                                        </p:tgtEl>
                                        <p:attrNameLst>
                                          <p:attrName>ppt_x</p:attrName>
                                          <p:attrName>ppt_y</p:attrName>
                                        </p:attrNameLst>
                                      </p:cBhvr>
                                      <p:from x="0" y="25"/>
                                      <p:to x="0" y="0"/>
                                    </p:animMotion>
                                  </p:childTnLst>
                                </p:cTn>
                              </p:par>
                              <p:par>
                                <p:cTn id="23" presetID="10" presetClass="entr" presetSubtype="0" fill="hold" grpId="0" nodeType="withEffect">
                                  <p:stCondLst>
                                    <p:cond delay="34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850"/>
                                        <p:tgtEl>
                                          <p:spTgt spid="5"/>
                                        </p:tgtEl>
                                      </p:cBhvr>
                                    </p:animEffect>
                                  </p:childTnLst>
                                </p:cTn>
                              </p:par>
                              <p:par>
                                <p:cTn id="26" presetID="0" presetClass="entr" presetSubtype="0" decel="80000" fill="hold" grpId="1" nodeType="withEffect">
                                  <p:stCondLst>
                                    <p:cond delay="340"/>
                                  </p:stCondLst>
                                  <p:childTnLst>
                                    <p:set>
                                      <p:cBhvr>
                                        <p:cTn id="27" dur="1" fill="hold">
                                          <p:stCondLst>
                                            <p:cond delay="849"/>
                                          </p:stCondLst>
                                        </p:cTn>
                                        <p:tgtEl>
                                          <p:spTgt spid="5"/>
                                        </p:tgtEl>
                                        <p:attrNameLst>
                                          <p:attrName>style.visibility</p:attrName>
                                        </p:attrNameLst>
                                      </p:cBhvr>
                                      <p:to>
                                        <p:strVal val="visible"/>
                                      </p:to>
                                    </p:set>
                                    <p:animMotion origin="layout" pathEditMode="relative">
                                      <p:cBhvr from="" to="">
                                        <p:cTn id="28" dur="850" fill="hold">
                                          <p:stCondLst>
                                            <p:cond delay="0"/>
                                          </p:stCondLst>
                                        </p:cTn>
                                        <p:tgtEl>
                                          <p:spTgt spid="5"/>
                                        </p:tgtEl>
                                        <p:attrNameLst>
                                          <p:attrName>ppt_x</p:attrName>
                                          <p:attrName>ppt_y</p:attrName>
                                        </p:attrNameLst>
                                      </p:cBhvr>
                                      <p:from x="0" y="25"/>
                                      <p:to x="0" y="0"/>
                                    </p:animMotion>
                                  </p:childTnLst>
                                </p:cTn>
                              </p:par>
                              <p:par>
                                <p:cTn id="29" presetID="10" presetClass="entr" presetSubtype="0" fill="hold" nodeType="withEffect">
                                  <p:stCondLst>
                                    <p:cond delay="425"/>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850"/>
                                        <p:tgtEl>
                                          <p:spTgt spid="6"/>
                                        </p:tgtEl>
                                      </p:cBhvr>
                                    </p:animEffect>
                                  </p:childTnLst>
                                </p:cTn>
                              </p:par>
                              <p:par>
                                <p:cTn id="32" presetID="0" presetClass="entr" presetSubtype="0" decel="80000" fill="hold" nodeType="withEffect">
                                  <p:stCondLst>
                                    <p:cond delay="425"/>
                                  </p:stCondLst>
                                  <p:childTnLst>
                                    <p:set>
                                      <p:cBhvr>
                                        <p:cTn id="33" dur="1" fill="hold">
                                          <p:stCondLst>
                                            <p:cond delay="849"/>
                                          </p:stCondLst>
                                        </p:cTn>
                                        <p:tgtEl>
                                          <p:spTgt spid="6"/>
                                        </p:tgtEl>
                                        <p:attrNameLst>
                                          <p:attrName>style.visibility</p:attrName>
                                        </p:attrNameLst>
                                      </p:cBhvr>
                                      <p:to>
                                        <p:strVal val="visible"/>
                                      </p:to>
                                    </p:set>
                                    <p:animMotion origin="layout" pathEditMode="relative">
                                      <p:cBhvr from="" to="">
                                        <p:cTn id="34" dur="850" fill="hold">
                                          <p:stCondLst>
                                            <p:cond delay="0"/>
                                          </p:stCondLst>
                                        </p:cTn>
                                        <p:tgtEl>
                                          <p:spTgt spid="6"/>
                                        </p:tgtEl>
                                        <p:attrNameLst>
                                          <p:attrName>ppt_x</p:attrName>
                                          <p:attrName>ppt_y</p:attrName>
                                        </p:attrNameLst>
                                      </p:cBhvr>
                                      <p:from x="0" y="25"/>
                                      <p:to x="0" y="0"/>
                                    </p:animMotion>
                                  </p:childTnLst>
                                </p:cTn>
                              </p:par>
                              <p:par>
                                <p:cTn id="35" presetID="10" presetClass="entr" presetSubtype="0" fill="hold" grpId="0" nodeType="withEffect">
                                  <p:stCondLst>
                                    <p:cond delay="51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850"/>
                                        <p:tgtEl>
                                          <p:spTgt spid="7"/>
                                        </p:tgtEl>
                                      </p:cBhvr>
                                    </p:animEffect>
                                  </p:childTnLst>
                                </p:cTn>
                              </p:par>
                              <p:par>
                                <p:cTn id="38" presetID="0" presetClass="entr" presetSubtype="0" decel="80000" fill="hold" grpId="1" nodeType="withEffect">
                                  <p:stCondLst>
                                    <p:cond delay="510"/>
                                  </p:stCondLst>
                                  <p:childTnLst>
                                    <p:set>
                                      <p:cBhvr>
                                        <p:cTn id="39" dur="1" fill="hold">
                                          <p:stCondLst>
                                            <p:cond delay="849"/>
                                          </p:stCondLst>
                                        </p:cTn>
                                        <p:tgtEl>
                                          <p:spTgt spid="7"/>
                                        </p:tgtEl>
                                        <p:attrNameLst>
                                          <p:attrName>style.visibility</p:attrName>
                                        </p:attrNameLst>
                                      </p:cBhvr>
                                      <p:to>
                                        <p:strVal val="visible"/>
                                      </p:to>
                                    </p:set>
                                    <p:animMotion origin="layout" pathEditMode="relative">
                                      <p:cBhvr from="" to="">
                                        <p:cTn id="40" dur="850" fill="hold">
                                          <p:stCondLst>
                                            <p:cond delay="0"/>
                                          </p:stCondLst>
                                        </p:cTn>
                                        <p:tgtEl>
                                          <p:spTgt spid="7"/>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5" grpId="0"/>
      <p:bldP spid="5" grpId="1"/>
      <p:bldP spid="7" grpId="0"/>
      <p:bldP spid="7"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0" name="s2-0">
            <a:extLst>
              <a:ext uri="{FF2B5EF4-FFF2-40B4-BE49-F238E27FC236}">
                <a16:creationId xmlns:a16="http://schemas.microsoft.com/office/drawing/2014/main" id="{8AFF2C40-9497-444B-A66C-59FBF75F0EA8}"/>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2-1">
            <a:extLst>
              <a:ext uri="{FF2B5EF4-FFF2-40B4-BE49-F238E27FC236}">
                <a16:creationId xmlns:a16="http://schemas.microsoft.com/office/drawing/2014/main" id="{20DE9B8F-610F-40F9-B788-BD83B7EC6B5F}"/>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2-2">
            <a:extLst>
              <a:ext uri="{FF2B5EF4-FFF2-40B4-BE49-F238E27FC236}">
                <a16:creationId xmlns:a16="http://schemas.microsoft.com/office/drawing/2014/main" id="{10E59FE9-C198-4EC0-9E3C-15F15152736C}"/>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2 days</a:t>
            </a:r>
          </a:p>
        </p:txBody>
      </p:sp>
      <p:sp>
        <p:nvSpPr>
          <p:cNvPr id="4" name="s2-3">
            <a:hlinkClick r:id="rId3"/>
            <a:extLst>
              <a:ext uri="{FF2B5EF4-FFF2-40B4-BE49-F238E27FC236}">
                <a16:creationId xmlns:a16="http://schemas.microsoft.com/office/drawing/2014/main" id="{07020855-2D5C-4838-9CC9-BDE66A37ECC2}"/>
              </a:ext>
            </a:extLst>
          </p:cNvPr>
          <p:cNvSpPr>
            <a:spLocks noGrp="1"/>
          </p:cNvSpPr>
          <p:nvPr/>
        </p:nvSpPr>
        <p:spPr>
          <a:xfrm>
            <a:off x="78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5" name="s2-4">
            <a:extLst>
              <a:ext uri="{FF2B5EF4-FFF2-40B4-BE49-F238E27FC236}">
                <a16:creationId xmlns:a16="http://schemas.microsoft.com/office/drawing/2014/main" id="{08444D32-1044-41B5-9302-5FD3866DD373}"/>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2-5">
            <a:extLst>
              <a:ext uri="{FF2B5EF4-FFF2-40B4-BE49-F238E27FC236}">
                <a16:creationId xmlns:a16="http://schemas.microsoft.com/office/drawing/2014/main" id="{2332A756-3F5D-4802-A824-56D23DC80C8A}"/>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2-6">
            <a:extLst>
              <a:ext uri="{FF2B5EF4-FFF2-40B4-BE49-F238E27FC236}">
                <a16:creationId xmlns:a16="http://schemas.microsoft.com/office/drawing/2014/main" id="{ED577132-017B-417A-AC8F-F79837E5EA38}"/>
              </a:ext>
            </a:extLst>
          </p:cNvPr>
          <p:cNvSpPr>
            <a:spLocks noGrp="1"/>
          </p:cNvSpPr>
          <p:nvPr/>
        </p:nvSpPr>
        <p:spPr>
          <a:xfrm>
            <a:off x="4229100" y="2114550"/>
            <a:ext cx="9525" cy="4000500"/>
          </a:xfrm>
          <a:prstGeom prst="rect">
            <a:avLst/>
          </a:prstGeom>
          <a:solidFill>
            <a:srgbClr val="38516B"/>
          </a:solidFill>
          <a:ln w="0">
            <a:noFill/>
          </a:ln>
        </p:spPr>
      </p:sp>
      <p:sp>
        <p:nvSpPr>
          <p:cNvPr id="8" name="s2-7">
            <a:extLst>
              <a:ext uri="{FF2B5EF4-FFF2-40B4-BE49-F238E27FC236}">
                <a16:creationId xmlns:a16="http://schemas.microsoft.com/office/drawing/2014/main" id="{C269BD8F-0BDF-4BD6-89A4-07B25F2F2A03}"/>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2-8">
            <a:extLst>
              <a:ext uri="{FF2B5EF4-FFF2-40B4-BE49-F238E27FC236}">
                <a16:creationId xmlns:a16="http://schemas.microsoft.com/office/drawing/2014/main" id="{ED719D17-FAD2-4F23-AE3A-0873D8DE5F7E}"/>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BEDDFF"/>
                </a:solidFill>
                <a:latin typeface="Times New Roman"/>
                <a:ea typeface="Times New Roman"/>
                <a:cs typeface="Times New Roman"/>
              </a:defRPr>
            </a:defPPr>
            <a:lvl1pPr>
              <a:defRPr sz="5700">
                <a:solidFill>
                  <a:srgbClr val="BEDDFF"/>
                </a:solidFill>
                <a:latin typeface="Times New Roman"/>
                <a:ea typeface="Times New Roman"/>
                <a:cs typeface="Times New Roman"/>
              </a:defRPr>
            </a:lvl1pPr>
            <a:lvl2pPr>
              <a:defRPr sz="5700">
                <a:solidFill>
                  <a:srgbClr val="BEDDFF"/>
                </a:solidFill>
                <a:latin typeface="Times New Roman"/>
                <a:ea typeface="Times New Roman"/>
                <a:cs typeface="Times New Roman"/>
              </a:defRPr>
            </a:lvl2pPr>
            <a:lvl3pPr>
              <a:defRPr sz="5700">
                <a:solidFill>
                  <a:srgbClr val="BEDDFF"/>
                </a:solidFill>
                <a:latin typeface="Times New Roman"/>
                <a:ea typeface="Times New Roman"/>
                <a:cs typeface="Times New Roman"/>
              </a:defRPr>
            </a:lvl3pPr>
            <a:lvl4pPr>
              <a:defRPr sz="5700">
                <a:solidFill>
                  <a:srgbClr val="BEDDFF"/>
                </a:solidFill>
                <a:latin typeface="Times New Roman"/>
                <a:ea typeface="Times New Roman"/>
                <a:cs typeface="Times New Roman"/>
              </a:defRPr>
            </a:lvl4pPr>
            <a:lvl5pPr>
              <a:defRPr sz="5700">
                <a:solidFill>
                  <a:srgbClr val="BEDDFF"/>
                </a:solidFill>
                <a:latin typeface="Times New Roman"/>
                <a:ea typeface="Times New Roman"/>
                <a:cs typeface="Times New Roman"/>
              </a:defRPr>
            </a:lvl5pPr>
            <a:lvl6pPr>
              <a:defRPr sz="5700">
                <a:solidFill>
                  <a:srgbClr val="BEDDFF"/>
                </a:solidFill>
                <a:latin typeface="Times New Roman"/>
                <a:ea typeface="Times New Roman"/>
                <a:cs typeface="Times New Roman"/>
              </a:defRPr>
            </a:lvl6pPr>
            <a:lvl7pPr>
              <a:defRPr sz="5700">
                <a:solidFill>
                  <a:srgbClr val="BEDDFF"/>
                </a:solidFill>
                <a:latin typeface="Times New Roman"/>
                <a:ea typeface="Times New Roman"/>
                <a:cs typeface="Times New Roman"/>
              </a:defRPr>
            </a:lvl7pPr>
            <a:lvl8pPr>
              <a:defRPr sz="5700">
                <a:solidFill>
                  <a:srgbClr val="BEDDFF"/>
                </a:solidFill>
                <a:latin typeface="Times New Roman"/>
                <a:ea typeface="Times New Roman"/>
                <a:cs typeface="Times New Roman"/>
              </a:defRPr>
            </a:lvl8pPr>
            <a:lvl9pPr>
              <a:defRPr sz="5700">
                <a:solidFill>
                  <a:srgbClr val="BEDDFF"/>
                </a:solidFill>
                <a:latin typeface="Times New Roman"/>
                <a:ea typeface="Times New Roman"/>
                <a:cs typeface="Times New Roman"/>
              </a:defRPr>
            </a:lvl9pPr>
          </a:lstStyle>
          <a:p>
            <a:pPr>
              <a:defRPr sz="5700">
                <a:solidFill>
                  <a:srgbClr val="BEDDFF"/>
                </a:solidFill>
                <a:latin typeface="Times New Roman"/>
                <a:ea typeface="Times New Roman"/>
                <a:cs typeface="Times New Roman"/>
              </a:defRPr>
            </a:pPr>
            <a:r>
              <a:rPr sz="5700">
                <a:solidFill>
                  <a:srgbClr val="BEDDFF"/>
                </a:solidFill>
                <a:latin typeface="Times New Roman"/>
                <a:ea typeface="Times New Roman"/>
                <a:cs typeface="Times New Roman"/>
              </a:rPr>
              <a:t>$14–54+</a:t>
            </a:r>
          </a:p>
        </p:txBody>
      </p:sp>
      <p:sp>
        <p:nvSpPr>
          <p:cNvPr id="10" name="s2-9">
            <a:hlinkClick r:id="rId4"/>
            <a:extLst>
              <a:ext uri="{FF2B5EF4-FFF2-40B4-BE49-F238E27FC236}">
                <a16:creationId xmlns:a16="http://schemas.microsoft.com/office/drawing/2014/main" id="{B048D2C9-D451-4B4C-A12C-D083EC66BBD0}"/>
              </a:ext>
            </a:extLst>
          </p:cNvPr>
          <p:cNvSpPr>
            <a:spLocks noGrp="1"/>
          </p:cNvSpPr>
          <p:nvPr/>
        </p:nvSpPr>
        <p:spPr>
          <a:xfrm>
            <a:off x="459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11" name="s2-10">
            <a:extLst>
              <a:ext uri="{FF2B5EF4-FFF2-40B4-BE49-F238E27FC236}">
                <a16:creationId xmlns:a16="http://schemas.microsoft.com/office/drawing/2014/main" id="{524D5A7F-E76F-45D5-9AF5-98CDC6FD49E5}"/>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2-11">
            <a:extLst>
              <a:ext uri="{FF2B5EF4-FFF2-40B4-BE49-F238E27FC236}">
                <a16:creationId xmlns:a16="http://schemas.microsoft.com/office/drawing/2014/main" id="{0B0975CF-5751-4E79-B290-1587424EB81D}"/>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2-12">
            <a:extLst>
              <a:ext uri="{FF2B5EF4-FFF2-40B4-BE49-F238E27FC236}">
                <a16:creationId xmlns:a16="http://schemas.microsoft.com/office/drawing/2014/main" id="{0849B23C-3E3F-4328-AB29-397455DD710E}"/>
              </a:ext>
            </a:extLst>
          </p:cNvPr>
          <p:cNvSpPr>
            <a:spLocks noGrp="1"/>
          </p:cNvSpPr>
          <p:nvPr/>
        </p:nvSpPr>
        <p:spPr>
          <a:xfrm>
            <a:off x="8039100" y="2114550"/>
            <a:ext cx="9525" cy="4000500"/>
          </a:xfrm>
          <a:prstGeom prst="rect">
            <a:avLst/>
          </a:prstGeom>
          <a:solidFill>
            <a:srgbClr val="38516B"/>
          </a:solidFill>
          <a:ln w="0">
            <a:noFill/>
          </a:ln>
        </p:spPr>
      </p:sp>
      <p:sp>
        <p:nvSpPr>
          <p:cNvPr id="14" name="s2-13">
            <a:extLst>
              <a:ext uri="{FF2B5EF4-FFF2-40B4-BE49-F238E27FC236}">
                <a16:creationId xmlns:a16="http://schemas.microsoft.com/office/drawing/2014/main" id="{6CC1537D-475F-43E5-BE98-17393D331D9B}"/>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2-14">
            <a:extLst>
              <a:ext uri="{FF2B5EF4-FFF2-40B4-BE49-F238E27FC236}">
                <a16:creationId xmlns:a16="http://schemas.microsoft.com/office/drawing/2014/main" id="{948C1D5B-4E89-4A8E-9F73-51123B32F156}"/>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18.4%</a:t>
            </a:r>
          </a:p>
        </p:txBody>
      </p:sp>
      <p:sp>
        <p:nvSpPr>
          <p:cNvPr id="16" name="s2-15">
            <a:hlinkClick r:id="rId5"/>
            <a:extLst>
              <a:ext uri="{FF2B5EF4-FFF2-40B4-BE49-F238E27FC236}">
                <a16:creationId xmlns:a16="http://schemas.microsoft.com/office/drawing/2014/main" id="{8E774F45-B342-46B7-9D7C-D0C95AFE1E9F}"/>
              </a:ext>
            </a:extLst>
          </p:cNvPr>
          <p:cNvSpPr>
            <a:spLocks noGrp="1"/>
          </p:cNvSpPr>
          <p:nvPr/>
        </p:nvSpPr>
        <p:spPr>
          <a:xfrm>
            <a:off x="8401050" y="3733800"/>
            <a:ext cx="31432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[Ardent Partners, 2025] baseline</a:t>
            </a:r>
          </a:p>
        </p:txBody>
      </p:sp>
      <p:sp>
        <p:nvSpPr>
          <p:cNvPr id="17" name="s2-16">
            <a:extLst>
              <a:ext uri="{FF2B5EF4-FFF2-40B4-BE49-F238E27FC236}">
                <a16:creationId xmlns:a16="http://schemas.microsoft.com/office/drawing/2014/main" id="{A929EEFC-73C3-4A31-8E96-7828936683D5}"/>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2-17">
            <a:extLst>
              <a:ext uri="{FF2B5EF4-FFF2-40B4-BE49-F238E27FC236}">
                <a16:creationId xmlns:a16="http://schemas.microsoft.com/office/drawing/2014/main" id="{F3675E8F-B39E-4480-BB2D-C4AB4CD4894C}"/>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pic>
        <p:nvPicPr>
          <p:cNvPr id="19" name="Graphic 18">
            <a:extLst>
              <a:ext uri="{FF2B5EF4-FFF2-40B4-BE49-F238E27FC236}">
                <a16:creationId xmlns:a16="http://schemas.microsoft.com/office/drawing/2014/main" id="{17910CB9-8E70-407D-A9D0-C88A6E51DBFD}"/>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510887671"/>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50"/>
                                        <p:tgtEl>
                                          <p:spTgt spid="2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0"/>
                                        </p:tgtEl>
                                        <p:attrNameLst>
                                          <p:attrName>style.visibility</p:attrName>
                                        </p:attrNameLst>
                                      </p:cBhvr>
                                      <p:to>
                                        <p:strVal val="visible"/>
                                      </p:to>
                                    </p:set>
                                    <p:animMotion origin="layout" pathEditMode="relative">
                                      <p:cBhvr from="" to="">
                                        <p:cTn id="10" dur="850" fill="hold">
                                          <p:stCondLst>
                                            <p:cond delay="0"/>
                                          </p:stCondLst>
                                        </p:cTn>
                                        <p:tgtEl>
                                          <p:spTgt spid="2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nodeType="withEffect">
                                  <p:stCondLst>
                                    <p:cond delay="65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850"/>
                                        <p:tgtEl>
                                          <p:spTgt spid="19"/>
                                        </p:tgtEl>
                                      </p:cBhvr>
                                    </p:animEffect>
                                  </p:childTnLst>
                                </p:cTn>
                              </p:par>
                              <p:par>
                                <p:cTn id="104" presetID="0" presetClass="entr" presetSubtype="0" decel="80000" fill="hold" nodeType="withEffect">
                                  <p:stCondLst>
                                    <p:cond delay="650"/>
                                  </p:stCondLst>
                                  <p:childTnLst>
                                    <p:set>
                                      <p:cBhvr>
                                        <p:cTn id="105" dur="1" fill="hold">
                                          <p:stCondLst>
                                            <p:cond delay="849"/>
                                          </p:stCondLst>
                                        </p:cTn>
                                        <p:tgtEl>
                                          <p:spTgt spid="19"/>
                                        </p:tgtEl>
                                        <p:attrNameLst>
                                          <p:attrName>style.visibility</p:attrName>
                                        </p:attrNameLst>
                                      </p:cBhvr>
                                      <p:to>
                                        <p:strVal val="visible"/>
                                      </p:to>
                                    </p:set>
                                    <p:animMotion origin="layout" pathEditMode="relative">
                                      <p:cBhvr from="" to="">
                                        <p:cTn id="106" dur="850" fill="hold">
                                          <p:stCondLst>
                                            <p:cond delay="0"/>
                                          </p:stCondLst>
                                        </p:cTn>
                                        <p:tgtEl>
                                          <p:spTgt spid="1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3-0">
            <a:extLst>
              <a:ext uri="{FF2B5EF4-FFF2-40B4-BE49-F238E27FC236}">
                <a16:creationId xmlns:a16="http://schemas.microsoft.com/office/drawing/2014/main" id="{A26EA3B6-A4D4-4D49-A3CB-18AC7B85FFBC}"/>
              </a:ext>
            </a:extLst>
          </p:cNvPr>
          <p:cNvSpPr>
            <a:spLocks noGrp="1"/>
          </p:cNvSpPr>
          <p:nvPr/>
        </p:nvSpPr>
        <p:spPr>
          <a:xfrm>
            <a:off x="723900" y="600075"/>
            <a:ext cx="9810750" cy="857250"/>
          </a:xfrm>
          <a:prstGeom prst="rect">
            <a:avLst/>
          </a:prstGeom>
          <a:noFill/>
          <a:ln w="0">
            <a:noFill/>
          </a:ln>
        </p:spPr>
        <p:txBody>
          <a:bodyPr lIns="0" tIns="0" rIns="0" bIns="0">
            <a:noAutofit/>
          </a:bodyPr>
          <a:lstStyle>
            <a:defPPr>
              <a:defRPr sz="4800">
                <a:solidFill>
                  <a:srgbClr val="111F31"/>
                </a:solidFill>
                <a:latin typeface="Times New Roman"/>
                <a:ea typeface="Times New Roman"/>
                <a:cs typeface="Times New Roman"/>
              </a:defRPr>
            </a:defPPr>
            <a:lvl1pPr>
              <a:defRPr sz="4800">
                <a:solidFill>
                  <a:srgbClr val="111F31"/>
                </a:solidFill>
                <a:latin typeface="Times New Roman"/>
                <a:ea typeface="Times New Roman"/>
                <a:cs typeface="Times New Roman"/>
              </a:defRPr>
            </a:lvl1pPr>
            <a:lvl2pPr>
              <a:defRPr sz="4800">
                <a:solidFill>
                  <a:srgbClr val="111F31"/>
                </a:solidFill>
                <a:latin typeface="Times New Roman"/>
                <a:ea typeface="Times New Roman"/>
                <a:cs typeface="Times New Roman"/>
              </a:defRPr>
            </a:lvl2pPr>
            <a:lvl3pPr>
              <a:defRPr sz="4800">
                <a:solidFill>
                  <a:srgbClr val="111F31"/>
                </a:solidFill>
                <a:latin typeface="Times New Roman"/>
                <a:ea typeface="Times New Roman"/>
                <a:cs typeface="Times New Roman"/>
              </a:defRPr>
            </a:lvl3pPr>
            <a:lvl4pPr>
              <a:defRPr sz="4800">
                <a:solidFill>
                  <a:srgbClr val="111F31"/>
                </a:solidFill>
                <a:latin typeface="Times New Roman"/>
                <a:ea typeface="Times New Roman"/>
                <a:cs typeface="Times New Roman"/>
              </a:defRPr>
            </a:lvl4pPr>
            <a:lvl5pPr>
              <a:defRPr sz="4800">
                <a:solidFill>
                  <a:srgbClr val="111F31"/>
                </a:solidFill>
                <a:latin typeface="Times New Roman"/>
                <a:ea typeface="Times New Roman"/>
                <a:cs typeface="Times New Roman"/>
              </a:defRPr>
            </a:lvl5pPr>
            <a:lvl6pPr>
              <a:defRPr sz="4800">
                <a:solidFill>
                  <a:srgbClr val="111F31"/>
                </a:solidFill>
                <a:latin typeface="Times New Roman"/>
                <a:ea typeface="Times New Roman"/>
                <a:cs typeface="Times New Roman"/>
              </a:defRPr>
            </a:lvl6pPr>
            <a:lvl7pPr>
              <a:defRPr sz="4800">
                <a:solidFill>
                  <a:srgbClr val="111F31"/>
                </a:solidFill>
                <a:latin typeface="Times New Roman"/>
                <a:ea typeface="Times New Roman"/>
                <a:cs typeface="Times New Roman"/>
              </a:defRPr>
            </a:lvl7pPr>
            <a:lvl8pPr>
              <a:defRPr sz="4800">
                <a:solidFill>
                  <a:srgbClr val="111F31"/>
                </a:solidFill>
                <a:latin typeface="Times New Roman"/>
                <a:ea typeface="Times New Roman"/>
                <a:cs typeface="Times New Roman"/>
              </a:defRPr>
            </a:lvl8pPr>
            <a:lvl9pPr>
              <a:defRPr sz="4800">
                <a:solidFill>
                  <a:srgbClr val="111F31"/>
                </a:solidFill>
                <a:latin typeface="Times New Roman"/>
                <a:ea typeface="Times New Roman"/>
                <a:cs typeface="Times New Roman"/>
              </a:defRPr>
            </a:lvl9pPr>
          </a:lstStyle>
          <a:p>
            <a:pPr>
              <a:defRPr sz="4800">
                <a:solidFill>
                  <a:srgbClr val="111F31"/>
                </a:solidFill>
                <a:latin typeface="Times New Roman"/>
                <a:ea typeface="Times New Roman"/>
                <a:cs typeface="Times New Roman"/>
              </a:defRPr>
            </a:pPr>
            <a:r>
              <a:rPr sz="4800">
                <a:solidFill>
                  <a:srgbClr val="111F31"/>
                </a:solidFill>
                <a:latin typeface="Times New Roman"/>
                <a:ea typeface="Times New Roman"/>
                <a:cs typeface="Times New Roman"/>
              </a:rPr>
              <a:t>How papr works</a:t>
            </a:r>
          </a:p>
        </p:txBody>
      </p:sp>
      <p:sp>
        <p:nvSpPr>
          <p:cNvPr id="2" name="s3-1">
            <a:extLst>
              <a:ext uri="{FF2B5EF4-FFF2-40B4-BE49-F238E27FC236}">
                <a16:creationId xmlns:a16="http://schemas.microsoft.com/office/drawing/2014/main" id="{0CFFEF42-3C60-49EA-8DAF-DB0C564BADFE}"/>
              </a:ext>
            </a:extLst>
          </p:cNvPr>
          <p:cNvSpPr>
            <a:spLocks noGrp="1"/>
          </p:cNvSpPr>
          <p:nvPr/>
        </p:nvSpPr>
        <p:spPr>
          <a:xfrm>
            <a:off x="723900" y="1952625"/>
            <a:ext cx="10706100" cy="457200"/>
          </a:xfrm>
          <a:prstGeom prst="rect">
            <a:avLst/>
          </a:prstGeom>
          <a:solidFill>
            <a:srgbClr val="111F31"/>
          </a:solidFill>
          <a:ln w="0">
            <a:noFill/>
          </a:ln>
        </p:spPr>
      </p:sp>
      <p:sp>
        <p:nvSpPr>
          <p:cNvPr id="3" name="s3-2">
            <a:extLst>
              <a:ext uri="{FF2B5EF4-FFF2-40B4-BE49-F238E27FC236}">
                <a16:creationId xmlns:a16="http://schemas.microsoft.com/office/drawing/2014/main" id="{DCFC0756-D66C-46BB-BC6B-583FD240E3B3}"/>
              </a:ext>
            </a:extLst>
          </p:cNvPr>
          <p:cNvSpPr>
            <a:spLocks noGrp="1"/>
          </p:cNvSpPr>
          <p:nvPr/>
        </p:nvSpPr>
        <p:spPr>
          <a:xfrm>
            <a:off x="952500" y="2066925"/>
            <a:ext cx="10248900" cy="266700"/>
          </a:xfrm>
          <a:prstGeom prst="rect">
            <a:avLst/>
          </a:prstGeom>
          <a:noFill/>
          <a:ln w="0">
            <a:noFill/>
          </a:ln>
        </p:spPr>
        <p:txBody>
          <a:bodyPr lIns="0" tIns="0" rIns="0" bIns="0">
            <a:noAutofit/>
          </a:bodyPr>
          <a:lstStyle>
            <a:defPPr>
              <a:defRPr sz="1575">
                <a:solidFill>
                  <a:srgbClr val="FFFFFF"/>
                </a:solidFill>
                <a:latin typeface="Bahnschrift"/>
                <a:ea typeface="Bahnschrift"/>
                <a:cs typeface="Bahnschrift"/>
              </a:defRPr>
            </a:defPPr>
            <a:lvl1pPr>
              <a:defRPr sz="1575">
                <a:solidFill>
                  <a:srgbClr val="FFFFFF"/>
                </a:solidFill>
                <a:latin typeface="Bahnschrift"/>
                <a:ea typeface="Bahnschrift"/>
                <a:cs typeface="Bahnschrift"/>
              </a:defRPr>
            </a:lvl1pPr>
            <a:lvl2pPr>
              <a:defRPr sz="1575">
                <a:solidFill>
                  <a:srgbClr val="FFFFFF"/>
                </a:solidFill>
                <a:latin typeface="Bahnschrift"/>
                <a:ea typeface="Bahnschrift"/>
                <a:cs typeface="Bahnschrift"/>
              </a:defRPr>
            </a:lvl2pPr>
            <a:lvl3pPr>
              <a:defRPr sz="1575">
                <a:solidFill>
                  <a:srgbClr val="FFFFFF"/>
                </a:solidFill>
                <a:latin typeface="Bahnschrift"/>
                <a:ea typeface="Bahnschrift"/>
                <a:cs typeface="Bahnschrift"/>
              </a:defRPr>
            </a:lvl3pPr>
            <a:lvl4pPr>
              <a:defRPr sz="1575">
                <a:solidFill>
                  <a:srgbClr val="FFFFFF"/>
                </a:solidFill>
                <a:latin typeface="Bahnschrift"/>
                <a:ea typeface="Bahnschrift"/>
                <a:cs typeface="Bahnschrift"/>
              </a:defRPr>
            </a:lvl4pPr>
            <a:lvl5pPr>
              <a:defRPr sz="1575">
                <a:solidFill>
                  <a:srgbClr val="FFFFFF"/>
                </a:solidFill>
                <a:latin typeface="Bahnschrift"/>
                <a:ea typeface="Bahnschrift"/>
                <a:cs typeface="Bahnschrift"/>
              </a:defRPr>
            </a:lvl5pPr>
            <a:lvl6pPr>
              <a:defRPr sz="1575">
                <a:solidFill>
                  <a:srgbClr val="FFFFFF"/>
                </a:solidFill>
                <a:latin typeface="Bahnschrift"/>
                <a:ea typeface="Bahnschrift"/>
                <a:cs typeface="Bahnschrift"/>
              </a:defRPr>
            </a:lvl6pPr>
            <a:lvl7pPr>
              <a:defRPr sz="1575">
                <a:solidFill>
                  <a:srgbClr val="FFFFFF"/>
                </a:solidFill>
                <a:latin typeface="Bahnschrift"/>
                <a:ea typeface="Bahnschrift"/>
                <a:cs typeface="Bahnschrift"/>
              </a:defRPr>
            </a:lvl7pPr>
            <a:lvl8pPr>
              <a:defRPr sz="1575">
                <a:solidFill>
                  <a:srgbClr val="FFFFFF"/>
                </a:solidFill>
                <a:latin typeface="Bahnschrift"/>
                <a:ea typeface="Bahnschrift"/>
                <a:cs typeface="Bahnschrift"/>
              </a:defRPr>
            </a:lvl8pPr>
            <a:lvl9pPr>
              <a:defRPr sz="1575">
                <a:solidFill>
                  <a:srgbClr val="FFFFFF"/>
                </a:solidFill>
                <a:latin typeface="Bahnschrift"/>
                <a:ea typeface="Bahnschrift"/>
                <a:cs typeface="Bahnschrift"/>
              </a:defRPr>
            </a:lvl9pPr>
          </a:lstStyle>
          <a:p>
            <a:pPr>
              <a:defRPr sz="1575">
                <a:solidFill>
                  <a:srgbClr val="FFFFFF"/>
                </a:solidFill>
                <a:latin typeface="Bahnschrift"/>
                <a:ea typeface="Bahnschrift"/>
                <a:cs typeface="Bahnschrift"/>
              </a:defRPr>
            </a:pPr>
            <a:r>
              <a:rPr sz="1575">
                <a:solidFill>
                  <a:srgbClr val="FFFFFF"/>
                </a:solidFill>
                <a:latin typeface="Bahnschrift"/>
                <a:ea typeface="Bahnschrift"/>
                <a:cs typeface="Bahnschrift"/>
              </a:rPr>
              <a:t>Company + user rules guide authorization and verification</a:t>
            </a:r>
          </a:p>
        </p:txBody>
      </p:sp>
      <p:sp>
        <p:nvSpPr>
          <p:cNvPr id="4" name="s3-3">
            <a:extLst>
              <a:ext uri="{FF2B5EF4-FFF2-40B4-BE49-F238E27FC236}">
                <a16:creationId xmlns:a16="http://schemas.microsoft.com/office/drawing/2014/main" id="{60D61460-86C3-4FC8-9988-5CB8418941C2}"/>
              </a:ext>
            </a:extLst>
          </p:cNvPr>
          <p:cNvSpPr>
            <a:spLocks noGrp="1"/>
          </p:cNvSpPr>
          <p:nvPr/>
        </p:nvSpPr>
        <p:spPr>
          <a:xfrm>
            <a:off x="723900" y="2781300"/>
            <a:ext cx="2362200" cy="2209800"/>
          </a:xfrm>
          <a:prstGeom prst="rect">
            <a:avLst/>
          </a:prstGeom>
          <a:solidFill>
            <a:srgbClr val="BEDDFF"/>
          </a:solidFill>
          <a:ln w="0">
            <a:noFill/>
          </a:ln>
        </p:spPr>
      </p:sp>
      <p:sp>
        <p:nvSpPr>
          <p:cNvPr id="5" name="s3-4">
            <a:extLst>
              <a:ext uri="{FF2B5EF4-FFF2-40B4-BE49-F238E27FC236}">
                <a16:creationId xmlns:a16="http://schemas.microsoft.com/office/drawing/2014/main" id="{332ADC55-DC67-4BCA-BDAE-A83B218B09F6}"/>
              </a:ext>
            </a:extLst>
          </p:cNvPr>
          <p:cNvSpPr>
            <a:spLocks noGrp="1"/>
          </p:cNvSpPr>
          <p:nvPr/>
        </p:nvSpPr>
        <p:spPr>
          <a:xfrm>
            <a:off x="9144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1 / Request</a:t>
            </a:r>
          </a:p>
        </p:txBody>
      </p:sp>
      <p:sp>
        <p:nvSpPr>
          <p:cNvPr id="6" name="s3-5">
            <a:extLst>
              <a:ext uri="{FF2B5EF4-FFF2-40B4-BE49-F238E27FC236}">
                <a16:creationId xmlns:a16="http://schemas.microsoft.com/office/drawing/2014/main" id="{896DAFF0-C83B-4F3E-B3BA-FB123672C6E5}"/>
              </a:ext>
            </a:extLst>
          </p:cNvPr>
          <p:cNvSpPr>
            <a:spLocks noGrp="1"/>
          </p:cNvSpPr>
          <p:nvPr/>
        </p:nvSpPr>
        <p:spPr>
          <a:xfrm>
            <a:off x="9144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Natural language:</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“Laptop under $1,200,</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16 GB, ideally light.”</a:t>
            </a:r>
          </a:p>
        </p:txBody>
      </p:sp>
      <p:sp>
        <p:nvSpPr>
          <p:cNvPr id="7" name="s3-6">
            <a:extLst>
              <a:ext uri="{FF2B5EF4-FFF2-40B4-BE49-F238E27FC236}">
                <a16:creationId xmlns:a16="http://schemas.microsoft.com/office/drawing/2014/main" id="{9E6AD2DD-6A89-4AC4-B367-7EFD5D7C2405}"/>
              </a:ext>
            </a:extLst>
          </p:cNvPr>
          <p:cNvSpPr>
            <a:spLocks noGrp="1"/>
          </p:cNvSpPr>
          <p:nvPr/>
        </p:nvSpPr>
        <p:spPr>
          <a:xfrm>
            <a:off x="31432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8" name="s3-7">
            <a:extLst>
              <a:ext uri="{FF2B5EF4-FFF2-40B4-BE49-F238E27FC236}">
                <a16:creationId xmlns:a16="http://schemas.microsoft.com/office/drawing/2014/main" id="{32163C21-AC0B-4962-961D-FC714ECDB683}"/>
              </a:ext>
            </a:extLst>
          </p:cNvPr>
          <p:cNvSpPr>
            <a:spLocks noGrp="1"/>
          </p:cNvSpPr>
          <p:nvPr/>
        </p:nvSpPr>
        <p:spPr>
          <a:xfrm>
            <a:off x="3505200" y="2781300"/>
            <a:ext cx="2362200" cy="2209800"/>
          </a:xfrm>
          <a:prstGeom prst="rect">
            <a:avLst/>
          </a:prstGeom>
          <a:solidFill>
            <a:srgbClr val="BEDDFF"/>
          </a:solidFill>
          <a:ln w="0">
            <a:noFill/>
          </a:ln>
        </p:spPr>
      </p:sp>
      <p:sp>
        <p:nvSpPr>
          <p:cNvPr id="9" name="s3-8">
            <a:extLst>
              <a:ext uri="{FF2B5EF4-FFF2-40B4-BE49-F238E27FC236}">
                <a16:creationId xmlns:a16="http://schemas.microsoft.com/office/drawing/2014/main" id="{954B4612-F18E-4178-8C1D-32F468D51248}"/>
              </a:ext>
            </a:extLst>
          </p:cNvPr>
          <p:cNvSpPr>
            <a:spLocks noGrp="1"/>
          </p:cNvSpPr>
          <p:nvPr/>
        </p:nvSpPr>
        <p:spPr>
          <a:xfrm>
            <a:off x="36957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2 / Encode specs</a:t>
            </a:r>
          </a:p>
        </p:txBody>
      </p:sp>
      <p:sp>
        <p:nvSpPr>
          <p:cNvPr id="10" name="s3-9">
            <a:extLst>
              <a:ext uri="{FF2B5EF4-FFF2-40B4-BE49-F238E27FC236}">
                <a16:creationId xmlns:a16="http://schemas.microsoft.com/office/drawing/2014/main" id="{EC1D26F6-4A61-4FB7-B506-2056C6DABD09}"/>
              </a:ext>
            </a:extLst>
          </p:cNvPr>
          <p:cNvSpPr>
            <a:spLocks noGrp="1"/>
          </p:cNvSpPr>
          <p:nvPr/>
        </p:nvSpPr>
        <p:spPr>
          <a:xfrm>
            <a:off x="36957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Must: ≤ $1,200</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RAM ≥ 16 GB</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Prefer: low weight</a:t>
            </a:r>
          </a:p>
        </p:txBody>
      </p:sp>
      <p:sp>
        <p:nvSpPr>
          <p:cNvPr id="11" name="s3-10">
            <a:extLst>
              <a:ext uri="{FF2B5EF4-FFF2-40B4-BE49-F238E27FC236}">
                <a16:creationId xmlns:a16="http://schemas.microsoft.com/office/drawing/2014/main" id="{FDBA4530-019B-4A1E-A65D-FE86A4424BA5}"/>
              </a:ext>
            </a:extLst>
          </p:cNvPr>
          <p:cNvSpPr>
            <a:spLocks noGrp="1"/>
          </p:cNvSpPr>
          <p:nvPr/>
        </p:nvSpPr>
        <p:spPr>
          <a:xfrm>
            <a:off x="59245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12" name="s3-11">
            <a:extLst>
              <a:ext uri="{FF2B5EF4-FFF2-40B4-BE49-F238E27FC236}">
                <a16:creationId xmlns:a16="http://schemas.microsoft.com/office/drawing/2014/main" id="{06394FD4-B669-417C-A0B3-A90B081A40B0}"/>
              </a:ext>
            </a:extLst>
          </p:cNvPr>
          <p:cNvSpPr>
            <a:spLocks noGrp="1"/>
          </p:cNvSpPr>
          <p:nvPr/>
        </p:nvSpPr>
        <p:spPr>
          <a:xfrm>
            <a:off x="6286500" y="2781300"/>
            <a:ext cx="2362200" cy="2209800"/>
          </a:xfrm>
          <a:prstGeom prst="rect">
            <a:avLst/>
          </a:prstGeom>
          <a:solidFill>
            <a:srgbClr val="BEDDFF"/>
          </a:solidFill>
          <a:ln w="0">
            <a:noFill/>
          </a:ln>
        </p:spPr>
      </p:sp>
      <p:sp>
        <p:nvSpPr>
          <p:cNvPr id="13" name="s3-12">
            <a:extLst>
              <a:ext uri="{FF2B5EF4-FFF2-40B4-BE49-F238E27FC236}">
                <a16:creationId xmlns:a16="http://schemas.microsoft.com/office/drawing/2014/main" id="{F3ECB86A-8B71-4C4E-BF64-EAA9013E6CD5}"/>
              </a:ext>
            </a:extLst>
          </p:cNvPr>
          <p:cNvSpPr>
            <a:spLocks noGrp="1"/>
          </p:cNvSpPr>
          <p:nvPr/>
        </p:nvSpPr>
        <p:spPr>
          <a:xfrm>
            <a:off x="64770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3 / Find + verify</a:t>
            </a:r>
          </a:p>
        </p:txBody>
      </p:sp>
      <p:sp>
        <p:nvSpPr>
          <p:cNvPr id="14" name="s3-13">
            <a:extLst>
              <a:ext uri="{FF2B5EF4-FFF2-40B4-BE49-F238E27FC236}">
                <a16:creationId xmlns:a16="http://schemas.microsoft.com/office/drawing/2014/main" id="{19319059-E53E-43DF-A3F7-3876EE3DB008}"/>
              </a:ext>
            </a:extLst>
          </p:cNvPr>
          <p:cNvSpPr>
            <a:spLocks noGrp="1"/>
          </p:cNvSpPr>
          <p:nvPr/>
        </p:nvSpPr>
        <p:spPr>
          <a:xfrm>
            <a:off x="64770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Search products.</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Verify requirements.</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Rank preferences.</a:t>
            </a:r>
          </a:p>
        </p:txBody>
      </p:sp>
      <p:sp>
        <p:nvSpPr>
          <p:cNvPr id="15" name="s3-14">
            <a:extLst>
              <a:ext uri="{FF2B5EF4-FFF2-40B4-BE49-F238E27FC236}">
                <a16:creationId xmlns:a16="http://schemas.microsoft.com/office/drawing/2014/main" id="{BEBFBFD1-F662-403F-ACDE-C29E4C94DD21}"/>
              </a:ext>
            </a:extLst>
          </p:cNvPr>
          <p:cNvSpPr>
            <a:spLocks noGrp="1"/>
          </p:cNvSpPr>
          <p:nvPr/>
        </p:nvSpPr>
        <p:spPr>
          <a:xfrm>
            <a:off x="87058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16" name="s3-15">
            <a:extLst>
              <a:ext uri="{FF2B5EF4-FFF2-40B4-BE49-F238E27FC236}">
                <a16:creationId xmlns:a16="http://schemas.microsoft.com/office/drawing/2014/main" id="{045CF9D8-7BB7-4B66-A271-B79BEAEE4489}"/>
              </a:ext>
            </a:extLst>
          </p:cNvPr>
          <p:cNvSpPr>
            <a:spLocks noGrp="1"/>
          </p:cNvSpPr>
          <p:nvPr/>
        </p:nvSpPr>
        <p:spPr>
          <a:xfrm>
            <a:off x="9067800" y="2781300"/>
            <a:ext cx="2362200" cy="2209800"/>
          </a:xfrm>
          <a:prstGeom prst="rect">
            <a:avLst/>
          </a:prstGeom>
          <a:solidFill>
            <a:srgbClr val="BEDDFF"/>
          </a:solidFill>
          <a:ln w="0">
            <a:noFill/>
          </a:ln>
        </p:spPr>
      </p:sp>
      <p:sp>
        <p:nvSpPr>
          <p:cNvPr id="17" name="s3-16">
            <a:extLst>
              <a:ext uri="{FF2B5EF4-FFF2-40B4-BE49-F238E27FC236}">
                <a16:creationId xmlns:a16="http://schemas.microsoft.com/office/drawing/2014/main" id="{B4DADD8B-E793-4C01-A718-A5EA51099F48}"/>
              </a:ext>
            </a:extLst>
          </p:cNvPr>
          <p:cNvSpPr>
            <a:spLocks noGrp="1"/>
          </p:cNvSpPr>
          <p:nvPr/>
        </p:nvSpPr>
        <p:spPr>
          <a:xfrm>
            <a:off x="92583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4 / Decide + log</a:t>
            </a:r>
          </a:p>
        </p:txBody>
      </p:sp>
      <p:sp>
        <p:nvSpPr>
          <p:cNvPr id="18" name="s3-17">
            <a:extLst>
              <a:ext uri="{FF2B5EF4-FFF2-40B4-BE49-F238E27FC236}">
                <a16:creationId xmlns:a16="http://schemas.microsoft.com/office/drawing/2014/main" id="{72323F14-F9FC-4C3C-8CED-36ED5BF978DC}"/>
              </a:ext>
            </a:extLst>
          </p:cNvPr>
          <p:cNvSpPr>
            <a:spLocks noGrp="1"/>
          </p:cNvSpPr>
          <p:nvPr/>
        </p:nvSpPr>
        <p:spPr>
          <a:xfrm>
            <a:off x="92583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Approve or deny.</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Save the request,</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submitter and reason.</a:t>
            </a:r>
          </a:p>
        </p:txBody>
      </p:sp>
      <p:sp>
        <p:nvSpPr>
          <p:cNvPr id="19" name="s3-18">
            <a:extLst>
              <a:ext uri="{FF2B5EF4-FFF2-40B4-BE49-F238E27FC236}">
                <a16:creationId xmlns:a16="http://schemas.microsoft.com/office/drawing/2014/main" id="{E3182C3C-C7A3-42E5-B3F0-7A5D91FB2D5C}"/>
              </a:ext>
            </a:extLst>
          </p:cNvPr>
          <p:cNvSpPr>
            <a:spLocks noGrp="1"/>
          </p:cNvSpPr>
          <p:nvPr/>
        </p:nvSpPr>
        <p:spPr>
          <a:xfrm>
            <a:off x="781050" y="5534025"/>
            <a:ext cx="10648950" cy="381000"/>
          </a:xfrm>
          <a:prstGeom prst="rect">
            <a:avLst/>
          </a:prstGeom>
          <a:noFill/>
          <a:ln w="0">
            <a:noFill/>
          </a:ln>
        </p:spPr>
        <p:txBody>
          <a:bodyPr lIns="0" tIns="0" rIns="0" bIns="0">
            <a:noAutofit/>
          </a:bodyPr>
          <a:lstStyle>
            <a:defPPr>
              <a:defRPr sz="1875">
                <a:solidFill>
                  <a:srgbClr val="111F31"/>
                </a:solidFill>
                <a:latin typeface="Times New Roman"/>
                <a:ea typeface="Times New Roman"/>
                <a:cs typeface="Times New Roman"/>
              </a:defRPr>
            </a:defPPr>
            <a:lvl1pPr>
              <a:defRPr sz="1875">
                <a:solidFill>
                  <a:srgbClr val="111F31"/>
                </a:solidFill>
                <a:latin typeface="Times New Roman"/>
                <a:ea typeface="Times New Roman"/>
                <a:cs typeface="Times New Roman"/>
              </a:defRPr>
            </a:lvl1pPr>
            <a:lvl2pPr>
              <a:defRPr sz="1875">
                <a:solidFill>
                  <a:srgbClr val="111F31"/>
                </a:solidFill>
                <a:latin typeface="Times New Roman"/>
                <a:ea typeface="Times New Roman"/>
                <a:cs typeface="Times New Roman"/>
              </a:defRPr>
            </a:lvl2pPr>
            <a:lvl3pPr>
              <a:defRPr sz="1875">
                <a:solidFill>
                  <a:srgbClr val="111F31"/>
                </a:solidFill>
                <a:latin typeface="Times New Roman"/>
                <a:ea typeface="Times New Roman"/>
                <a:cs typeface="Times New Roman"/>
              </a:defRPr>
            </a:lvl3pPr>
            <a:lvl4pPr>
              <a:defRPr sz="1875">
                <a:solidFill>
                  <a:srgbClr val="111F31"/>
                </a:solidFill>
                <a:latin typeface="Times New Roman"/>
                <a:ea typeface="Times New Roman"/>
                <a:cs typeface="Times New Roman"/>
              </a:defRPr>
            </a:lvl4pPr>
            <a:lvl5pPr>
              <a:defRPr sz="1875">
                <a:solidFill>
                  <a:srgbClr val="111F31"/>
                </a:solidFill>
                <a:latin typeface="Times New Roman"/>
                <a:ea typeface="Times New Roman"/>
                <a:cs typeface="Times New Roman"/>
              </a:defRPr>
            </a:lvl5pPr>
            <a:lvl6pPr>
              <a:defRPr sz="1875">
                <a:solidFill>
                  <a:srgbClr val="111F31"/>
                </a:solidFill>
                <a:latin typeface="Times New Roman"/>
                <a:ea typeface="Times New Roman"/>
                <a:cs typeface="Times New Roman"/>
              </a:defRPr>
            </a:lvl6pPr>
            <a:lvl7pPr>
              <a:defRPr sz="1875">
                <a:solidFill>
                  <a:srgbClr val="111F31"/>
                </a:solidFill>
                <a:latin typeface="Times New Roman"/>
                <a:ea typeface="Times New Roman"/>
                <a:cs typeface="Times New Roman"/>
              </a:defRPr>
            </a:lvl7pPr>
            <a:lvl8pPr>
              <a:defRPr sz="1875">
                <a:solidFill>
                  <a:srgbClr val="111F31"/>
                </a:solidFill>
                <a:latin typeface="Times New Roman"/>
                <a:ea typeface="Times New Roman"/>
                <a:cs typeface="Times New Roman"/>
              </a:defRPr>
            </a:lvl8pPr>
            <a:lvl9pPr>
              <a:defRPr sz="1875">
                <a:solidFill>
                  <a:srgbClr val="111F31"/>
                </a:solidFill>
                <a:latin typeface="Times New Roman"/>
                <a:ea typeface="Times New Roman"/>
                <a:cs typeface="Times New Roman"/>
              </a:defRPr>
            </a:lvl9pPr>
          </a:lstStyle>
          <a:p>
            <a:pPr>
              <a:defRPr sz="1875">
                <a:solidFill>
                  <a:srgbClr val="111F31"/>
                </a:solidFill>
                <a:latin typeface="Times New Roman"/>
                <a:ea typeface="Times New Roman"/>
                <a:cs typeface="Times New Roman"/>
              </a:defRPr>
            </a:pPr>
            <a:r>
              <a:rPr sz="1875">
                <a:solidFill>
                  <a:srgbClr val="111F31"/>
                </a:solidFill>
                <a:latin typeface="Times New Roman"/>
                <a:ea typeface="Times New Roman"/>
                <a:cs typeface="Times New Roman"/>
              </a:rPr>
              <a:t>Required specs determine eligibility. Preferences rank the eligible matches.</a:t>
            </a:r>
          </a:p>
        </p:txBody>
      </p:sp>
      <p:pic>
        <p:nvPicPr>
          <p:cNvPr id="20" name="Graphic 19">
            <a:extLst>
              <a:ext uri="{FF2B5EF4-FFF2-40B4-BE49-F238E27FC236}">
                <a16:creationId xmlns:a16="http://schemas.microsoft.com/office/drawing/2014/main" id="{0CC48C9D-09A8-46EE-976E-CAAE6ABD953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462884493"/>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850"/>
                                        <p:tgtEl>
                                          <p:spTgt spid="21"/>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1"/>
                                        </p:tgtEl>
                                        <p:attrNameLst>
                                          <p:attrName>style.visibility</p:attrName>
                                        </p:attrNameLst>
                                      </p:cBhvr>
                                      <p:to>
                                        <p:strVal val="visible"/>
                                      </p:to>
                                    </p:set>
                                    <p:animMotion origin="layout" pathEditMode="relative">
                                      <p:cBhvr from="" to="">
                                        <p:cTn id="10" dur="850" fill="hold">
                                          <p:stCondLst>
                                            <p:cond delay="0"/>
                                          </p:stCondLst>
                                        </p:cTn>
                                        <p:tgtEl>
                                          <p:spTgt spid="21"/>
                                        </p:tgtEl>
                                        <p:attrNameLst>
                                          <p:attrName>ppt_x</p:attrName>
                                          <p:attrName>ppt_y</p:attrName>
                                        </p:attrNameLst>
                                      </p:cBhvr>
                                      <p:from x="0" y="25"/>
                                      <p:to x="0" y="0"/>
                                    </p:animMotion>
                                  </p:childTnLst>
                                </p:cTn>
                              </p:par>
                              <p:par>
                                <p:cTn id="11" presetID="10" presetClass="entr" presetSubtype="0" fill="hold" grpId="0" nodeType="withEffect">
                                  <p:stCondLst>
                                    <p:cond delay="1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850"/>
                                        <p:tgtEl>
                                          <p:spTgt spid="3"/>
                                        </p:tgtEl>
                                      </p:cBhvr>
                                    </p:animEffect>
                                  </p:childTnLst>
                                </p:cTn>
                              </p:par>
                              <p:par>
                                <p:cTn id="14" presetID="0" presetClass="entr" presetSubtype="0" decel="80000" fill="hold" grpId="1" nodeType="withEffect">
                                  <p:stCondLst>
                                    <p:cond delay="170"/>
                                  </p:stCondLst>
                                  <p:childTnLst>
                                    <p:set>
                                      <p:cBhvr>
                                        <p:cTn id="15" dur="1" fill="hold">
                                          <p:stCondLst>
                                            <p:cond delay="849"/>
                                          </p:stCondLst>
                                        </p:cTn>
                                        <p:tgtEl>
                                          <p:spTgt spid="3"/>
                                        </p:tgtEl>
                                        <p:attrNameLst>
                                          <p:attrName>style.visibility</p:attrName>
                                        </p:attrNameLst>
                                      </p:cBhvr>
                                      <p:to>
                                        <p:strVal val="visible"/>
                                      </p:to>
                                    </p:set>
                                    <p:animMotion origin="layout" pathEditMode="relative">
                                      <p:cBhvr from="" to="">
                                        <p:cTn id="16" dur="850" fill="hold">
                                          <p:stCondLst>
                                            <p:cond delay="0"/>
                                          </p:stCondLst>
                                        </p:cTn>
                                        <p:tgtEl>
                                          <p:spTgt spid="3"/>
                                        </p:tgtEl>
                                        <p:attrNameLst>
                                          <p:attrName>ppt_x</p:attrName>
                                          <p:attrName>ppt_y</p:attrName>
                                        </p:attrNameLst>
                                      </p:cBhvr>
                                      <p:from x="0" y="25"/>
                                      <p:to x="0" y="0"/>
                                    </p:animMotion>
                                  </p:childTnLst>
                                </p:cTn>
                              </p:par>
                              <p:par>
                                <p:cTn id="17" presetID="10" presetClass="entr" presetSubtype="0" fill="hold" grpId="0" nodeType="withEffect">
                                  <p:stCondLst>
                                    <p:cond delay="3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50"/>
                                        <p:tgtEl>
                                          <p:spTgt spid="5"/>
                                        </p:tgtEl>
                                      </p:cBhvr>
                                    </p:animEffect>
                                  </p:childTnLst>
                                </p:cTn>
                              </p:par>
                              <p:par>
                                <p:cTn id="20" presetID="0" presetClass="entr" presetSubtype="0" decel="80000" fill="hold" grpId="1" nodeType="withEffect">
                                  <p:stCondLst>
                                    <p:cond delay="340"/>
                                  </p:stCondLst>
                                  <p:childTnLst>
                                    <p:set>
                                      <p:cBhvr>
                                        <p:cTn id="21" dur="1" fill="hold">
                                          <p:stCondLst>
                                            <p:cond delay="849"/>
                                          </p:stCondLst>
                                        </p:cTn>
                                        <p:tgtEl>
                                          <p:spTgt spid="5"/>
                                        </p:tgtEl>
                                        <p:attrNameLst>
                                          <p:attrName>style.visibility</p:attrName>
                                        </p:attrNameLst>
                                      </p:cBhvr>
                                      <p:to>
                                        <p:strVal val="visible"/>
                                      </p:to>
                                    </p:set>
                                    <p:animMotion origin="layout" pathEditMode="relative">
                                      <p:cBhvr from="" to="">
                                        <p:cTn id="22" dur="850" fill="hold">
                                          <p:stCondLst>
                                            <p:cond delay="0"/>
                                          </p:stCondLst>
                                        </p:cTn>
                                        <p:tgtEl>
                                          <p:spTgt spid="5"/>
                                        </p:tgtEl>
                                        <p:attrNameLst>
                                          <p:attrName>ppt_x</p:attrName>
                                          <p:attrName>ppt_y</p:attrName>
                                        </p:attrNameLst>
                                      </p:cBhvr>
                                      <p:from x="0" y="25"/>
                                      <p:to x="0" y="0"/>
                                    </p:animMotion>
                                  </p:childTnLst>
                                </p:cTn>
                              </p:par>
                              <p:par>
                                <p:cTn id="23" presetID="10" presetClass="entr" presetSubtype="0" fill="hold" grpId="0" nodeType="withEffect">
                                  <p:stCondLst>
                                    <p:cond delay="425"/>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850"/>
                                        <p:tgtEl>
                                          <p:spTgt spid="6"/>
                                        </p:tgtEl>
                                      </p:cBhvr>
                                    </p:animEffect>
                                  </p:childTnLst>
                                </p:cTn>
                              </p:par>
                              <p:par>
                                <p:cTn id="26" presetID="0" presetClass="entr" presetSubtype="0" decel="80000" fill="hold" grpId="1" nodeType="withEffect">
                                  <p:stCondLst>
                                    <p:cond delay="425"/>
                                  </p:stCondLst>
                                  <p:childTnLst>
                                    <p:set>
                                      <p:cBhvr>
                                        <p:cTn id="27" dur="1" fill="hold">
                                          <p:stCondLst>
                                            <p:cond delay="849"/>
                                          </p:stCondLst>
                                        </p:cTn>
                                        <p:tgtEl>
                                          <p:spTgt spid="6"/>
                                        </p:tgtEl>
                                        <p:attrNameLst>
                                          <p:attrName>style.visibility</p:attrName>
                                        </p:attrNameLst>
                                      </p:cBhvr>
                                      <p:to>
                                        <p:strVal val="visible"/>
                                      </p:to>
                                    </p:set>
                                    <p:animMotion origin="layout" pathEditMode="relative">
                                      <p:cBhvr from="" to="">
                                        <p:cTn id="28" dur="850" fill="hold">
                                          <p:stCondLst>
                                            <p:cond delay="0"/>
                                          </p:stCondLst>
                                        </p:cTn>
                                        <p:tgtEl>
                                          <p:spTgt spid="6"/>
                                        </p:tgtEl>
                                        <p:attrNameLst>
                                          <p:attrName>ppt_x</p:attrName>
                                          <p:attrName>ppt_y</p:attrName>
                                        </p:attrNameLst>
                                      </p:cBhvr>
                                      <p:from x="0" y="25"/>
                                      <p:to x="0" y="0"/>
                                    </p:animMotion>
                                  </p:childTnLst>
                                </p:cTn>
                              </p:par>
                              <p:par>
                                <p:cTn id="29" presetID="10" presetClass="entr" presetSubtype="0" fill="hold" grpId="0" nodeType="withEffect">
                                  <p:stCondLst>
                                    <p:cond delay="51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850"/>
                                        <p:tgtEl>
                                          <p:spTgt spid="7"/>
                                        </p:tgtEl>
                                      </p:cBhvr>
                                    </p:animEffect>
                                  </p:childTnLst>
                                </p:cTn>
                              </p:par>
                              <p:par>
                                <p:cTn id="32" presetID="0" presetClass="entr" presetSubtype="0" decel="80000" fill="hold" grpId="1" nodeType="withEffect">
                                  <p:stCondLst>
                                    <p:cond delay="510"/>
                                  </p:stCondLst>
                                  <p:childTnLst>
                                    <p:set>
                                      <p:cBhvr>
                                        <p:cTn id="33" dur="1" fill="hold">
                                          <p:stCondLst>
                                            <p:cond delay="849"/>
                                          </p:stCondLst>
                                        </p:cTn>
                                        <p:tgtEl>
                                          <p:spTgt spid="7"/>
                                        </p:tgtEl>
                                        <p:attrNameLst>
                                          <p:attrName>style.visibility</p:attrName>
                                        </p:attrNameLst>
                                      </p:cBhvr>
                                      <p:to>
                                        <p:strVal val="visible"/>
                                      </p:to>
                                    </p:set>
                                    <p:animMotion origin="layout" pathEditMode="relative">
                                      <p:cBhvr from="" to="">
                                        <p:cTn id="34" dur="850" fill="hold">
                                          <p:stCondLst>
                                            <p:cond delay="0"/>
                                          </p:stCondLst>
                                        </p:cTn>
                                        <p:tgtEl>
                                          <p:spTgt spid="7"/>
                                        </p:tgtEl>
                                        <p:attrNameLst>
                                          <p:attrName>ppt_x</p:attrName>
                                          <p:attrName>ppt_y</p:attrName>
                                        </p:attrNameLst>
                                      </p:cBhvr>
                                      <p:from x="0" y="25"/>
                                      <p:to x="0" y="0"/>
                                    </p:animMotion>
                                  </p:childTnLst>
                                </p:cTn>
                              </p:par>
                              <p:par>
                                <p:cTn id="35" presetID="10" presetClass="entr" presetSubtype="0" fill="hold" grpId="0" nodeType="withEffect">
                                  <p:stCondLst>
                                    <p:cond delay="65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850"/>
                                        <p:tgtEl>
                                          <p:spTgt spid="9"/>
                                        </p:tgtEl>
                                      </p:cBhvr>
                                    </p:animEffect>
                                  </p:childTnLst>
                                </p:cTn>
                              </p:par>
                              <p:par>
                                <p:cTn id="38" presetID="0" presetClass="entr" presetSubtype="0" decel="80000" fill="hold" grpId="1" nodeType="withEffect">
                                  <p:stCondLst>
                                    <p:cond delay="650"/>
                                  </p:stCondLst>
                                  <p:childTnLst>
                                    <p:set>
                                      <p:cBhvr>
                                        <p:cTn id="39" dur="1" fill="hold">
                                          <p:stCondLst>
                                            <p:cond delay="849"/>
                                          </p:stCondLst>
                                        </p:cTn>
                                        <p:tgtEl>
                                          <p:spTgt spid="9"/>
                                        </p:tgtEl>
                                        <p:attrNameLst>
                                          <p:attrName>style.visibility</p:attrName>
                                        </p:attrNameLst>
                                      </p:cBhvr>
                                      <p:to>
                                        <p:strVal val="visible"/>
                                      </p:to>
                                    </p:set>
                                    <p:animMotion origin="layout" pathEditMode="relative">
                                      <p:cBhvr from="" to="">
                                        <p:cTn id="40" dur="850" fill="hold">
                                          <p:stCondLst>
                                            <p:cond delay="0"/>
                                          </p:stCondLst>
                                        </p:cTn>
                                        <p:tgtEl>
                                          <p:spTgt spid="9"/>
                                        </p:tgtEl>
                                        <p:attrNameLst>
                                          <p:attrName>ppt_x</p:attrName>
                                          <p:attrName>ppt_y</p:attrName>
                                        </p:attrNameLst>
                                      </p:cBhvr>
                                      <p:from x="0" y="25"/>
                                      <p:to x="0" y="0"/>
                                    </p:animMotion>
                                  </p:childTnLst>
                                </p:cTn>
                              </p:par>
                              <p:par>
                                <p:cTn id="41" presetID="10" presetClass="entr" presetSubtype="0" fill="hold" grpId="0" nodeType="withEffect">
                                  <p:stCondLst>
                                    <p:cond delay="6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850"/>
                                        <p:tgtEl>
                                          <p:spTgt spid="10"/>
                                        </p:tgtEl>
                                      </p:cBhvr>
                                    </p:animEffect>
                                  </p:childTnLst>
                                </p:cTn>
                              </p:par>
                              <p:par>
                                <p:cTn id="44" presetID="0" presetClass="entr" presetSubtype="0" decel="80000" fill="hold" grpId="1" nodeType="withEffect">
                                  <p:stCondLst>
                                    <p:cond delay="650"/>
                                  </p:stCondLst>
                                  <p:childTnLst>
                                    <p:set>
                                      <p:cBhvr>
                                        <p:cTn id="45" dur="1" fill="hold">
                                          <p:stCondLst>
                                            <p:cond delay="849"/>
                                          </p:stCondLst>
                                        </p:cTn>
                                        <p:tgtEl>
                                          <p:spTgt spid="10"/>
                                        </p:tgtEl>
                                        <p:attrNameLst>
                                          <p:attrName>style.visibility</p:attrName>
                                        </p:attrNameLst>
                                      </p:cBhvr>
                                      <p:to>
                                        <p:strVal val="visible"/>
                                      </p:to>
                                    </p:set>
                                    <p:animMotion origin="layout" pathEditMode="relative">
                                      <p:cBhvr from="" to="">
                                        <p:cTn id="46" dur="850" fill="hold">
                                          <p:stCondLst>
                                            <p:cond delay="0"/>
                                          </p:stCondLst>
                                        </p:cTn>
                                        <p:tgtEl>
                                          <p:spTgt spid="10"/>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850"/>
                                        <p:tgtEl>
                                          <p:spTgt spid="11"/>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11"/>
                                        </p:tgtEl>
                                        <p:attrNameLst>
                                          <p:attrName>style.visibility</p:attrName>
                                        </p:attrNameLst>
                                      </p:cBhvr>
                                      <p:to>
                                        <p:strVal val="visible"/>
                                      </p:to>
                                    </p:set>
                                    <p:animMotion origin="layout" pathEditMode="relative">
                                      <p:cBhvr from="" to="">
                                        <p:cTn id="52" dur="850" fill="hold">
                                          <p:stCondLst>
                                            <p:cond delay="0"/>
                                          </p:stCondLst>
                                        </p:cTn>
                                        <p:tgtEl>
                                          <p:spTgt spid="11"/>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850"/>
                                        <p:tgtEl>
                                          <p:spTgt spid="13"/>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3"/>
                                        </p:tgtEl>
                                        <p:attrNameLst>
                                          <p:attrName>style.visibility</p:attrName>
                                        </p:attrNameLst>
                                      </p:cBhvr>
                                      <p:to>
                                        <p:strVal val="visible"/>
                                      </p:to>
                                    </p:set>
                                    <p:animMotion origin="layout" pathEditMode="relative">
                                      <p:cBhvr from="" to="">
                                        <p:cTn id="58" dur="850" fill="hold">
                                          <p:stCondLst>
                                            <p:cond delay="0"/>
                                          </p:stCondLst>
                                        </p:cTn>
                                        <p:tgtEl>
                                          <p:spTgt spid="13"/>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850"/>
                                        <p:tgtEl>
                                          <p:spTgt spid="14"/>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4"/>
                                        </p:tgtEl>
                                        <p:attrNameLst>
                                          <p:attrName>style.visibility</p:attrName>
                                        </p:attrNameLst>
                                      </p:cBhvr>
                                      <p:to>
                                        <p:strVal val="visible"/>
                                      </p:to>
                                    </p:set>
                                    <p:animMotion origin="layout" pathEditMode="relative">
                                      <p:cBhvr from="" to="">
                                        <p:cTn id="64" dur="850" fill="hold">
                                          <p:stCondLst>
                                            <p:cond delay="0"/>
                                          </p:stCondLst>
                                        </p:cTn>
                                        <p:tgtEl>
                                          <p:spTgt spid="14"/>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850"/>
                                        <p:tgtEl>
                                          <p:spTgt spid="15"/>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5"/>
                                        </p:tgtEl>
                                        <p:attrNameLst>
                                          <p:attrName>style.visibility</p:attrName>
                                        </p:attrNameLst>
                                      </p:cBhvr>
                                      <p:to>
                                        <p:strVal val="visible"/>
                                      </p:to>
                                    </p:set>
                                    <p:animMotion origin="layout" pathEditMode="relative">
                                      <p:cBhvr from="" to="">
                                        <p:cTn id="70" dur="850" fill="hold">
                                          <p:stCondLst>
                                            <p:cond delay="0"/>
                                          </p:stCondLst>
                                        </p:cTn>
                                        <p:tgtEl>
                                          <p:spTgt spid="15"/>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850"/>
                                        <p:tgtEl>
                                          <p:spTgt spid="17"/>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7"/>
                                        </p:tgtEl>
                                        <p:attrNameLst>
                                          <p:attrName>style.visibility</p:attrName>
                                        </p:attrNameLst>
                                      </p:cBhvr>
                                      <p:to>
                                        <p:strVal val="visible"/>
                                      </p:to>
                                    </p:set>
                                    <p:animMotion origin="layout" pathEditMode="relative">
                                      <p:cBhvr from="" to="">
                                        <p:cTn id="76" dur="850" fill="hold">
                                          <p:stCondLst>
                                            <p:cond delay="0"/>
                                          </p:stCondLst>
                                        </p:cTn>
                                        <p:tgtEl>
                                          <p:spTgt spid="17"/>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850"/>
                                        <p:tgtEl>
                                          <p:spTgt spid="18"/>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8"/>
                                        </p:tgtEl>
                                        <p:attrNameLst>
                                          <p:attrName>style.visibility</p:attrName>
                                        </p:attrNameLst>
                                      </p:cBhvr>
                                      <p:to>
                                        <p:strVal val="visible"/>
                                      </p:to>
                                    </p:set>
                                    <p:animMotion origin="layout" pathEditMode="relative">
                                      <p:cBhvr from="" to="">
                                        <p:cTn id="82" dur="850" fill="hold">
                                          <p:stCondLst>
                                            <p:cond delay="0"/>
                                          </p:stCondLst>
                                        </p:cTn>
                                        <p:tgtEl>
                                          <p:spTgt spid="18"/>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850"/>
                                        <p:tgtEl>
                                          <p:spTgt spid="19"/>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9"/>
                                        </p:tgtEl>
                                        <p:attrNameLst>
                                          <p:attrName>style.visibility</p:attrName>
                                        </p:attrNameLst>
                                      </p:cBhvr>
                                      <p:to>
                                        <p:strVal val="visible"/>
                                      </p:to>
                                    </p:set>
                                    <p:animMotion origin="layout" pathEditMode="relative">
                                      <p:cBhvr from="" to="">
                                        <p:cTn id="88" dur="850" fill="hold">
                                          <p:stCondLst>
                                            <p:cond delay="0"/>
                                          </p:stCondLst>
                                        </p:cTn>
                                        <p:tgtEl>
                                          <p:spTgt spid="19"/>
                                        </p:tgtEl>
                                        <p:attrNameLst>
                                          <p:attrName>ppt_x</p:attrName>
                                          <p:attrName>ppt_y</p:attrName>
                                        </p:attrNameLst>
                                      </p:cBhvr>
                                      <p:from x="0" y="25"/>
                                      <p:to x="0" y="0"/>
                                    </p:animMotion>
                                  </p:childTnLst>
                                </p:cTn>
                              </p:par>
                              <p:par>
                                <p:cTn id="89" presetID="10" presetClass="entr" presetSubtype="0" fill="hold" nodeType="withEffect">
                                  <p:stCondLst>
                                    <p:cond delay="65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850"/>
                                        <p:tgtEl>
                                          <p:spTgt spid="20"/>
                                        </p:tgtEl>
                                      </p:cBhvr>
                                    </p:animEffect>
                                  </p:childTnLst>
                                </p:cTn>
                              </p:par>
                              <p:par>
                                <p:cTn id="92" presetID="0" presetClass="entr" presetSubtype="0" decel="80000" fill="hold" nodeType="withEffect">
                                  <p:stCondLst>
                                    <p:cond delay="650"/>
                                  </p:stCondLst>
                                  <p:childTnLst>
                                    <p:set>
                                      <p:cBhvr>
                                        <p:cTn id="93" dur="1" fill="hold">
                                          <p:stCondLst>
                                            <p:cond delay="849"/>
                                          </p:stCondLst>
                                        </p:cTn>
                                        <p:tgtEl>
                                          <p:spTgt spid="20"/>
                                        </p:tgtEl>
                                        <p:attrNameLst>
                                          <p:attrName>style.visibility</p:attrName>
                                        </p:attrNameLst>
                                      </p:cBhvr>
                                      <p:to>
                                        <p:strVal val="visible"/>
                                      </p:to>
                                    </p:set>
                                    <p:animMotion origin="layout" pathEditMode="relative">
                                      <p:cBhvr from="" to="">
                                        <p:cTn id="94" dur="850" fill="hold">
                                          <p:stCondLst>
                                            <p:cond delay="0"/>
                                          </p:stCondLst>
                                        </p:cTn>
                                        <p:tgtEl>
                                          <p:spTgt spid="20"/>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3" grpId="0"/>
      <p:bldP spid="3" grpId="1"/>
      <p:bldP spid="5" grpId="0"/>
      <p:bldP spid="5" grpId="1"/>
      <p:bldP spid="6" grpId="0"/>
      <p:bldP spid="6" grpId="1"/>
      <p:bldP spid="7" grpId="0"/>
      <p:bldP spid="7" grpId="1"/>
      <p:bldP spid="9" grpId="0"/>
      <p:bldP spid="9" grpId="1"/>
      <p:bldP spid="10" grpId="0"/>
      <p:bldP spid="10" grpId="1"/>
      <p:bldP spid="11" grpId="0"/>
      <p:bldP spid="11" grpId="1"/>
      <p:bldP spid="13" grpId="0"/>
      <p:bldP spid="13" grpId="1"/>
      <p:bldP spid="14" grpId="0"/>
      <p:bldP spid="14" grpId="1"/>
      <p:bldP spid="15" grpId="0"/>
      <p:bldP spid="15" grpId="1"/>
      <p:bldP spid="17" grpId="0"/>
      <p:bldP spid="17" grpId="1"/>
      <p:bldP spid="18" grpId="0"/>
      <p:bldP spid="18" grpId="1"/>
      <p:bldP spid="19" grpId="0"/>
      <p:bldP spid="19"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0" name="s4-0">
            <a:extLst>
              <a:ext uri="{FF2B5EF4-FFF2-40B4-BE49-F238E27FC236}">
                <a16:creationId xmlns:a16="http://schemas.microsoft.com/office/drawing/2014/main" id="{C28B4215-6593-4C73-8FA0-B175A26F145A}"/>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4-1">
            <a:extLst>
              <a:ext uri="{FF2B5EF4-FFF2-40B4-BE49-F238E27FC236}">
                <a16:creationId xmlns:a16="http://schemas.microsoft.com/office/drawing/2014/main" id="{6157B134-2394-4FB7-BD71-1DB41DC021DA}"/>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4-2">
            <a:extLst>
              <a:ext uri="{FF2B5EF4-FFF2-40B4-BE49-F238E27FC236}">
                <a16:creationId xmlns:a16="http://schemas.microsoft.com/office/drawing/2014/main" id="{645B383A-0621-4E72-9EC7-13F796E7FB4B}"/>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2 days</a:t>
            </a:r>
          </a:p>
        </p:txBody>
      </p:sp>
      <p:sp>
        <p:nvSpPr>
          <p:cNvPr id="4" name="s4-3">
            <a:hlinkClick r:id="rId3"/>
            <a:extLst>
              <a:ext uri="{FF2B5EF4-FFF2-40B4-BE49-F238E27FC236}">
                <a16:creationId xmlns:a16="http://schemas.microsoft.com/office/drawing/2014/main" id="{70F2F0B8-2218-4B4F-9436-51C4B96A28F7}"/>
              </a:ext>
            </a:extLst>
          </p:cNvPr>
          <p:cNvSpPr>
            <a:spLocks noGrp="1"/>
          </p:cNvSpPr>
          <p:nvPr/>
        </p:nvSpPr>
        <p:spPr>
          <a:xfrm>
            <a:off x="78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5" name="s4-4">
            <a:extLst>
              <a:ext uri="{FF2B5EF4-FFF2-40B4-BE49-F238E27FC236}">
                <a16:creationId xmlns:a16="http://schemas.microsoft.com/office/drawing/2014/main" id="{AA983989-311B-481D-8858-2D51BE02A8AC}"/>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4-5">
            <a:extLst>
              <a:ext uri="{FF2B5EF4-FFF2-40B4-BE49-F238E27FC236}">
                <a16:creationId xmlns:a16="http://schemas.microsoft.com/office/drawing/2014/main" id="{23883924-DD57-4486-948E-4FDFB76CEBF4}"/>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4-6">
            <a:extLst>
              <a:ext uri="{FF2B5EF4-FFF2-40B4-BE49-F238E27FC236}">
                <a16:creationId xmlns:a16="http://schemas.microsoft.com/office/drawing/2014/main" id="{E34DFC18-F78B-40B4-AC22-A5945BF220E7}"/>
              </a:ext>
            </a:extLst>
          </p:cNvPr>
          <p:cNvSpPr>
            <a:spLocks noGrp="1"/>
          </p:cNvSpPr>
          <p:nvPr/>
        </p:nvSpPr>
        <p:spPr>
          <a:xfrm>
            <a:off x="4229100" y="2114550"/>
            <a:ext cx="9525" cy="4000500"/>
          </a:xfrm>
          <a:prstGeom prst="rect">
            <a:avLst/>
          </a:prstGeom>
          <a:solidFill>
            <a:srgbClr val="38516B"/>
          </a:solidFill>
          <a:ln w="0">
            <a:noFill/>
          </a:ln>
        </p:spPr>
      </p:sp>
      <p:sp>
        <p:nvSpPr>
          <p:cNvPr id="8" name="s4-7">
            <a:extLst>
              <a:ext uri="{FF2B5EF4-FFF2-40B4-BE49-F238E27FC236}">
                <a16:creationId xmlns:a16="http://schemas.microsoft.com/office/drawing/2014/main" id="{66679E57-1B4C-405A-A657-DBD1E83B8C76}"/>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4-8">
            <a:extLst>
              <a:ext uri="{FF2B5EF4-FFF2-40B4-BE49-F238E27FC236}">
                <a16:creationId xmlns:a16="http://schemas.microsoft.com/office/drawing/2014/main" id="{FF9F3AB5-53C6-41F6-9ECD-8A3892F9E519}"/>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BEDDFF"/>
                </a:solidFill>
                <a:latin typeface="Times New Roman"/>
                <a:ea typeface="Times New Roman"/>
                <a:cs typeface="Times New Roman"/>
              </a:defRPr>
            </a:defPPr>
            <a:lvl1pPr>
              <a:defRPr sz="5700">
                <a:solidFill>
                  <a:srgbClr val="BEDDFF"/>
                </a:solidFill>
                <a:latin typeface="Times New Roman"/>
                <a:ea typeface="Times New Roman"/>
                <a:cs typeface="Times New Roman"/>
              </a:defRPr>
            </a:lvl1pPr>
            <a:lvl2pPr>
              <a:defRPr sz="5700">
                <a:solidFill>
                  <a:srgbClr val="BEDDFF"/>
                </a:solidFill>
                <a:latin typeface="Times New Roman"/>
                <a:ea typeface="Times New Roman"/>
                <a:cs typeface="Times New Roman"/>
              </a:defRPr>
            </a:lvl2pPr>
            <a:lvl3pPr>
              <a:defRPr sz="5700">
                <a:solidFill>
                  <a:srgbClr val="BEDDFF"/>
                </a:solidFill>
                <a:latin typeface="Times New Roman"/>
                <a:ea typeface="Times New Roman"/>
                <a:cs typeface="Times New Roman"/>
              </a:defRPr>
            </a:lvl3pPr>
            <a:lvl4pPr>
              <a:defRPr sz="5700">
                <a:solidFill>
                  <a:srgbClr val="BEDDFF"/>
                </a:solidFill>
                <a:latin typeface="Times New Roman"/>
                <a:ea typeface="Times New Roman"/>
                <a:cs typeface="Times New Roman"/>
              </a:defRPr>
            </a:lvl4pPr>
            <a:lvl5pPr>
              <a:defRPr sz="5700">
                <a:solidFill>
                  <a:srgbClr val="BEDDFF"/>
                </a:solidFill>
                <a:latin typeface="Times New Roman"/>
                <a:ea typeface="Times New Roman"/>
                <a:cs typeface="Times New Roman"/>
              </a:defRPr>
            </a:lvl5pPr>
            <a:lvl6pPr>
              <a:defRPr sz="5700">
                <a:solidFill>
                  <a:srgbClr val="BEDDFF"/>
                </a:solidFill>
                <a:latin typeface="Times New Roman"/>
                <a:ea typeface="Times New Roman"/>
                <a:cs typeface="Times New Roman"/>
              </a:defRPr>
            </a:lvl6pPr>
            <a:lvl7pPr>
              <a:defRPr sz="5700">
                <a:solidFill>
                  <a:srgbClr val="BEDDFF"/>
                </a:solidFill>
                <a:latin typeface="Times New Roman"/>
                <a:ea typeface="Times New Roman"/>
                <a:cs typeface="Times New Roman"/>
              </a:defRPr>
            </a:lvl7pPr>
            <a:lvl8pPr>
              <a:defRPr sz="5700">
                <a:solidFill>
                  <a:srgbClr val="BEDDFF"/>
                </a:solidFill>
                <a:latin typeface="Times New Roman"/>
                <a:ea typeface="Times New Roman"/>
                <a:cs typeface="Times New Roman"/>
              </a:defRPr>
            </a:lvl8pPr>
            <a:lvl9pPr>
              <a:defRPr sz="5700">
                <a:solidFill>
                  <a:srgbClr val="BEDDFF"/>
                </a:solidFill>
                <a:latin typeface="Times New Roman"/>
                <a:ea typeface="Times New Roman"/>
                <a:cs typeface="Times New Roman"/>
              </a:defRPr>
            </a:lvl9pPr>
          </a:lstStyle>
          <a:p>
            <a:pPr>
              <a:defRPr sz="5700">
                <a:solidFill>
                  <a:srgbClr val="BEDDFF"/>
                </a:solidFill>
                <a:latin typeface="Times New Roman"/>
                <a:ea typeface="Times New Roman"/>
                <a:cs typeface="Times New Roman"/>
              </a:defRPr>
            </a:pPr>
            <a:r>
              <a:rPr sz="5700">
                <a:solidFill>
                  <a:srgbClr val="BEDDFF"/>
                </a:solidFill>
                <a:latin typeface="Times New Roman"/>
                <a:ea typeface="Times New Roman"/>
                <a:cs typeface="Times New Roman"/>
              </a:rPr>
              <a:t>$14–54+</a:t>
            </a:r>
          </a:p>
        </p:txBody>
      </p:sp>
      <p:sp>
        <p:nvSpPr>
          <p:cNvPr id="10" name="s4-9">
            <a:hlinkClick r:id="rId4"/>
            <a:extLst>
              <a:ext uri="{FF2B5EF4-FFF2-40B4-BE49-F238E27FC236}">
                <a16:creationId xmlns:a16="http://schemas.microsoft.com/office/drawing/2014/main" id="{4431F300-DA9A-4847-B8FD-39EE304C3732}"/>
              </a:ext>
            </a:extLst>
          </p:cNvPr>
          <p:cNvSpPr>
            <a:spLocks noGrp="1"/>
          </p:cNvSpPr>
          <p:nvPr/>
        </p:nvSpPr>
        <p:spPr>
          <a:xfrm>
            <a:off x="459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11" name="s4-10">
            <a:extLst>
              <a:ext uri="{FF2B5EF4-FFF2-40B4-BE49-F238E27FC236}">
                <a16:creationId xmlns:a16="http://schemas.microsoft.com/office/drawing/2014/main" id="{662838C4-F5B6-4939-BA7D-065A5D893D72}"/>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4-11">
            <a:extLst>
              <a:ext uri="{FF2B5EF4-FFF2-40B4-BE49-F238E27FC236}">
                <a16:creationId xmlns:a16="http://schemas.microsoft.com/office/drawing/2014/main" id="{37380429-5C3D-433B-94B9-6FF8A50A162C}"/>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4-12">
            <a:extLst>
              <a:ext uri="{FF2B5EF4-FFF2-40B4-BE49-F238E27FC236}">
                <a16:creationId xmlns:a16="http://schemas.microsoft.com/office/drawing/2014/main" id="{7D8D178F-3D57-4804-8323-3669B45AC8E8}"/>
              </a:ext>
            </a:extLst>
          </p:cNvPr>
          <p:cNvSpPr>
            <a:spLocks noGrp="1"/>
          </p:cNvSpPr>
          <p:nvPr/>
        </p:nvSpPr>
        <p:spPr>
          <a:xfrm>
            <a:off x="8039100" y="2114550"/>
            <a:ext cx="9525" cy="4000500"/>
          </a:xfrm>
          <a:prstGeom prst="rect">
            <a:avLst/>
          </a:prstGeom>
          <a:solidFill>
            <a:srgbClr val="38516B"/>
          </a:solidFill>
          <a:ln w="0">
            <a:noFill/>
          </a:ln>
        </p:spPr>
      </p:sp>
      <p:sp>
        <p:nvSpPr>
          <p:cNvPr id="14" name="s4-13">
            <a:extLst>
              <a:ext uri="{FF2B5EF4-FFF2-40B4-BE49-F238E27FC236}">
                <a16:creationId xmlns:a16="http://schemas.microsoft.com/office/drawing/2014/main" id="{D90344FE-54DF-4D73-BEE5-424D3A7B8287}"/>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4-14">
            <a:extLst>
              <a:ext uri="{FF2B5EF4-FFF2-40B4-BE49-F238E27FC236}">
                <a16:creationId xmlns:a16="http://schemas.microsoft.com/office/drawing/2014/main" id="{E9EBE68C-B890-490C-8AC7-0A1C243DB6F5}"/>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18.4%</a:t>
            </a:r>
          </a:p>
        </p:txBody>
      </p:sp>
      <p:sp>
        <p:nvSpPr>
          <p:cNvPr id="16" name="s4-15">
            <a:hlinkClick r:id="rId5"/>
            <a:extLst>
              <a:ext uri="{FF2B5EF4-FFF2-40B4-BE49-F238E27FC236}">
                <a16:creationId xmlns:a16="http://schemas.microsoft.com/office/drawing/2014/main" id="{B84292E6-B92A-45CA-830C-8AC79053776C}"/>
              </a:ext>
            </a:extLst>
          </p:cNvPr>
          <p:cNvSpPr>
            <a:spLocks noGrp="1"/>
          </p:cNvSpPr>
          <p:nvPr/>
        </p:nvSpPr>
        <p:spPr>
          <a:xfrm>
            <a:off x="8401050" y="3733800"/>
            <a:ext cx="31432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[Ardent Partners, 2025] baseline</a:t>
            </a:r>
          </a:p>
        </p:txBody>
      </p:sp>
      <p:sp>
        <p:nvSpPr>
          <p:cNvPr id="17" name="s4-16">
            <a:extLst>
              <a:ext uri="{FF2B5EF4-FFF2-40B4-BE49-F238E27FC236}">
                <a16:creationId xmlns:a16="http://schemas.microsoft.com/office/drawing/2014/main" id="{0E0667D5-E471-4C8F-9C24-43C1ABEB67F3}"/>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4-17">
            <a:extLst>
              <a:ext uri="{FF2B5EF4-FFF2-40B4-BE49-F238E27FC236}">
                <a16:creationId xmlns:a16="http://schemas.microsoft.com/office/drawing/2014/main" id="{B6BFA55B-C1FD-4C32-BD4D-0EAF0ACDDC6B}"/>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pic>
        <p:nvPicPr>
          <p:cNvPr id="19" name="Graphic 18">
            <a:extLst>
              <a:ext uri="{FF2B5EF4-FFF2-40B4-BE49-F238E27FC236}">
                <a16:creationId xmlns:a16="http://schemas.microsoft.com/office/drawing/2014/main" id="{5CA11CA3-4AE0-428A-8392-004FDC8E58FA}"/>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1034986608"/>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50"/>
                                        <p:tgtEl>
                                          <p:spTgt spid="2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0"/>
                                        </p:tgtEl>
                                        <p:attrNameLst>
                                          <p:attrName>style.visibility</p:attrName>
                                        </p:attrNameLst>
                                      </p:cBhvr>
                                      <p:to>
                                        <p:strVal val="visible"/>
                                      </p:to>
                                    </p:set>
                                    <p:animMotion origin="layout" pathEditMode="relative">
                                      <p:cBhvr from="" to="">
                                        <p:cTn id="10" dur="850" fill="hold">
                                          <p:stCondLst>
                                            <p:cond delay="0"/>
                                          </p:stCondLst>
                                        </p:cTn>
                                        <p:tgtEl>
                                          <p:spTgt spid="2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nodeType="withEffect">
                                  <p:stCondLst>
                                    <p:cond delay="65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850"/>
                                        <p:tgtEl>
                                          <p:spTgt spid="19"/>
                                        </p:tgtEl>
                                      </p:cBhvr>
                                    </p:animEffect>
                                  </p:childTnLst>
                                </p:cTn>
                              </p:par>
                              <p:par>
                                <p:cTn id="104" presetID="0" presetClass="entr" presetSubtype="0" decel="80000" fill="hold" nodeType="withEffect">
                                  <p:stCondLst>
                                    <p:cond delay="650"/>
                                  </p:stCondLst>
                                  <p:childTnLst>
                                    <p:set>
                                      <p:cBhvr>
                                        <p:cTn id="105" dur="1" fill="hold">
                                          <p:stCondLst>
                                            <p:cond delay="849"/>
                                          </p:stCondLst>
                                        </p:cTn>
                                        <p:tgtEl>
                                          <p:spTgt spid="19"/>
                                        </p:tgtEl>
                                        <p:attrNameLst>
                                          <p:attrName>style.visibility</p:attrName>
                                        </p:attrNameLst>
                                      </p:cBhvr>
                                      <p:to>
                                        <p:strVal val="visible"/>
                                      </p:to>
                                    </p:set>
                                    <p:animMotion origin="layout" pathEditMode="relative">
                                      <p:cBhvr from="" to="">
                                        <p:cTn id="106" dur="850" fill="hold">
                                          <p:stCondLst>
                                            <p:cond delay="0"/>
                                          </p:stCondLst>
                                        </p:cTn>
                                        <p:tgtEl>
                                          <p:spTgt spid="1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6" name="s5-12-previous">
            <a:extLst>
              <a:ext uri="{FF2B5EF4-FFF2-40B4-BE49-F238E27FC236}">
                <a16:creationId xmlns:a16="http://schemas.microsoft.com/office/drawing/2014/main" id="{EA3760D4-D755-D2AF-1C37-A181F27DC142}"/>
              </a:ext>
            </a:extLst>
          </p:cNvPr>
          <p:cNvSpPr>
            <a:spLocks noGrp="1"/>
          </p:cNvSpPr>
          <p:nvPr/>
        </p:nvSpPr>
        <p:spPr>
          <a:xfrm>
            <a:off x="8496300" y="2800350"/>
            <a:ext cx="333375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18.4%</a:t>
            </a:r>
            <a:endParaRPr>
              <a:solidFill>
                <a:srgbClr val="BEDDFF"/>
              </a:solidFill>
              <a:latin typeface="Times New Roman"/>
              <a:ea typeface="Times New Roman"/>
              <a:cs typeface="Times New Roman"/>
            </a:endParaRPr>
          </a:p>
        </p:txBody>
      </p:sp>
      <p:sp>
        <p:nvSpPr>
          <p:cNvPr id="27" name="s5-12-window">
            <a:extLst>
              <a:ext uri="{FF2B5EF4-FFF2-40B4-BE49-F238E27FC236}">
                <a16:creationId xmlns:a16="http://schemas.microsoft.com/office/drawing/2014/main" id="{3660C71D-204D-8238-2316-922DC7EFEF71}"/>
              </a:ext>
            </a:extLst>
          </p:cNvPr>
          <p:cNvSpPr/>
          <p:nvPr/>
        </p:nvSpPr>
        <p:spPr>
          <a:xfrm>
            <a:off x="8267700" y="2647950"/>
            <a:ext cx="3486150" cy="12954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5-7-previous">
            <a:extLst>
              <a:ext uri="{FF2B5EF4-FFF2-40B4-BE49-F238E27FC236}">
                <a16:creationId xmlns:a16="http://schemas.microsoft.com/office/drawing/2014/main" id="{C51FBD28-684A-20AA-652F-F9F0BA9EF393}"/>
              </a:ext>
            </a:extLst>
          </p:cNvPr>
          <p:cNvSpPr>
            <a:spLocks noGrp="1"/>
          </p:cNvSpPr>
          <p:nvPr/>
        </p:nvSpPr>
        <p:spPr>
          <a:xfrm>
            <a:off x="4686300" y="2886075"/>
            <a:ext cx="3381375" cy="952500"/>
          </a:xfrm>
          <a:prstGeom prst="rect">
            <a:avLst/>
          </a:prstGeom>
          <a:noFill/>
          <a:ln w="0">
            <a:noFill/>
          </a:ln>
        </p:spPr>
        <p:txBody>
          <a:bodyPr lIns="0" tIns="0" rIns="0" bIns="0">
            <a:noAutofit/>
          </a:bodyPr>
          <a:lstStyle>
            <a:defPPr>
              <a:defRPr sz="5700">
                <a:solidFill>
                  <a:srgbClr val="111F31"/>
                </a:solidFill>
                <a:latin typeface="Times New Roman"/>
                <a:ea typeface="Times New Roman"/>
                <a:cs typeface="Times New Roman"/>
              </a:defRPr>
            </a:defPPr>
            <a:lvl1pPr>
              <a:defRPr sz="5700">
                <a:solidFill>
                  <a:srgbClr val="111F31"/>
                </a:solidFill>
                <a:latin typeface="Times New Roman"/>
                <a:ea typeface="Times New Roman"/>
                <a:cs typeface="Times New Roman"/>
              </a:defRPr>
            </a:lvl1pPr>
            <a:lvl2pPr>
              <a:defRPr sz="5700">
                <a:solidFill>
                  <a:srgbClr val="111F31"/>
                </a:solidFill>
                <a:latin typeface="Times New Roman"/>
                <a:ea typeface="Times New Roman"/>
                <a:cs typeface="Times New Roman"/>
              </a:defRPr>
            </a:lvl2pPr>
            <a:lvl3pPr>
              <a:defRPr sz="5700">
                <a:solidFill>
                  <a:srgbClr val="111F31"/>
                </a:solidFill>
                <a:latin typeface="Times New Roman"/>
                <a:ea typeface="Times New Roman"/>
                <a:cs typeface="Times New Roman"/>
              </a:defRPr>
            </a:lvl3pPr>
            <a:lvl4pPr>
              <a:defRPr sz="5700">
                <a:solidFill>
                  <a:srgbClr val="111F31"/>
                </a:solidFill>
                <a:latin typeface="Times New Roman"/>
                <a:ea typeface="Times New Roman"/>
                <a:cs typeface="Times New Roman"/>
              </a:defRPr>
            </a:lvl4pPr>
            <a:lvl5pPr>
              <a:defRPr sz="5700">
                <a:solidFill>
                  <a:srgbClr val="111F31"/>
                </a:solidFill>
                <a:latin typeface="Times New Roman"/>
                <a:ea typeface="Times New Roman"/>
                <a:cs typeface="Times New Roman"/>
              </a:defRPr>
            </a:lvl5pPr>
            <a:lvl6pPr>
              <a:defRPr sz="5700">
                <a:solidFill>
                  <a:srgbClr val="111F31"/>
                </a:solidFill>
                <a:latin typeface="Times New Roman"/>
                <a:ea typeface="Times New Roman"/>
                <a:cs typeface="Times New Roman"/>
              </a:defRPr>
            </a:lvl6pPr>
            <a:lvl7pPr>
              <a:defRPr sz="5700">
                <a:solidFill>
                  <a:srgbClr val="111F31"/>
                </a:solidFill>
                <a:latin typeface="Times New Roman"/>
                <a:ea typeface="Times New Roman"/>
                <a:cs typeface="Times New Roman"/>
              </a:defRPr>
            </a:lvl7pPr>
            <a:lvl8pPr>
              <a:defRPr sz="5700">
                <a:solidFill>
                  <a:srgbClr val="111F31"/>
                </a:solidFill>
                <a:latin typeface="Times New Roman"/>
                <a:ea typeface="Times New Roman"/>
                <a:cs typeface="Times New Roman"/>
              </a:defRPr>
            </a:lvl8pPr>
            <a:lvl9pPr>
              <a:defRPr sz="5700">
                <a:solidFill>
                  <a:srgbClr val="111F31"/>
                </a:solidFill>
                <a:latin typeface="Times New Roman"/>
                <a:ea typeface="Times New Roman"/>
                <a:cs typeface="Times New Roman"/>
              </a:defRPr>
            </a:lvl9pPr>
          </a:lstStyle>
          <a:p>
            <a:pPr>
              <a:defRPr sz="5700">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$14–54+</a:t>
            </a:r>
            <a:endParaRPr>
              <a:solidFill>
                <a:srgbClr val="BEDDFF"/>
              </a:solidFill>
              <a:latin typeface="Times New Roman"/>
              <a:ea typeface="Times New Roman"/>
              <a:cs typeface="Times New Roman"/>
            </a:endParaRPr>
          </a:p>
        </p:txBody>
      </p:sp>
      <p:sp>
        <p:nvSpPr>
          <p:cNvPr id="25" name="s5-7-window">
            <a:extLst>
              <a:ext uri="{FF2B5EF4-FFF2-40B4-BE49-F238E27FC236}">
                <a16:creationId xmlns:a16="http://schemas.microsoft.com/office/drawing/2014/main" id="{8857AEEE-A178-2503-93E5-CC79A58EB984}"/>
              </a:ext>
            </a:extLst>
          </p:cNvPr>
          <p:cNvSpPr/>
          <p:nvPr/>
        </p:nvSpPr>
        <p:spPr>
          <a:xfrm>
            <a:off x="4457700" y="2733675"/>
            <a:ext cx="3533775" cy="12573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5-2-previous">
            <a:extLst>
              <a:ext uri="{FF2B5EF4-FFF2-40B4-BE49-F238E27FC236}">
                <a16:creationId xmlns:a16="http://schemas.microsoft.com/office/drawing/2014/main" id="{0FE3314A-5F82-EBFA-BC33-17543E44A4B7}"/>
              </a:ext>
            </a:extLst>
          </p:cNvPr>
          <p:cNvSpPr>
            <a:spLocks noGrp="1"/>
          </p:cNvSpPr>
          <p:nvPr/>
        </p:nvSpPr>
        <p:spPr>
          <a:xfrm>
            <a:off x="876300" y="2800350"/>
            <a:ext cx="323850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2 days</a:t>
            </a:r>
            <a:endParaRPr>
              <a:solidFill>
                <a:srgbClr val="BEDDFF"/>
              </a:solidFill>
              <a:latin typeface="Times New Roman"/>
              <a:ea typeface="Times New Roman"/>
              <a:cs typeface="Times New Roman"/>
            </a:endParaRPr>
          </a:p>
        </p:txBody>
      </p:sp>
      <p:sp>
        <p:nvSpPr>
          <p:cNvPr id="23" name="s5-2-window">
            <a:extLst>
              <a:ext uri="{FF2B5EF4-FFF2-40B4-BE49-F238E27FC236}">
                <a16:creationId xmlns:a16="http://schemas.microsoft.com/office/drawing/2014/main" id="{97DC9F62-B0CD-6C91-937D-3C39813A5DE6}"/>
              </a:ext>
            </a:extLst>
          </p:cNvPr>
          <p:cNvSpPr/>
          <p:nvPr/>
        </p:nvSpPr>
        <p:spPr>
          <a:xfrm>
            <a:off x="647700" y="2647950"/>
            <a:ext cx="3390900" cy="12954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5-0">
            <a:extLst>
              <a:ext uri="{FF2B5EF4-FFF2-40B4-BE49-F238E27FC236}">
                <a16:creationId xmlns:a16="http://schemas.microsoft.com/office/drawing/2014/main" id="{2AB758EE-3707-455F-B398-C1FBC26AFCBA}"/>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5-1">
            <a:extLst>
              <a:ext uri="{FF2B5EF4-FFF2-40B4-BE49-F238E27FC236}">
                <a16:creationId xmlns:a16="http://schemas.microsoft.com/office/drawing/2014/main" id="{15EC5B5C-F0D9-4DCB-9481-21D9031272BF}"/>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5-2-highlight">
            <a:extLst>
              <a:ext uri="{FF2B5EF4-FFF2-40B4-BE49-F238E27FC236}">
                <a16:creationId xmlns:a16="http://schemas.microsoft.com/office/drawing/2014/main" id="{4C86CDD2-7045-45D8-8D9D-442EE82C3D23}"/>
              </a:ext>
            </a:extLst>
          </p:cNvPr>
          <p:cNvSpPr>
            <a:spLocks noGrp="1"/>
          </p:cNvSpPr>
          <p:nvPr/>
        </p:nvSpPr>
        <p:spPr>
          <a:xfrm>
            <a:off x="647700" y="2647950"/>
            <a:ext cx="2495550" cy="969550"/>
          </a:xfrm>
          <a:prstGeom prst="rect">
            <a:avLst/>
          </a:prstGeom>
          <a:solidFill>
            <a:srgbClr val="BEDDFF"/>
          </a:solidFill>
          <a:ln w="0">
            <a:noFill/>
          </a:ln>
        </p:spPr>
      </p:sp>
      <p:sp>
        <p:nvSpPr>
          <p:cNvPr id="4" name="s5-2">
            <a:extLst>
              <a:ext uri="{FF2B5EF4-FFF2-40B4-BE49-F238E27FC236}">
                <a16:creationId xmlns:a16="http://schemas.microsoft.com/office/drawing/2014/main" id="{BF87E5C9-AE2C-4210-9B95-7F64ED1BBA08}"/>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sz="6525">
                <a:solidFill>
                  <a:srgbClr val="111F31"/>
                </a:solidFill>
                <a:latin typeface="Times New Roman"/>
                <a:ea typeface="Times New Roman"/>
                <a:cs typeface="Times New Roman"/>
              </a:rPr>
              <a:t>20 min</a:t>
            </a:r>
          </a:p>
        </p:txBody>
      </p:sp>
      <p:sp>
        <p:nvSpPr>
          <p:cNvPr id="5" name="s5-3">
            <a:extLst>
              <a:ext uri="{FF2B5EF4-FFF2-40B4-BE49-F238E27FC236}">
                <a16:creationId xmlns:a16="http://schemas.microsoft.com/office/drawing/2014/main" id="{A86E2CB9-416B-4556-ADE2-A06C2E921D0D}"/>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5-4">
            <a:extLst>
              <a:ext uri="{FF2B5EF4-FFF2-40B4-BE49-F238E27FC236}">
                <a16:creationId xmlns:a16="http://schemas.microsoft.com/office/drawing/2014/main" id="{11827956-E7D3-421E-9043-7BC1F2DF3241}"/>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5-5">
            <a:extLst>
              <a:ext uri="{FF2B5EF4-FFF2-40B4-BE49-F238E27FC236}">
                <a16:creationId xmlns:a16="http://schemas.microsoft.com/office/drawing/2014/main" id="{E756A5C6-C0BB-46AB-BD8F-7E5857A85F74}"/>
              </a:ext>
            </a:extLst>
          </p:cNvPr>
          <p:cNvSpPr>
            <a:spLocks noGrp="1"/>
          </p:cNvSpPr>
          <p:nvPr/>
        </p:nvSpPr>
        <p:spPr>
          <a:xfrm>
            <a:off x="4229100" y="2114550"/>
            <a:ext cx="9525" cy="4000500"/>
          </a:xfrm>
          <a:prstGeom prst="rect">
            <a:avLst/>
          </a:prstGeom>
          <a:solidFill>
            <a:srgbClr val="38516B"/>
          </a:solidFill>
          <a:ln w="0">
            <a:noFill/>
          </a:ln>
        </p:spPr>
      </p:sp>
      <p:sp>
        <p:nvSpPr>
          <p:cNvPr id="8" name="s5-6">
            <a:extLst>
              <a:ext uri="{FF2B5EF4-FFF2-40B4-BE49-F238E27FC236}">
                <a16:creationId xmlns:a16="http://schemas.microsoft.com/office/drawing/2014/main" id="{4756E8C0-5858-4195-8235-50E935CB5B2F}"/>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5-7-highlight">
            <a:extLst>
              <a:ext uri="{FF2B5EF4-FFF2-40B4-BE49-F238E27FC236}">
                <a16:creationId xmlns:a16="http://schemas.microsoft.com/office/drawing/2014/main" id="{56FF53A4-3728-4480-891C-5E1356EC6696}"/>
              </a:ext>
            </a:extLst>
          </p:cNvPr>
          <p:cNvSpPr>
            <a:spLocks noGrp="1"/>
          </p:cNvSpPr>
          <p:nvPr/>
        </p:nvSpPr>
        <p:spPr>
          <a:xfrm>
            <a:off x="4457700" y="2733675"/>
            <a:ext cx="1238250" cy="846963"/>
          </a:xfrm>
          <a:prstGeom prst="rect">
            <a:avLst/>
          </a:prstGeom>
          <a:solidFill>
            <a:srgbClr val="BEDDFF"/>
          </a:solidFill>
          <a:ln w="0">
            <a:noFill/>
          </a:ln>
        </p:spPr>
      </p:sp>
      <p:sp>
        <p:nvSpPr>
          <p:cNvPr id="10" name="s5-7">
            <a:extLst>
              <a:ext uri="{FF2B5EF4-FFF2-40B4-BE49-F238E27FC236}">
                <a16:creationId xmlns:a16="http://schemas.microsoft.com/office/drawing/2014/main" id="{223A409E-AE05-493F-8D6F-CEA310E1D8C4}"/>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111F31"/>
                </a:solidFill>
                <a:latin typeface="Times New Roman"/>
                <a:ea typeface="Times New Roman"/>
                <a:cs typeface="Times New Roman"/>
              </a:defRPr>
            </a:defPPr>
            <a:lvl1pPr>
              <a:defRPr sz="5700">
                <a:solidFill>
                  <a:srgbClr val="111F31"/>
                </a:solidFill>
                <a:latin typeface="Times New Roman"/>
                <a:ea typeface="Times New Roman"/>
                <a:cs typeface="Times New Roman"/>
              </a:defRPr>
            </a:lvl1pPr>
            <a:lvl2pPr>
              <a:defRPr sz="5700">
                <a:solidFill>
                  <a:srgbClr val="111F31"/>
                </a:solidFill>
                <a:latin typeface="Times New Roman"/>
                <a:ea typeface="Times New Roman"/>
                <a:cs typeface="Times New Roman"/>
              </a:defRPr>
            </a:lvl2pPr>
            <a:lvl3pPr>
              <a:defRPr sz="5700">
                <a:solidFill>
                  <a:srgbClr val="111F31"/>
                </a:solidFill>
                <a:latin typeface="Times New Roman"/>
                <a:ea typeface="Times New Roman"/>
                <a:cs typeface="Times New Roman"/>
              </a:defRPr>
            </a:lvl3pPr>
            <a:lvl4pPr>
              <a:defRPr sz="5700">
                <a:solidFill>
                  <a:srgbClr val="111F31"/>
                </a:solidFill>
                <a:latin typeface="Times New Roman"/>
                <a:ea typeface="Times New Roman"/>
                <a:cs typeface="Times New Roman"/>
              </a:defRPr>
            </a:lvl4pPr>
            <a:lvl5pPr>
              <a:defRPr sz="5700">
                <a:solidFill>
                  <a:srgbClr val="111F31"/>
                </a:solidFill>
                <a:latin typeface="Times New Roman"/>
                <a:ea typeface="Times New Roman"/>
                <a:cs typeface="Times New Roman"/>
              </a:defRPr>
            </a:lvl5pPr>
            <a:lvl6pPr>
              <a:defRPr sz="5700">
                <a:solidFill>
                  <a:srgbClr val="111F31"/>
                </a:solidFill>
                <a:latin typeface="Times New Roman"/>
                <a:ea typeface="Times New Roman"/>
                <a:cs typeface="Times New Roman"/>
              </a:defRPr>
            </a:lvl6pPr>
            <a:lvl7pPr>
              <a:defRPr sz="5700">
                <a:solidFill>
                  <a:srgbClr val="111F31"/>
                </a:solidFill>
                <a:latin typeface="Times New Roman"/>
                <a:ea typeface="Times New Roman"/>
                <a:cs typeface="Times New Roman"/>
              </a:defRPr>
            </a:lvl7pPr>
            <a:lvl8pPr>
              <a:defRPr sz="5700">
                <a:solidFill>
                  <a:srgbClr val="111F31"/>
                </a:solidFill>
                <a:latin typeface="Times New Roman"/>
                <a:ea typeface="Times New Roman"/>
                <a:cs typeface="Times New Roman"/>
              </a:defRPr>
            </a:lvl8pPr>
            <a:lvl9pPr>
              <a:defRPr sz="5700">
                <a:solidFill>
                  <a:srgbClr val="111F31"/>
                </a:solidFill>
                <a:latin typeface="Times New Roman"/>
                <a:ea typeface="Times New Roman"/>
                <a:cs typeface="Times New Roman"/>
              </a:defRPr>
            </a:lvl9pPr>
          </a:lstStyle>
          <a:p>
            <a:pPr>
              <a:defRPr sz="5700">
                <a:solidFill>
                  <a:srgbClr val="111F31"/>
                </a:solidFill>
                <a:latin typeface="Times New Roman"/>
                <a:ea typeface="Times New Roman"/>
                <a:cs typeface="Times New Roman"/>
              </a:defRPr>
            </a:pPr>
            <a:r>
              <a:rPr sz="5700">
                <a:solidFill>
                  <a:srgbClr val="111F31"/>
                </a:solidFill>
                <a:latin typeface="Times New Roman"/>
                <a:ea typeface="Times New Roman"/>
                <a:cs typeface="Times New Roman"/>
              </a:rPr>
              <a:t>$10</a:t>
            </a:r>
          </a:p>
        </p:txBody>
      </p:sp>
      <p:sp>
        <p:nvSpPr>
          <p:cNvPr id="11" name="s5-8">
            <a:extLst>
              <a:ext uri="{FF2B5EF4-FFF2-40B4-BE49-F238E27FC236}">
                <a16:creationId xmlns:a16="http://schemas.microsoft.com/office/drawing/2014/main" id="{12615044-1106-4D98-8A98-DEB4F29FDC62}"/>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5-9">
            <a:extLst>
              <a:ext uri="{FF2B5EF4-FFF2-40B4-BE49-F238E27FC236}">
                <a16:creationId xmlns:a16="http://schemas.microsoft.com/office/drawing/2014/main" id="{C0659270-B70B-4F42-B45D-B07BAB9A8E3D}"/>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5-10">
            <a:extLst>
              <a:ext uri="{FF2B5EF4-FFF2-40B4-BE49-F238E27FC236}">
                <a16:creationId xmlns:a16="http://schemas.microsoft.com/office/drawing/2014/main" id="{7A43ACC9-4DD8-489B-A316-21F2FFFE58FE}"/>
              </a:ext>
            </a:extLst>
          </p:cNvPr>
          <p:cNvSpPr>
            <a:spLocks noGrp="1"/>
          </p:cNvSpPr>
          <p:nvPr/>
        </p:nvSpPr>
        <p:spPr>
          <a:xfrm>
            <a:off x="8039100" y="2114550"/>
            <a:ext cx="9525" cy="4000500"/>
          </a:xfrm>
          <a:prstGeom prst="rect">
            <a:avLst/>
          </a:prstGeom>
          <a:solidFill>
            <a:srgbClr val="38516B"/>
          </a:solidFill>
          <a:ln w="0">
            <a:noFill/>
          </a:ln>
        </p:spPr>
      </p:sp>
      <p:sp>
        <p:nvSpPr>
          <p:cNvPr id="14" name="s5-11">
            <a:extLst>
              <a:ext uri="{FF2B5EF4-FFF2-40B4-BE49-F238E27FC236}">
                <a16:creationId xmlns:a16="http://schemas.microsoft.com/office/drawing/2014/main" id="{055117B0-5E17-4C61-B648-4CDE43F61FB1}"/>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5-12-highlight">
            <a:extLst>
              <a:ext uri="{FF2B5EF4-FFF2-40B4-BE49-F238E27FC236}">
                <a16:creationId xmlns:a16="http://schemas.microsoft.com/office/drawing/2014/main" id="{3E6837DA-296B-428D-BB26-D82F0F2FF95D}"/>
              </a:ext>
            </a:extLst>
          </p:cNvPr>
          <p:cNvSpPr>
            <a:spLocks noGrp="1"/>
          </p:cNvSpPr>
          <p:nvPr/>
        </p:nvSpPr>
        <p:spPr>
          <a:xfrm>
            <a:off x="8267700" y="2647950"/>
            <a:ext cx="2133600" cy="969550"/>
          </a:xfrm>
          <a:prstGeom prst="rect">
            <a:avLst/>
          </a:prstGeom>
          <a:solidFill>
            <a:srgbClr val="BEDDFF"/>
          </a:solidFill>
          <a:ln w="0">
            <a:noFill/>
          </a:ln>
        </p:spPr>
      </p:sp>
      <p:sp>
        <p:nvSpPr>
          <p:cNvPr id="16" name="s5-12">
            <a:extLst>
              <a:ext uri="{FF2B5EF4-FFF2-40B4-BE49-F238E27FC236}">
                <a16:creationId xmlns:a16="http://schemas.microsoft.com/office/drawing/2014/main" id="{24B5B367-7890-488C-A513-526DD7789EC6}"/>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sz="6525">
                <a:solidFill>
                  <a:srgbClr val="111F31"/>
                </a:solidFill>
                <a:latin typeface="Times New Roman"/>
                <a:ea typeface="Times New Roman"/>
                <a:cs typeface="Times New Roman"/>
              </a:rPr>
              <a:t>≤10%</a:t>
            </a:r>
          </a:p>
        </p:txBody>
      </p:sp>
      <p:sp>
        <p:nvSpPr>
          <p:cNvPr id="17" name="s5-13">
            <a:extLst>
              <a:ext uri="{FF2B5EF4-FFF2-40B4-BE49-F238E27FC236}">
                <a16:creationId xmlns:a16="http://schemas.microsoft.com/office/drawing/2014/main" id="{DBA25011-98E6-4005-8070-251718991CCA}"/>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5-14">
            <a:extLst>
              <a:ext uri="{FF2B5EF4-FFF2-40B4-BE49-F238E27FC236}">
                <a16:creationId xmlns:a16="http://schemas.microsoft.com/office/drawing/2014/main" id="{6D3016C7-CC70-4697-BDA3-E0296BA8ACEF}"/>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sp>
        <p:nvSpPr>
          <p:cNvPr id="19" name="s5-15">
            <a:extLst>
              <a:ext uri="{FF2B5EF4-FFF2-40B4-BE49-F238E27FC236}">
                <a16:creationId xmlns:a16="http://schemas.microsoft.com/office/drawing/2014/main" id="{956C4D7C-94BC-427B-A31D-65734D5A77F7}"/>
              </a:ext>
            </a:extLst>
          </p:cNvPr>
          <p:cNvSpPr>
            <a:spLocks noGrp="1"/>
          </p:cNvSpPr>
          <p:nvPr/>
        </p:nvSpPr>
        <p:spPr>
          <a:xfrm>
            <a:off x="781050" y="6448425"/>
            <a:ext cx="10668000" cy="257175"/>
          </a:xfrm>
          <a:prstGeom prst="rect">
            <a:avLst/>
          </a:prstGeom>
          <a:noFill/>
          <a:ln w="0">
            <a:noFill/>
          </a:ln>
        </p:spPr>
        <p:txBody>
          <a:bodyPr lIns="0" tIns="0" rIns="0" bIns="0">
            <a:noAutofit/>
          </a:bodyPr>
          <a:lstStyle>
            <a:defPPr>
              <a:defRPr sz="1350">
                <a:solidFill>
                  <a:srgbClr val="BEDDFF"/>
                </a:solidFill>
                <a:latin typeface="Bahnschrift"/>
                <a:ea typeface="Bahnschrift"/>
                <a:cs typeface="Bahnschrift"/>
              </a:defRPr>
            </a:defPPr>
            <a:lvl1pPr>
              <a:defRPr sz="1350">
                <a:solidFill>
                  <a:srgbClr val="BEDDFF"/>
                </a:solidFill>
                <a:latin typeface="Bahnschrift"/>
                <a:ea typeface="Bahnschrift"/>
                <a:cs typeface="Bahnschrift"/>
              </a:defRPr>
            </a:lvl1pPr>
            <a:lvl2pPr>
              <a:defRPr sz="1350">
                <a:solidFill>
                  <a:srgbClr val="BEDDFF"/>
                </a:solidFill>
                <a:latin typeface="Bahnschrift"/>
                <a:ea typeface="Bahnschrift"/>
                <a:cs typeface="Bahnschrift"/>
              </a:defRPr>
            </a:lvl2pPr>
            <a:lvl3pPr>
              <a:defRPr sz="1350">
                <a:solidFill>
                  <a:srgbClr val="BEDDFF"/>
                </a:solidFill>
                <a:latin typeface="Bahnschrift"/>
                <a:ea typeface="Bahnschrift"/>
                <a:cs typeface="Bahnschrift"/>
              </a:defRPr>
            </a:lvl3pPr>
            <a:lvl4pPr>
              <a:defRPr sz="1350">
                <a:solidFill>
                  <a:srgbClr val="BEDDFF"/>
                </a:solidFill>
                <a:latin typeface="Bahnschrift"/>
                <a:ea typeface="Bahnschrift"/>
                <a:cs typeface="Bahnschrift"/>
              </a:defRPr>
            </a:lvl4pPr>
            <a:lvl5pPr>
              <a:defRPr sz="1350">
                <a:solidFill>
                  <a:srgbClr val="BEDDFF"/>
                </a:solidFill>
                <a:latin typeface="Bahnschrift"/>
                <a:ea typeface="Bahnschrift"/>
                <a:cs typeface="Bahnschrift"/>
              </a:defRPr>
            </a:lvl5pPr>
            <a:lvl6pPr>
              <a:defRPr sz="1350">
                <a:solidFill>
                  <a:srgbClr val="BEDDFF"/>
                </a:solidFill>
                <a:latin typeface="Bahnschrift"/>
                <a:ea typeface="Bahnschrift"/>
                <a:cs typeface="Bahnschrift"/>
              </a:defRPr>
            </a:lvl6pPr>
            <a:lvl7pPr>
              <a:defRPr sz="1350">
                <a:solidFill>
                  <a:srgbClr val="BEDDFF"/>
                </a:solidFill>
                <a:latin typeface="Bahnschrift"/>
                <a:ea typeface="Bahnschrift"/>
                <a:cs typeface="Bahnschrift"/>
              </a:defRPr>
            </a:lvl7pPr>
            <a:lvl8pPr>
              <a:defRPr sz="1350">
                <a:solidFill>
                  <a:srgbClr val="BEDDFF"/>
                </a:solidFill>
                <a:latin typeface="Bahnschrift"/>
                <a:ea typeface="Bahnschrift"/>
                <a:cs typeface="Bahnschrift"/>
              </a:defRPr>
            </a:lvl8pPr>
            <a:lvl9pPr>
              <a:defRPr sz="1350">
                <a:solidFill>
                  <a:srgbClr val="BEDDFF"/>
                </a:solidFill>
                <a:latin typeface="Bahnschrift"/>
                <a:ea typeface="Bahnschrift"/>
                <a:cs typeface="Bahnschrift"/>
              </a:defRPr>
            </a:lvl9pPr>
          </a:lstStyle>
          <a:p>
            <a:pPr>
              <a:defRPr sz="1350">
                <a:solidFill>
                  <a:srgbClr val="BEDDFF"/>
                </a:solidFill>
                <a:latin typeface="Bahnschrift"/>
                <a:ea typeface="Bahnschrift"/>
                <a:cs typeface="Bahnschrift"/>
              </a:defRPr>
            </a:pPr>
            <a:r>
              <a:rPr sz="1350">
                <a:solidFill>
                  <a:srgbClr val="BEDDFF"/>
                </a:solidFill>
                <a:latin typeface="Bahnschrift"/>
                <a:ea typeface="Bahnschrift"/>
                <a:cs typeface="Bahnschrift"/>
              </a:rPr>
              <a:t>Projected figures based on preliminary estimates</a:t>
            </a:r>
          </a:p>
        </p:txBody>
      </p:sp>
      <p:pic>
        <p:nvPicPr>
          <p:cNvPr id="20" name="Graphic 19">
            <a:extLst>
              <a:ext uri="{FF2B5EF4-FFF2-40B4-BE49-F238E27FC236}">
                <a16:creationId xmlns:a16="http://schemas.microsoft.com/office/drawing/2014/main" id="{136A2866-DDEB-4B3E-8432-6235B20E51E1}"/>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1222405085"/>
      </p:ext>
    </p:extLst>
  </p:cSld>
  <p:clrMapOvr>
    <a:masterClrMapping/>
  </p:clrMapOvr>
  <mc:AlternateContent xmlns:mc="http://schemas.openxmlformats.org/markup-compatibility/2006">
    <mc:Choice xmlns:p14="http://schemas.microsoft.com/office/powerpoint/2010/main" Requires="p14">
      <p:transition spd="slow" p14:dur="8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1" fill="hold" grpId="0" nodeType="withEffect">
                                  <p:stCondLst>
                                    <p:cond delay="0"/>
                                  </p:stCondLst>
                                  <p:childTnLst>
                                    <p:anim calcmode="lin" valueType="num">
                                      <p:cBhvr additive="base">
                                        <p:cTn id="6" dur="500"/>
                                        <p:tgtEl>
                                          <p:spTgt spid="22"/>
                                        </p:tgtEl>
                                        <p:attrNameLst>
                                          <p:attrName>ppt_y</p:attrName>
                                        </p:attrNameLst>
                                      </p:cBhvr>
                                      <p:tavLst>
                                        <p:tav tm="0">
                                          <p:val>
                                            <p:strVal val="#ppt_y"/>
                                          </p:val>
                                        </p:tav>
                                        <p:tav tm="100000">
                                          <p:val>
                                            <p:strVal val="#ppt_y-#ppt_h*1.125000"/>
                                          </p:val>
                                        </p:tav>
                                      </p:tavLst>
                                    </p:anim>
                                    <p:animEffect transition="out" filter="wipe(up)">
                                      <p:cBhvr>
                                        <p:cTn id="7" dur="500"/>
                                        <p:tgtEl>
                                          <p:spTgt spid="22"/>
                                        </p:tgtEl>
                                      </p:cBhvr>
                                    </p:animEffect>
                                    <p:set>
                                      <p:cBhvr>
                                        <p:cTn id="8" dur="1" fill="hold">
                                          <p:stCondLst>
                                            <p:cond delay="499"/>
                                          </p:stCondLst>
                                        </p:cTn>
                                        <p:tgtEl>
                                          <p:spTgt spid="22"/>
                                        </p:tgtEl>
                                        <p:attrNameLst>
                                          <p:attrName>style.visibility</p:attrName>
                                        </p:attrNameLst>
                                      </p:cBhvr>
                                      <p:to>
                                        <p:strVal val="hidden"/>
                                      </p:to>
                                    </p:set>
                                  </p:childTnLst>
                                </p:cTn>
                              </p:par>
                              <p:par>
                                <p:cTn id="9" presetID="1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p:tgtEl>
                                          <p:spTgt spid="23"/>
                                        </p:tgtEl>
                                        <p:attrNameLst>
                                          <p:attrName>ppt_y</p:attrName>
                                        </p:attrNameLst>
                                      </p:cBhvr>
                                      <p:tavLst>
                                        <p:tav tm="0">
                                          <p:val>
                                            <p:strVal val="#ppt_y+#ppt_h*1.125000"/>
                                          </p:val>
                                        </p:tav>
                                        <p:tav tm="100000">
                                          <p:val>
                                            <p:strVal val="#ppt_y"/>
                                          </p:val>
                                        </p:tav>
                                      </p:tavLst>
                                    </p:anim>
                                    <p:animEffect transition="in" filter="wipe(up)">
                                      <p:cBhvr>
                                        <p:cTn id="12" dur="500"/>
                                        <p:tgtEl>
                                          <p:spTgt spid="23"/>
                                        </p:tgtEl>
                                      </p:cBhvr>
                                    </p:animEffect>
                                  </p:childTnLst>
                                </p:cTn>
                              </p:par>
                              <p:par>
                                <p:cTn id="13" presetID="1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ppt_y</p:attrName>
                                        </p:attrNameLst>
                                      </p:cBhvr>
                                      <p:tavLst>
                                        <p:tav tm="0">
                                          <p:val>
                                            <p:strVal val="#ppt_y+#ppt_h*1.125000"/>
                                          </p:val>
                                        </p:tav>
                                        <p:tav tm="100000">
                                          <p:val>
                                            <p:strVal val="#ppt_y"/>
                                          </p:val>
                                        </p:tav>
                                      </p:tavLst>
                                    </p:anim>
                                    <p:animEffect transition="in" filter="wipe(up)">
                                      <p:cBhvr>
                                        <p:cTn id="16" dur="500"/>
                                        <p:tgtEl>
                                          <p:spTgt spid="3"/>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p:tgtEl>
                                          <p:spTgt spid="4"/>
                                        </p:tgtEl>
                                        <p:attrNameLst>
                                          <p:attrName>ppt_y</p:attrName>
                                        </p:attrNameLst>
                                      </p:cBhvr>
                                      <p:tavLst>
                                        <p:tav tm="0">
                                          <p:val>
                                            <p:strVal val="#ppt_y+#ppt_h*1.125000"/>
                                          </p:val>
                                        </p:tav>
                                        <p:tav tm="100000">
                                          <p:val>
                                            <p:strVal val="#ppt_y"/>
                                          </p:val>
                                        </p:tav>
                                      </p:tavLst>
                                    </p:anim>
                                    <p:animEffect transition="in" filter="wipe(up)">
                                      <p:cBhvr>
                                        <p:cTn id="20" dur="500"/>
                                        <p:tgtEl>
                                          <p:spTgt spid="4"/>
                                        </p:tgtEl>
                                      </p:cBhvr>
                                    </p:animEffect>
                                  </p:childTnLst>
                                </p:cTn>
                              </p:par>
                              <p:par>
                                <p:cTn id="21" presetID="12" presetClass="exit" presetSubtype="1" fill="hold" grpId="0" nodeType="withEffect">
                                  <p:stCondLst>
                                    <p:cond delay="0"/>
                                  </p:stCondLst>
                                  <p:childTnLst>
                                    <p:anim calcmode="lin" valueType="num">
                                      <p:cBhvr additive="base">
                                        <p:cTn id="22" dur="500"/>
                                        <p:tgtEl>
                                          <p:spTgt spid="24"/>
                                        </p:tgtEl>
                                        <p:attrNameLst>
                                          <p:attrName>ppt_y</p:attrName>
                                        </p:attrNameLst>
                                      </p:cBhvr>
                                      <p:tavLst>
                                        <p:tav tm="0">
                                          <p:val>
                                            <p:strVal val="#ppt_y"/>
                                          </p:val>
                                        </p:tav>
                                        <p:tav tm="100000">
                                          <p:val>
                                            <p:strVal val="#ppt_y-#ppt_h*1.125000"/>
                                          </p:val>
                                        </p:tav>
                                      </p:tavLst>
                                    </p:anim>
                                    <p:animEffect transition="out" filter="wipe(up)">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par>
                                <p:cTn id="25" presetID="12" presetClass="entr" presetSubtype="4"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p:tgtEl>
                                          <p:spTgt spid="25"/>
                                        </p:tgtEl>
                                        <p:attrNameLst>
                                          <p:attrName>ppt_y</p:attrName>
                                        </p:attrNameLst>
                                      </p:cBhvr>
                                      <p:tavLst>
                                        <p:tav tm="0">
                                          <p:val>
                                            <p:strVal val="#ppt_y+#ppt_h*1.125000"/>
                                          </p:val>
                                        </p:tav>
                                        <p:tav tm="100000">
                                          <p:val>
                                            <p:strVal val="#ppt_y"/>
                                          </p:val>
                                        </p:tav>
                                      </p:tavLst>
                                    </p:anim>
                                    <p:animEffect transition="in" filter="wipe(up)">
                                      <p:cBhvr>
                                        <p:cTn id="28" dur="500"/>
                                        <p:tgtEl>
                                          <p:spTgt spid="25"/>
                                        </p:tgtEl>
                                      </p:cBhvr>
                                    </p:animEffect>
                                  </p:childTnLst>
                                </p:cTn>
                              </p:par>
                              <p:par>
                                <p:cTn id="29" presetID="1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p:tgtEl>
                                          <p:spTgt spid="9"/>
                                        </p:tgtEl>
                                        <p:attrNameLst>
                                          <p:attrName>ppt_y</p:attrName>
                                        </p:attrNameLst>
                                      </p:cBhvr>
                                      <p:tavLst>
                                        <p:tav tm="0">
                                          <p:val>
                                            <p:strVal val="#ppt_y+#ppt_h*1.125000"/>
                                          </p:val>
                                        </p:tav>
                                        <p:tav tm="100000">
                                          <p:val>
                                            <p:strVal val="#ppt_y"/>
                                          </p:val>
                                        </p:tav>
                                      </p:tavLst>
                                    </p:anim>
                                    <p:animEffect transition="in" filter="wipe(up)">
                                      <p:cBhvr>
                                        <p:cTn id="32" dur="500"/>
                                        <p:tgtEl>
                                          <p:spTgt spid="9"/>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p:tgtEl>
                                          <p:spTgt spid="10"/>
                                        </p:tgtEl>
                                        <p:attrNameLst>
                                          <p:attrName>ppt_y</p:attrName>
                                        </p:attrNameLst>
                                      </p:cBhvr>
                                      <p:tavLst>
                                        <p:tav tm="0">
                                          <p:val>
                                            <p:strVal val="#ppt_y+#ppt_h*1.125000"/>
                                          </p:val>
                                        </p:tav>
                                        <p:tav tm="100000">
                                          <p:val>
                                            <p:strVal val="#ppt_y"/>
                                          </p:val>
                                        </p:tav>
                                      </p:tavLst>
                                    </p:anim>
                                    <p:animEffect transition="in" filter="wipe(up)">
                                      <p:cBhvr>
                                        <p:cTn id="36" dur="500"/>
                                        <p:tgtEl>
                                          <p:spTgt spid="10"/>
                                        </p:tgtEl>
                                      </p:cBhvr>
                                    </p:animEffect>
                                  </p:childTnLst>
                                </p:cTn>
                              </p:par>
                              <p:par>
                                <p:cTn id="37" presetID="12" presetClass="exit" presetSubtype="1" fill="hold" grpId="0" nodeType="withEffect">
                                  <p:stCondLst>
                                    <p:cond delay="0"/>
                                  </p:stCondLst>
                                  <p:childTnLst>
                                    <p:anim calcmode="lin" valueType="num">
                                      <p:cBhvr additive="base">
                                        <p:cTn id="38" dur="500"/>
                                        <p:tgtEl>
                                          <p:spTgt spid="26"/>
                                        </p:tgtEl>
                                        <p:attrNameLst>
                                          <p:attrName>ppt_y</p:attrName>
                                        </p:attrNameLst>
                                      </p:cBhvr>
                                      <p:tavLst>
                                        <p:tav tm="0">
                                          <p:val>
                                            <p:strVal val="#ppt_y"/>
                                          </p:val>
                                        </p:tav>
                                        <p:tav tm="100000">
                                          <p:val>
                                            <p:strVal val="#ppt_y-#ppt_h*1.125000"/>
                                          </p:val>
                                        </p:tav>
                                      </p:tavLst>
                                    </p:anim>
                                    <p:animEffect transition="out" filter="wipe(up)">
                                      <p:cBhvr>
                                        <p:cTn id="39" dur="500"/>
                                        <p:tgtEl>
                                          <p:spTgt spid="26"/>
                                        </p:tgtEl>
                                      </p:cBhvr>
                                    </p:animEffect>
                                    <p:set>
                                      <p:cBhvr>
                                        <p:cTn id="40" dur="1" fill="hold">
                                          <p:stCondLst>
                                            <p:cond delay="499"/>
                                          </p:stCondLst>
                                        </p:cTn>
                                        <p:tgtEl>
                                          <p:spTgt spid="26"/>
                                        </p:tgtEl>
                                        <p:attrNameLst>
                                          <p:attrName>style.visibility</p:attrName>
                                        </p:attrNameLst>
                                      </p:cBhvr>
                                      <p:to>
                                        <p:strVal val="hidden"/>
                                      </p:to>
                                    </p:set>
                                  </p:childTnLst>
                                </p:cTn>
                              </p:par>
                              <p:par>
                                <p:cTn id="41" presetID="12" presetClass="entr" presetSubtype="4"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additive="base">
                                        <p:cTn id="43" dur="500"/>
                                        <p:tgtEl>
                                          <p:spTgt spid="27"/>
                                        </p:tgtEl>
                                        <p:attrNameLst>
                                          <p:attrName>ppt_y</p:attrName>
                                        </p:attrNameLst>
                                      </p:cBhvr>
                                      <p:tavLst>
                                        <p:tav tm="0">
                                          <p:val>
                                            <p:strVal val="#ppt_y+#ppt_h*1.125000"/>
                                          </p:val>
                                        </p:tav>
                                        <p:tav tm="100000">
                                          <p:val>
                                            <p:strVal val="#ppt_y"/>
                                          </p:val>
                                        </p:tav>
                                      </p:tavLst>
                                    </p:anim>
                                    <p:animEffect transition="in" filter="wipe(up)">
                                      <p:cBhvr>
                                        <p:cTn id="44" dur="500"/>
                                        <p:tgtEl>
                                          <p:spTgt spid="27"/>
                                        </p:tgtEl>
                                      </p:cBhvr>
                                    </p:animEffect>
                                  </p:childTnLst>
                                </p:cTn>
                              </p:par>
                              <p:par>
                                <p:cTn id="45" presetID="12" presetClass="entr" presetSubtype="4"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p:tgtEl>
                                          <p:spTgt spid="15"/>
                                        </p:tgtEl>
                                        <p:attrNameLst>
                                          <p:attrName>ppt_y</p:attrName>
                                        </p:attrNameLst>
                                      </p:cBhvr>
                                      <p:tavLst>
                                        <p:tav tm="0">
                                          <p:val>
                                            <p:strVal val="#ppt_y+#ppt_h*1.125000"/>
                                          </p:val>
                                        </p:tav>
                                        <p:tav tm="100000">
                                          <p:val>
                                            <p:strVal val="#ppt_y"/>
                                          </p:val>
                                        </p:tav>
                                      </p:tavLst>
                                    </p:anim>
                                    <p:animEffect transition="in" filter="wipe(up)">
                                      <p:cBhvr>
                                        <p:cTn id="48" dur="500"/>
                                        <p:tgtEl>
                                          <p:spTgt spid="15"/>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p:tgtEl>
                                          <p:spTgt spid="16"/>
                                        </p:tgtEl>
                                        <p:attrNameLst>
                                          <p:attrName>ppt_y</p:attrName>
                                        </p:attrNameLst>
                                      </p:cBhvr>
                                      <p:tavLst>
                                        <p:tav tm="0">
                                          <p:val>
                                            <p:strVal val="#ppt_y+#ppt_h*1.125000"/>
                                          </p:val>
                                        </p:tav>
                                        <p:tav tm="100000">
                                          <p:val>
                                            <p:strVal val="#ppt_y"/>
                                          </p:val>
                                        </p:tav>
                                      </p:tavLst>
                                    </p:anim>
                                    <p:animEffect transition="in" filter="wipe(up)">
                                      <p:cBhvr>
                                        <p:cTn id="52" dur="500"/>
                                        <p:tgtEl>
                                          <p:spTgt spid="16"/>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p:tgtEl>
                                          <p:spTgt spid="19"/>
                                        </p:tgtEl>
                                        <p:attrNameLst>
                                          <p:attrName>ppt_y</p:attrName>
                                        </p:attrNameLst>
                                      </p:cBhvr>
                                      <p:tavLst>
                                        <p:tav tm="0">
                                          <p:val>
                                            <p:strVal val="#ppt_y+#ppt_h*1.125000"/>
                                          </p:val>
                                        </p:tav>
                                        <p:tav tm="100000">
                                          <p:val>
                                            <p:strVal val="#ppt_y"/>
                                          </p:val>
                                        </p:tav>
                                      </p:tavLst>
                                    </p:anim>
                                    <p:animEffect transition="in" filter="wipe(up)">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4" grpId="0"/>
      <p:bldP spid="25" grpId="0" animBg="1"/>
      <p:bldP spid="22" grpId="0"/>
      <p:bldP spid="23" grpId="0" animBg="1"/>
      <p:bldP spid="4" grpId="0"/>
      <p:bldP spid="10" grpId="0"/>
      <p:bldP spid="16"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EDDFF"/>
        </a:solidFill>
        <a:effectLst/>
      </p:bgPr>
    </p:bg>
    <p:spTree>
      <p:nvGrpSpPr>
        <p:cNvPr id="1" name=""/>
        <p:cNvGrpSpPr/>
        <p:nvPr/>
      </p:nvGrpSpPr>
      <p:grpSpPr>
        <a:xfrm>
          <a:off x="0" y="0"/>
          <a:ext cx="0" cy="0"/>
          <a:chOff x="0" y="0"/>
          <a:chExt cx="0" cy="0"/>
        </a:xfrm>
      </p:grpSpPr>
      <p:sp>
        <p:nvSpPr>
          <p:cNvPr id="17" name="s6-0">
            <a:extLst>
              <a:ext uri="{FF2B5EF4-FFF2-40B4-BE49-F238E27FC236}">
                <a16:creationId xmlns:a16="http://schemas.microsoft.com/office/drawing/2014/main" id="{A6E1F502-C38B-4198-9E6A-939C0CA48E6B}"/>
              </a:ext>
            </a:extLst>
          </p:cNvPr>
          <p:cNvSpPr>
            <a:spLocks noGrp="1"/>
          </p:cNvSpPr>
          <p:nvPr/>
        </p:nvSpPr>
        <p:spPr>
          <a:xfrm>
            <a:off x="723900" y="609600"/>
            <a:ext cx="10810875" cy="857250"/>
          </a:xfrm>
          <a:prstGeom prst="rect">
            <a:avLst/>
          </a:prstGeom>
          <a:noFill/>
          <a:ln w="0">
            <a:noFill/>
          </a:ln>
        </p:spPr>
        <p:txBody>
          <a:bodyPr lIns="0" tIns="0" rIns="0" bIns="0">
            <a:noAutofit/>
          </a:bodyPr>
          <a:lstStyle>
            <a:defPPr>
              <a:defRPr sz="4500">
                <a:solidFill>
                  <a:srgbClr val="111F31"/>
                </a:solidFill>
                <a:latin typeface="Times New Roman"/>
                <a:ea typeface="Times New Roman"/>
                <a:cs typeface="Times New Roman"/>
              </a:defRPr>
            </a:defPPr>
            <a:lvl1pPr>
              <a:defRPr sz="4500">
                <a:solidFill>
                  <a:srgbClr val="111F31"/>
                </a:solidFill>
                <a:latin typeface="Times New Roman"/>
                <a:ea typeface="Times New Roman"/>
                <a:cs typeface="Times New Roman"/>
              </a:defRPr>
            </a:lvl1pPr>
            <a:lvl2pPr>
              <a:defRPr sz="4500">
                <a:solidFill>
                  <a:srgbClr val="111F31"/>
                </a:solidFill>
                <a:latin typeface="Times New Roman"/>
                <a:ea typeface="Times New Roman"/>
                <a:cs typeface="Times New Roman"/>
              </a:defRPr>
            </a:lvl2pPr>
            <a:lvl3pPr>
              <a:defRPr sz="4500">
                <a:solidFill>
                  <a:srgbClr val="111F31"/>
                </a:solidFill>
                <a:latin typeface="Times New Roman"/>
                <a:ea typeface="Times New Roman"/>
                <a:cs typeface="Times New Roman"/>
              </a:defRPr>
            </a:lvl3pPr>
            <a:lvl4pPr>
              <a:defRPr sz="4500">
                <a:solidFill>
                  <a:srgbClr val="111F31"/>
                </a:solidFill>
                <a:latin typeface="Times New Roman"/>
                <a:ea typeface="Times New Roman"/>
                <a:cs typeface="Times New Roman"/>
              </a:defRPr>
            </a:lvl4pPr>
            <a:lvl5pPr>
              <a:defRPr sz="4500">
                <a:solidFill>
                  <a:srgbClr val="111F31"/>
                </a:solidFill>
                <a:latin typeface="Times New Roman"/>
                <a:ea typeface="Times New Roman"/>
                <a:cs typeface="Times New Roman"/>
              </a:defRPr>
            </a:lvl5pPr>
            <a:lvl6pPr>
              <a:defRPr sz="4500">
                <a:solidFill>
                  <a:srgbClr val="111F31"/>
                </a:solidFill>
                <a:latin typeface="Times New Roman"/>
                <a:ea typeface="Times New Roman"/>
                <a:cs typeface="Times New Roman"/>
              </a:defRPr>
            </a:lvl6pPr>
            <a:lvl7pPr>
              <a:defRPr sz="4500">
                <a:solidFill>
                  <a:srgbClr val="111F31"/>
                </a:solidFill>
                <a:latin typeface="Times New Roman"/>
                <a:ea typeface="Times New Roman"/>
                <a:cs typeface="Times New Roman"/>
              </a:defRPr>
            </a:lvl7pPr>
            <a:lvl8pPr>
              <a:defRPr sz="4500">
                <a:solidFill>
                  <a:srgbClr val="111F31"/>
                </a:solidFill>
                <a:latin typeface="Times New Roman"/>
                <a:ea typeface="Times New Roman"/>
                <a:cs typeface="Times New Roman"/>
              </a:defRPr>
            </a:lvl8pPr>
            <a:lvl9pPr>
              <a:defRPr sz="4500">
                <a:solidFill>
                  <a:srgbClr val="111F31"/>
                </a:solidFill>
                <a:latin typeface="Times New Roman"/>
                <a:ea typeface="Times New Roman"/>
                <a:cs typeface="Times New Roman"/>
              </a:defRPr>
            </a:lvl9pPr>
          </a:lstStyle>
          <a:p>
            <a:pPr>
              <a:defRPr sz="4500">
                <a:solidFill>
                  <a:srgbClr val="111F31"/>
                </a:solidFill>
                <a:latin typeface="Times New Roman"/>
                <a:ea typeface="Times New Roman"/>
                <a:cs typeface="Times New Roman"/>
              </a:defRPr>
            </a:pPr>
            <a:r>
              <a:rPr sz="4500">
                <a:solidFill>
                  <a:srgbClr val="111F31"/>
                </a:solidFill>
                <a:latin typeface="Times New Roman"/>
                <a:ea typeface="Times New Roman"/>
                <a:cs typeface="Times New Roman"/>
              </a:rPr>
              <a:t>An agent that shows its work</a:t>
            </a:r>
          </a:p>
        </p:txBody>
      </p:sp>
      <p:sp>
        <p:nvSpPr>
          <p:cNvPr id="2" name="s6-1">
            <a:extLst>
              <a:ext uri="{FF2B5EF4-FFF2-40B4-BE49-F238E27FC236}">
                <a16:creationId xmlns:a16="http://schemas.microsoft.com/office/drawing/2014/main" id="{FEE92348-59FB-4579-A127-37E17BE3E990}"/>
              </a:ext>
            </a:extLst>
          </p:cNvPr>
          <p:cNvSpPr>
            <a:spLocks noGrp="1"/>
          </p:cNvSpPr>
          <p:nvPr/>
        </p:nvSpPr>
        <p:spPr>
          <a:xfrm>
            <a:off x="781050" y="1524000"/>
            <a:ext cx="10668000" cy="609600"/>
          </a:xfrm>
          <a:prstGeom prst="rect">
            <a:avLst/>
          </a:prstGeom>
          <a:noFill/>
          <a:ln w="0">
            <a:noFill/>
          </a:ln>
        </p:spPr>
        <p:txBody>
          <a:bodyPr lIns="0" tIns="0" rIns="0" bIns="0">
            <a:noAutofit/>
          </a:bodyPr>
          <a:lstStyle>
            <a:defPPr>
              <a:defRPr sz="1800">
                <a:solidFill>
                  <a:srgbClr val="111F31"/>
                </a:solidFill>
                <a:latin typeface="Bahnschrift"/>
                <a:ea typeface="Bahnschrift"/>
                <a:cs typeface="Bahnschrift"/>
              </a:defRPr>
            </a:defPPr>
            <a:lvl1pPr>
              <a:defRPr sz="1800">
                <a:solidFill>
                  <a:srgbClr val="111F31"/>
                </a:solidFill>
                <a:latin typeface="Bahnschrift"/>
                <a:ea typeface="Bahnschrift"/>
                <a:cs typeface="Bahnschrift"/>
              </a:defRPr>
            </a:lvl1pPr>
            <a:lvl2pPr>
              <a:defRPr sz="1800">
                <a:solidFill>
                  <a:srgbClr val="111F31"/>
                </a:solidFill>
                <a:latin typeface="Bahnschrift"/>
                <a:ea typeface="Bahnschrift"/>
                <a:cs typeface="Bahnschrift"/>
              </a:defRPr>
            </a:lvl2pPr>
            <a:lvl3pPr>
              <a:defRPr sz="1800">
                <a:solidFill>
                  <a:srgbClr val="111F31"/>
                </a:solidFill>
                <a:latin typeface="Bahnschrift"/>
                <a:ea typeface="Bahnschrift"/>
                <a:cs typeface="Bahnschrift"/>
              </a:defRPr>
            </a:lvl3pPr>
            <a:lvl4pPr>
              <a:defRPr sz="1800">
                <a:solidFill>
                  <a:srgbClr val="111F31"/>
                </a:solidFill>
                <a:latin typeface="Bahnschrift"/>
                <a:ea typeface="Bahnschrift"/>
                <a:cs typeface="Bahnschrift"/>
              </a:defRPr>
            </a:lvl4pPr>
            <a:lvl5pPr>
              <a:defRPr sz="1800">
                <a:solidFill>
                  <a:srgbClr val="111F31"/>
                </a:solidFill>
                <a:latin typeface="Bahnschrift"/>
                <a:ea typeface="Bahnschrift"/>
                <a:cs typeface="Bahnschrift"/>
              </a:defRPr>
            </a:lvl5pPr>
            <a:lvl6pPr>
              <a:defRPr sz="1800">
                <a:solidFill>
                  <a:srgbClr val="111F31"/>
                </a:solidFill>
                <a:latin typeface="Bahnschrift"/>
                <a:ea typeface="Bahnschrift"/>
                <a:cs typeface="Bahnschrift"/>
              </a:defRPr>
            </a:lvl6pPr>
            <a:lvl7pPr>
              <a:defRPr sz="1800">
                <a:solidFill>
                  <a:srgbClr val="111F31"/>
                </a:solidFill>
                <a:latin typeface="Bahnschrift"/>
                <a:ea typeface="Bahnschrift"/>
                <a:cs typeface="Bahnschrift"/>
              </a:defRPr>
            </a:lvl7pPr>
            <a:lvl8pPr>
              <a:defRPr sz="1800">
                <a:solidFill>
                  <a:srgbClr val="111F31"/>
                </a:solidFill>
                <a:latin typeface="Bahnschrift"/>
                <a:ea typeface="Bahnschrift"/>
                <a:cs typeface="Bahnschrift"/>
              </a:defRPr>
            </a:lvl8pPr>
            <a:lvl9pPr>
              <a:defRPr sz="1800">
                <a:solidFill>
                  <a:srgbClr val="111F31"/>
                </a:solidFill>
                <a:latin typeface="Bahnschrift"/>
                <a:ea typeface="Bahnschrift"/>
                <a:cs typeface="Bahnschrift"/>
              </a:defRPr>
            </a:lvl9pPr>
          </a:lstStyle>
          <a:p>
            <a:pPr>
              <a:defRPr sz="1800">
                <a:solidFill>
                  <a:srgbClr val="111F31"/>
                </a:solidFill>
                <a:latin typeface="Bahnschrift"/>
                <a:ea typeface="Bahnschrift"/>
                <a:cs typeface="Bahnschrift"/>
              </a:defRPr>
            </a:pPr>
            <a:r>
              <a:rPr sz="1800">
                <a:solidFill>
                  <a:srgbClr val="111F31"/>
                </a:solidFill>
                <a:latin typeface="Bahnschrift"/>
                <a:ea typeface="Bahnschrift"/>
                <a:cs typeface="Bahnschrift"/>
              </a:rPr>
              <a:t>OpenAI used formal verification for a Millennium Prize problem.</a:t>
            </a:r>
          </a:p>
          <a:p>
            <a:pPr>
              <a:defRPr sz="1800">
                <a:solidFill>
                  <a:srgbClr val="111F31"/>
                </a:solidFill>
                <a:latin typeface="Bahnschrift"/>
                <a:ea typeface="Bahnschrift"/>
                <a:cs typeface="Bahnschrift"/>
              </a:defRPr>
            </a:pPr>
            <a:r>
              <a:rPr sz="1800">
                <a:solidFill>
                  <a:srgbClr val="111F31"/>
                </a:solidFill>
                <a:latin typeface="Bahnschrift"/>
                <a:ea typeface="Bahnschrift"/>
                <a:cs typeface="Bahnschrift"/>
              </a:rPr>
              <a:t>We’re tackling the harder problem: getting a PO approved.</a:t>
            </a:r>
          </a:p>
        </p:txBody>
      </p:sp>
      <p:sp>
        <p:nvSpPr>
          <p:cNvPr id="3" name="s6-2">
            <a:extLst>
              <a:ext uri="{FF2B5EF4-FFF2-40B4-BE49-F238E27FC236}">
                <a16:creationId xmlns:a16="http://schemas.microsoft.com/office/drawing/2014/main" id="{DF0CDCE9-D350-4B1B-BF2B-12E5D4186726}"/>
              </a:ext>
            </a:extLst>
          </p:cNvPr>
          <p:cNvSpPr>
            <a:spLocks noGrp="1"/>
          </p:cNvSpPr>
          <p:nvPr/>
        </p:nvSpPr>
        <p:spPr>
          <a:xfrm>
            <a:off x="781050" y="2343150"/>
            <a:ext cx="10001250" cy="304800"/>
          </a:xfrm>
          <a:prstGeom prst="rect">
            <a:avLst/>
          </a:prstGeom>
          <a:noFill/>
          <a:ln w="0">
            <a:noFill/>
          </a:ln>
        </p:spPr>
        <p:txBody>
          <a:bodyPr lIns="0" tIns="0" rIns="0" bIns="0">
            <a:noAutofit/>
          </a:bodyPr>
          <a:lstStyle>
            <a:defPPr>
              <a:defRPr sz="1425">
                <a:solidFill>
                  <a:srgbClr val="111F31"/>
                </a:solidFill>
                <a:latin typeface="Bahnschrift"/>
                <a:ea typeface="Bahnschrift"/>
                <a:cs typeface="Bahnschrift"/>
              </a:defRPr>
            </a:defPPr>
            <a:lvl1pPr>
              <a:defRPr sz="1425">
                <a:solidFill>
                  <a:srgbClr val="111F31"/>
                </a:solidFill>
                <a:latin typeface="Bahnschrift"/>
                <a:ea typeface="Bahnschrift"/>
                <a:cs typeface="Bahnschrift"/>
              </a:defRPr>
            </a:lvl1pPr>
            <a:lvl2pPr>
              <a:defRPr sz="1425">
                <a:solidFill>
                  <a:srgbClr val="111F31"/>
                </a:solidFill>
                <a:latin typeface="Bahnschrift"/>
                <a:ea typeface="Bahnschrift"/>
                <a:cs typeface="Bahnschrift"/>
              </a:defRPr>
            </a:lvl2pPr>
            <a:lvl3pPr>
              <a:defRPr sz="1425">
                <a:solidFill>
                  <a:srgbClr val="111F31"/>
                </a:solidFill>
                <a:latin typeface="Bahnschrift"/>
                <a:ea typeface="Bahnschrift"/>
                <a:cs typeface="Bahnschrift"/>
              </a:defRPr>
            </a:lvl3pPr>
            <a:lvl4pPr>
              <a:defRPr sz="1425">
                <a:solidFill>
                  <a:srgbClr val="111F31"/>
                </a:solidFill>
                <a:latin typeface="Bahnschrift"/>
                <a:ea typeface="Bahnschrift"/>
                <a:cs typeface="Bahnschrift"/>
              </a:defRPr>
            </a:lvl4pPr>
            <a:lvl5pPr>
              <a:defRPr sz="1425">
                <a:solidFill>
                  <a:srgbClr val="111F31"/>
                </a:solidFill>
                <a:latin typeface="Bahnschrift"/>
                <a:ea typeface="Bahnschrift"/>
                <a:cs typeface="Bahnschrift"/>
              </a:defRPr>
            </a:lvl5pPr>
            <a:lvl6pPr>
              <a:defRPr sz="1425">
                <a:solidFill>
                  <a:srgbClr val="111F31"/>
                </a:solidFill>
                <a:latin typeface="Bahnschrift"/>
                <a:ea typeface="Bahnschrift"/>
                <a:cs typeface="Bahnschrift"/>
              </a:defRPr>
            </a:lvl6pPr>
            <a:lvl7pPr>
              <a:defRPr sz="1425">
                <a:solidFill>
                  <a:srgbClr val="111F31"/>
                </a:solidFill>
                <a:latin typeface="Bahnschrift"/>
                <a:ea typeface="Bahnschrift"/>
                <a:cs typeface="Bahnschrift"/>
              </a:defRPr>
            </a:lvl7pPr>
            <a:lvl8pPr>
              <a:defRPr sz="1425">
                <a:solidFill>
                  <a:srgbClr val="111F31"/>
                </a:solidFill>
                <a:latin typeface="Bahnschrift"/>
                <a:ea typeface="Bahnschrift"/>
                <a:cs typeface="Bahnschrift"/>
              </a:defRPr>
            </a:lvl8pPr>
            <a:lvl9pPr>
              <a:defRPr sz="1425">
                <a:solidFill>
                  <a:srgbClr val="111F31"/>
                </a:solidFill>
                <a:latin typeface="Bahnschrift"/>
                <a:ea typeface="Bahnschrift"/>
                <a:cs typeface="Bahnschrift"/>
              </a:defRPr>
            </a:lvl9pPr>
          </a:lstStyle>
          <a:p>
            <a:pPr>
              <a:defRPr sz="1425">
                <a:solidFill>
                  <a:srgbClr val="111F31"/>
                </a:solidFill>
                <a:latin typeface="Bahnschrift"/>
                <a:ea typeface="Bahnschrift"/>
                <a:cs typeface="Bahnschrift"/>
              </a:defRPr>
            </a:pPr>
            <a:r>
              <a:rPr sz="1425">
                <a:solidFill>
                  <a:srgbClr val="111F31"/>
                </a:solidFill>
                <a:latin typeface="Bahnschrift"/>
                <a:ea typeface="Bahnschrift"/>
                <a:cs typeface="Bahnschrift"/>
              </a:rPr>
              <a:t>01 / FORMALIZE THE REQUEST</a:t>
            </a:r>
          </a:p>
        </p:txBody>
      </p:sp>
      <p:sp>
        <p:nvSpPr>
          <p:cNvPr id="4" name="s6-3">
            <a:extLst>
              <a:ext uri="{FF2B5EF4-FFF2-40B4-BE49-F238E27FC236}">
                <a16:creationId xmlns:a16="http://schemas.microsoft.com/office/drawing/2014/main" id="{62300A58-FB39-4C69-BED6-5EDF091791EE}"/>
              </a:ext>
            </a:extLst>
          </p:cNvPr>
          <p:cNvSpPr>
            <a:spLocks noGrp="1"/>
          </p:cNvSpPr>
          <p:nvPr/>
        </p:nvSpPr>
        <p:spPr>
          <a:xfrm>
            <a:off x="742950" y="2800350"/>
            <a:ext cx="7191375" cy="838200"/>
          </a:xfrm>
          <a:prstGeom prst="rect">
            <a:avLst/>
          </a:prstGeom>
          <a:noFill/>
          <a:ln w="0">
            <a:noFill/>
          </a:ln>
        </p:spPr>
        <p:txBody>
          <a:bodyPr lIns="0" tIns="0" rIns="0" bIns="0">
            <a:noAutofit/>
          </a:bodyPr>
          <a:lstStyle>
            <a:defPPr>
              <a:defRPr sz="4425">
                <a:solidFill>
                  <a:srgbClr val="111F31"/>
                </a:solidFill>
                <a:latin typeface="Times New Roman"/>
                <a:ea typeface="Times New Roman"/>
                <a:cs typeface="Times New Roman"/>
              </a:defRPr>
            </a:defPPr>
            <a:lvl1pPr>
              <a:defRPr sz="4425">
                <a:solidFill>
                  <a:srgbClr val="111F31"/>
                </a:solidFill>
                <a:latin typeface="Times New Roman"/>
                <a:ea typeface="Times New Roman"/>
                <a:cs typeface="Times New Roman"/>
              </a:defRPr>
            </a:lvl1pPr>
            <a:lvl2pPr>
              <a:defRPr sz="4425">
                <a:solidFill>
                  <a:srgbClr val="111F31"/>
                </a:solidFill>
                <a:latin typeface="Times New Roman"/>
                <a:ea typeface="Times New Roman"/>
                <a:cs typeface="Times New Roman"/>
              </a:defRPr>
            </a:lvl2pPr>
            <a:lvl3pPr>
              <a:defRPr sz="4425">
                <a:solidFill>
                  <a:srgbClr val="111F31"/>
                </a:solidFill>
                <a:latin typeface="Times New Roman"/>
                <a:ea typeface="Times New Roman"/>
                <a:cs typeface="Times New Roman"/>
              </a:defRPr>
            </a:lvl3pPr>
            <a:lvl4pPr>
              <a:defRPr sz="4425">
                <a:solidFill>
                  <a:srgbClr val="111F31"/>
                </a:solidFill>
                <a:latin typeface="Times New Roman"/>
                <a:ea typeface="Times New Roman"/>
                <a:cs typeface="Times New Roman"/>
              </a:defRPr>
            </a:lvl4pPr>
            <a:lvl5pPr>
              <a:defRPr sz="4425">
                <a:solidFill>
                  <a:srgbClr val="111F31"/>
                </a:solidFill>
                <a:latin typeface="Times New Roman"/>
                <a:ea typeface="Times New Roman"/>
                <a:cs typeface="Times New Roman"/>
              </a:defRPr>
            </a:lvl5pPr>
            <a:lvl6pPr>
              <a:defRPr sz="4425">
                <a:solidFill>
                  <a:srgbClr val="111F31"/>
                </a:solidFill>
                <a:latin typeface="Times New Roman"/>
                <a:ea typeface="Times New Roman"/>
                <a:cs typeface="Times New Roman"/>
              </a:defRPr>
            </a:lvl6pPr>
            <a:lvl7pPr>
              <a:defRPr sz="4425">
                <a:solidFill>
                  <a:srgbClr val="111F31"/>
                </a:solidFill>
                <a:latin typeface="Times New Roman"/>
                <a:ea typeface="Times New Roman"/>
                <a:cs typeface="Times New Roman"/>
              </a:defRPr>
            </a:lvl7pPr>
            <a:lvl8pPr>
              <a:defRPr sz="4425">
                <a:solidFill>
                  <a:srgbClr val="111F31"/>
                </a:solidFill>
                <a:latin typeface="Times New Roman"/>
                <a:ea typeface="Times New Roman"/>
                <a:cs typeface="Times New Roman"/>
              </a:defRPr>
            </a:lvl8pPr>
            <a:lvl9pPr>
              <a:defRPr sz="4425">
                <a:solidFill>
                  <a:srgbClr val="111F31"/>
                </a:solidFill>
                <a:latin typeface="Times New Roman"/>
                <a:ea typeface="Times New Roman"/>
                <a:cs typeface="Times New Roman"/>
              </a:defRPr>
            </a:lvl9pPr>
          </a:lstStyle>
          <a:p>
            <a:pPr>
              <a:defRPr sz="4425">
                <a:solidFill>
                  <a:srgbClr val="111F31"/>
                </a:solidFill>
                <a:latin typeface="Times New Roman"/>
                <a:ea typeface="Times New Roman"/>
                <a:cs typeface="Times New Roman"/>
              </a:defRPr>
            </a:pPr>
            <a:r>
              <a:rPr sz="4425">
                <a:solidFill>
                  <a:srgbClr val="111F31"/>
                </a:solidFill>
                <a:latin typeface="Times New Roman"/>
                <a:ea typeface="Times New Roman"/>
                <a:cs typeface="Times New Roman"/>
              </a:rPr>
              <a:t>H(x) = A ∧ B ∧ R ∧ V</a:t>
            </a:r>
          </a:p>
        </p:txBody>
      </p:sp>
      <p:sp>
        <p:nvSpPr>
          <p:cNvPr id="5" name="s6-4">
            <a:extLst>
              <a:ext uri="{FF2B5EF4-FFF2-40B4-BE49-F238E27FC236}">
                <a16:creationId xmlns:a16="http://schemas.microsoft.com/office/drawing/2014/main" id="{08F96299-2BC8-40C6-BBF8-D46E25E21B40}"/>
              </a:ext>
            </a:extLst>
          </p:cNvPr>
          <p:cNvSpPr>
            <a:spLocks noGrp="1"/>
          </p:cNvSpPr>
          <p:nvPr/>
        </p:nvSpPr>
        <p:spPr>
          <a:xfrm>
            <a:off x="800100" y="3714750"/>
            <a:ext cx="7000875" cy="400050"/>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A  requester authorized       B  within budget</a:t>
            </a:r>
          </a:p>
        </p:txBody>
      </p:sp>
      <p:sp>
        <p:nvSpPr>
          <p:cNvPr id="6" name="s6-5">
            <a:extLst>
              <a:ext uri="{FF2B5EF4-FFF2-40B4-BE49-F238E27FC236}">
                <a16:creationId xmlns:a16="http://schemas.microsoft.com/office/drawing/2014/main" id="{E173DE11-BBC7-4798-9C24-E9BEB952E916}"/>
              </a:ext>
            </a:extLst>
          </p:cNvPr>
          <p:cNvSpPr>
            <a:spLocks noGrp="1"/>
          </p:cNvSpPr>
          <p:nvPr/>
        </p:nvSpPr>
        <p:spPr>
          <a:xfrm>
            <a:off x="800100" y="4095750"/>
            <a:ext cx="7000875" cy="400050"/>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R  required specs met          V  allowed vendor</a:t>
            </a:r>
          </a:p>
        </p:txBody>
      </p:sp>
      <p:sp>
        <p:nvSpPr>
          <p:cNvPr id="7" name="s6-6">
            <a:extLst>
              <a:ext uri="{FF2B5EF4-FFF2-40B4-BE49-F238E27FC236}">
                <a16:creationId xmlns:a16="http://schemas.microsoft.com/office/drawing/2014/main" id="{EE0C7BCF-B367-4428-90C5-A9EF0D3980F9}"/>
              </a:ext>
            </a:extLst>
          </p:cNvPr>
          <p:cNvSpPr>
            <a:spLocks noGrp="1"/>
          </p:cNvSpPr>
          <p:nvPr/>
        </p:nvSpPr>
        <p:spPr>
          <a:xfrm>
            <a:off x="8286750" y="2857500"/>
            <a:ext cx="3333750" cy="762000"/>
          </a:xfrm>
          <a:prstGeom prst="rect">
            <a:avLst/>
          </a:prstGeom>
          <a:noFill/>
          <a:ln w="0">
            <a:noFill/>
          </a:ln>
        </p:spPr>
        <p:txBody>
          <a:bodyPr lIns="0" tIns="0" rIns="0" bIns="0">
            <a:noAutofit/>
          </a:bodyPr>
          <a:lstStyle>
            <a:defPPr>
              <a:defRPr sz="3225">
                <a:solidFill>
                  <a:srgbClr val="111F31"/>
                </a:solidFill>
                <a:latin typeface="Times New Roman"/>
                <a:ea typeface="Times New Roman"/>
                <a:cs typeface="Times New Roman"/>
              </a:defRPr>
            </a:defPPr>
            <a:lvl1pPr>
              <a:defRPr sz="3225">
                <a:solidFill>
                  <a:srgbClr val="111F31"/>
                </a:solidFill>
                <a:latin typeface="Times New Roman"/>
                <a:ea typeface="Times New Roman"/>
                <a:cs typeface="Times New Roman"/>
              </a:defRPr>
            </a:lvl1pPr>
            <a:lvl2pPr>
              <a:defRPr sz="3225">
                <a:solidFill>
                  <a:srgbClr val="111F31"/>
                </a:solidFill>
                <a:latin typeface="Times New Roman"/>
                <a:ea typeface="Times New Roman"/>
                <a:cs typeface="Times New Roman"/>
              </a:defRPr>
            </a:lvl2pPr>
            <a:lvl3pPr>
              <a:defRPr sz="3225">
                <a:solidFill>
                  <a:srgbClr val="111F31"/>
                </a:solidFill>
                <a:latin typeface="Times New Roman"/>
                <a:ea typeface="Times New Roman"/>
                <a:cs typeface="Times New Roman"/>
              </a:defRPr>
            </a:lvl3pPr>
            <a:lvl4pPr>
              <a:defRPr sz="3225">
                <a:solidFill>
                  <a:srgbClr val="111F31"/>
                </a:solidFill>
                <a:latin typeface="Times New Roman"/>
                <a:ea typeface="Times New Roman"/>
                <a:cs typeface="Times New Roman"/>
              </a:defRPr>
            </a:lvl4pPr>
            <a:lvl5pPr>
              <a:defRPr sz="3225">
                <a:solidFill>
                  <a:srgbClr val="111F31"/>
                </a:solidFill>
                <a:latin typeface="Times New Roman"/>
                <a:ea typeface="Times New Roman"/>
                <a:cs typeface="Times New Roman"/>
              </a:defRPr>
            </a:lvl5pPr>
            <a:lvl6pPr>
              <a:defRPr sz="3225">
                <a:solidFill>
                  <a:srgbClr val="111F31"/>
                </a:solidFill>
                <a:latin typeface="Times New Roman"/>
                <a:ea typeface="Times New Roman"/>
                <a:cs typeface="Times New Roman"/>
              </a:defRPr>
            </a:lvl6pPr>
            <a:lvl7pPr>
              <a:defRPr sz="3225">
                <a:solidFill>
                  <a:srgbClr val="111F31"/>
                </a:solidFill>
                <a:latin typeface="Times New Roman"/>
                <a:ea typeface="Times New Roman"/>
                <a:cs typeface="Times New Roman"/>
              </a:defRPr>
            </a:lvl7pPr>
            <a:lvl8pPr>
              <a:defRPr sz="3225">
                <a:solidFill>
                  <a:srgbClr val="111F31"/>
                </a:solidFill>
                <a:latin typeface="Times New Roman"/>
                <a:ea typeface="Times New Roman"/>
                <a:cs typeface="Times New Roman"/>
              </a:defRPr>
            </a:lvl8pPr>
            <a:lvl9pPr>
              <a:defRPr sz="3225">
                <a:solidFill>
                  <a:srgbClr val="111F31"/>
                </a:solidFill>
                <a:latin typeface="Times New Roman"/>
                <a:ea typeface="Times New Roman"/>
                <a:cs typeface="Times New Roman"/>
              </a:defRPr>
            </a:lvl9pPr>
          </a:lstStyle>
          <a:p>
            <a:pPr>
              <a:defRPr sz="3225">
                <a:solidFill>
                  <a:srgbClr val="111F31"/>
                </a:solidFill>
                <a:latin typeface="Times New Roman"/>
                <a:ea typeface="Times New Roman"/>
                <a:cs typeface="Times New Roman"/>
              </a:defRPr>
            </a:pPr>
            <a:r>
              <a:rPr sz="3225">
                <a:solidFill>
                  <a:srgbClr val="111F31"/>
                </a:solidFill>
                <a:latin typeface="Times New Roman"/>
                <a:ea typeface="Times New Roman"/>
                <a:cs typeface="Times New Roman"/>
              </a:rPr>
              <a:t>S = {x : H(x)}</a:t>
            </a:r>
          </a:p>
        </p:txBody>
      </p:sp>
      <p:sp>
        <p:nvSpPr>
          <p:cNvPr id="8" name="s6-7">
            <a:extLst>
              <a:ext uri="{FF2B5EF4-FFF2-40B4-BE49-F238E27FC236}">
                <a16:creationId xmlns:a16="http://schemas.microsoft.com/office/drawing/2014/main" id="{C4628EE6-DEB7-4C7C-BF10-93F7118D25CF}"/>
              </a:ext>
            </a:extLst>
          </p:cNvPr>
          <p:cNvSpPr>
            <a:spLocks noGrp="1"/>
          </p:cNvSpPr>
          <p:nvPr/>
        </p:nvSpPr>
        <p:spPr>
          <a:xfrm>
            <a:off x="8305800" y="3714750"/>
            <a:ext cx="3286125" cy="809625"/>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The eligible candidate set.</a:t>
            </a:r>
          </a:p>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Every hard rule must hold.</a:t>
            </a:r>
          </a:p>
        </p:txBody>
      </p:sp>
      <p:sp>
        <p:nvSpPr>
          <p:cNvPr id="9" name="s6-8">
            <a:extLst>
              <a:ext uri="{FF2B5EF4-FFF2-40B4-BE49-F238E27FC236}">
                <a16:creationId xmlns:a16="http://schemas.microsoft.com/office/drawing/2014/main" id="{91BAA9A4-F4D9-458A-8F85-EBD09DD5022E}"/>
              </a:ext>
            </a:extLst>
          </p:cNvPr>
          <p:cNvSpPr>
            <a:spLocks noGrp="1"/>
          </p:cNvSpPr>
          <p:nvPr/>
        </p:nvSpPr>
        <p:spPr>
          <a:xfrm>
            <a:off x="762000" y="4695825"/>
            <a:ext cx="10668000" cy="19050"/>
          </a:xfrm>
          <a:prstGeom prst="rect">
            <a:avLst/>
          </a:prstGeom>
          <a:solidFill>
            <a:srgbClr val="111F31"/>
          </a:solidFill>
          <a:ln w="0">
            <a:noFill/>
          </a:ln>
        </p:spPr>
      </p:sp>
      <p:sp>
        <p:nvSpPr>
          <p:cNvPr id="10" name="s6-9">
            <a:extLst>
              <a:ext uri="{FF2B5EF4-FFF2-40B4-BE49-F238E27FC236}">
                <a16:creationId xmlns:a16="http://schemas.microsoft.com/office/drawing/2014/main" id="{0A13C1F9-26F7-429D-A6DA-AC13FA7A905A}"/>
              </a:ext>
            </a:extLst>
          </p:cNvPr>
          <p:cNvSpPr>
            <a:spLocks noGrp="1"/>
          </p:cNvSpPr>
          <p:nvPr/>
        </p:nvSpPr>
        <p:spPr>
          <a:xfrm>
            <a:off x="781050" y="5048250"/>
            <a:ext cx="504825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02 / VERIFY WITH SMT</a:t>
            </a:r>
          </a:p>
        </p:txBody>
      </p:sp>
      <p:sp>
        <p:nvSpPr>
          <p:cNvPr id="11" name="s6-10">
            <a:extLst>
              <a:ext uri="{FF2B5EF4-FFF2-40B4-BE49-F238E27FC236}">
                <a16:creationId xmlns:a16="http://schemas.microsoft.com/office/drawing/2014/main" id="{96DF6EF5-B60B-4C81-A845-C232F5729E07}"/>
              </a:ext>
            </a:extLst>
          </p:cNvPr>
          <p:cNvSpPr>
            <a:spLocks noGrp="1"/>
          </p:cNvSpPr>
          <p:nvPr/>
        </p:nvSpPr>
        <p:spPr>
          <a:xfrm>
            <a:off x="762000" y="5495925"/>
            <a:ext cx="5143500" cy="600075"/>
          </a:xfrm>
          <a:prstGeom prst="rect">
            <a:avLst/>
          </a:prstGeom>
          <a:noFill/>
          <a:ln w="0">
            <a:noFill/>
          </a:ln>
        </p:spPr>
        <p:txBody>
          <a:bodyPr lIns="0" tIns="0" rIns="0" bIns="0">
            <a:noAutofit/>
          </a:bodyPr>
          <a:lstStyle>
            <a:defPPr>
              <a:defRPr sz="3600">
                <a:solidFill>
                  <a:srgbClr val="111F31"/>
                </a:solidFill>
                <a:latin typeface="Times New Roman"/>
                <a:ea typeface="Times New Roman"/>
                <a:cs typeface="Times New Roman"/>
              </a:defRPr>
            </a:defPPr>
            <a:lvl1pPr>
              <a:defRPr sz="3600">
                <a:solidFill>
                  <a:srgbClr val="111F31"/>
                </a:solidFill>
                <a:latin typeface="Times New Roman"/>
                <a:ea typeface="Times New Roman"/>
                <a:cs typeface="Times New Roman"/>
              </a:defRPr>
            </a:lvl1pPr>
            <a:lvl2pPr>
              <a:defRPr sz="3600">
                <a:solidFill>
                  <a:srgbClr val="111F31"/>
                </a:solidFill>
                <a:latin typeface="Times New Roman"/>
                <a:ea typeface="Times New Roman"/>
                <a:cs typeface="Times New Roman"/>
              </a:defRPr>
            </a:lvl2pPr>
            <a:lvl3pPr>
              <a:defRPr sz="3600">
                <a:solidFill>
                  <a:srgbClr val="111F31"/>
                </a:solidFill>
                <a:latin typeface="Times New Roman"/>
                <a:ea typeface="Times New Roman"/>
                <a:cs typeface="Times New Roman"/>
              </a:defRPr>
            </a:lvl3pPr>
            <a:lvl4pPr>
              <a:defRPr sz="3600">
                <a:solidFill>
                  <a:srgbClr val="111F31"/>
                </a:solidFill>
                <a:latin typeface="Times New Roman"/>
                <a:ea typeface="Times New Roman"/>
                <a:cs typeface="Times New Roman"/>
              </a:defRPr>
            </a:lvl4pPr>
            <a:lvl5pPr>
              <a:defRPr sz="3600">
                <a:solidFill>
                  <a:srgbClr val="111F31"/>
                </a:solidFill>
                <a:latin typeface="Times New Roman"/>
                <a:ea typeface="Times New Roman"/>
                <a:cs typeface="Times New Roman"/>
              </a:defRPr>
            </a:lvl5pPr>
            <a:lvl6pPr>
              <a:defRPr sz="3600">
                <a:solidFill>
                  <a:srgbClr val="111F31"/>
                </a:solidFill>
                <a:latin typeface="Times New Roman"/>
                <a:ea typeface="Times New Roman"/>
                <a:cs typeface="Times New Roman"/>
              </a:defRPr>
            </a:lvl6pPr>
            <a:lvl7pPr>
              <a:defRPr sz="3600">
                <a:solidFill>
                  <a:srgbClr val="111F31"/>
                </a:solidFill>
                <a:latin typeface="Times New Roman"/>
                <a:ea typeface="Times New Roman"/>
                <a:cs typeface="Times New Roman"/>
              </a:defRPr>
            </a:lvl7pPr>
            <a:lvl8pPr>
              <a:defRPr sz="3600">
                <a:solidFill>
                  <a:srgbClr val="111F31"/>
                </a:solidFill>
                <a:latin typeface="Times New Roman"/>
                <a:ea typeface="Times New Roman"/>
                <a:cs typeface="Times New Roman"/>
              </a:defRPr>
            </a:lvl8pPr>
            <a:lvl9pPr>
              <a:defRPr sz="3600">
                <a:solidFill>
                  <a:srgbClr val="111F31"/>
                </a:solidFill>
                <a:latin typeface="Times New Roman"/>
                <a:ea typeface="Times New Roman"/>
                <a:cs typeface="Times New Roman"/>
              </a:defRPr>
            </a:lvl9pPr>
          </a:lstStyle>
          <a:p>
            <a:pPr>
              <a:defRPr sz="3600">
                <a:solidFill>
                  <a:srgbClr val="111F31"/>
                </a:solidFill>
                <a:latin typeface="Times New Roman"/>
                <a:ea typeface="Times New Roman"/>
                <a:cs typeface="Times New Roman"/>
              </a:defRPr>
            </a:pPr>
            <a:r>
              <a:rPr sz="3600">
                <a:solidFill>
                  <a:srgbClr val="111F31"/>
                </a:solidFill>
                <a:latin typeface="Times New Roman"/>
                <a:ea typeface="Times New Roman"/>
                <a:cs typeface="Times New Roman"/>
              </a:rPr>
              <a:t>facts ⊢ H(x)</a:t>
            </a:r>
          </a:p>
        </p:txBody>
      </p:sp>
      <p:sp>
        <p:nvSpPr>
          <p:cNvPr id="12" name="s6-11">
            <a:extLst>
              <a:ext uri="{FF2B5EF4-FFF2-40B4-BE49-F238E27FC236}">
                <a16:creationId xmlns:a16="http://schemas.microsoft.com/office/drawing/2014/main" id="{7097E8E6-5BEB-49CD-9588-569C5345AE02}"/>
              </a:ext>
            </a:extLst>
          </p:cNvPr>
          <p:cNvSpPr>
            <a:spLocks noGrp="1"/>
          </p:cNvSpPr>
          <p:nvPr/>
        </p:nvSpPr>
        <p:spPr>
          <a:xfrm>
            <a:off x="800100" y="6267450"/>
            <a:ext cx="5810250" cy="34290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Check encoded rules against product evidence.</a:t>
            </a:r>
          </a:p>
        </p:txBody>
      </p:sp>
      <p:sp>
        <p:nvSpPr>
          <p:cNvPr id="13" name="s6-12">
            <a:extLst>
              <a:ext uri="{FF2B5EF4-FFF2-40B4-BE49-F238E27FC236}">
                <a16:creationId xmlns:a16="http://schemas.microsoft.com/office/drawing/2014/main" id="{997EB9AF-76B7-4D53-828A-3B401A86DA67}"/>
              </a:ext>
            </a:extLst>
          </p:cNvPr>
          <p:cNvSpPr>
            <a:spLocks noGrp="1"/>
          </p:cNvSpPr>
          <p:nvPr/>
        </p:nvSpPr>
        <p:spPr>
          <a:xfrm>
            <a:off x="6953250" y="5048250"/>
            <a:ext cx="45720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03 / SEARCH + RANK</a:t>
            </a:r>
          </a:p>
        </p:txBody>
      </p:sp>
      <p:sp>
        <p:nvSpPr>
          <p:cNvPr id="14" name="s6-13">
            <a:extLst>
              <a:ext uri="{FF2B5EF4-FFF2-40B4-BE49-F238E27FC236}">
                <a16:creationId xmlns:a16="http://schemas.microsoft.com/office/drawing/2014/main" id="{A1BCCBEC-93AA-42E7-9E76-29A8BA77E3BD}"/>
              </a:ext>
            </a:extLst>
          </p:cNvPr>
          <p:cNvSpPr>
            <a:spLocks noGrp="1"/>
          </p:cNvSpPr>
          <p:nvPr/>
        </p:nvSpPr>
        <p:spPr>
          <a:xfrm>
            <a:off x="6915150" y="5495925"/>
            <a:ext cx="4667250" cy="600075"/>
          </a:xfrm>
          <a:prstGeom prst="rect">
            <a:avLst/>
          </a:prstGeom>
          <a:noFill/>
          <a:ln w="0">
            <a:noFill/>
          </a:ln>
        </p:spPr>
        <p:txBody>
          <a:bodyPr lIns="0" tIns="0" rIns="0" bIns="0">
            <a:noAutofit/>
          </a:bodyPr>
          <a:lstStyle>
            <a:defPPr>
              <a:defRPr sz="3225">
                <a:solidFill>
                  <a:srgbClr val="111F31"/>
                </a:solidFill>
                <a:latin typeface="Times New Roman"/>
                <a:ea typeface="Times New Roman"/>
                <a:cs typeface="Times New Roman"/>
              </a:defRPr>
            </a:defPPr>
            <a:lvl1pPr>
              <a:defRPr sz="3225">
                <a:solidFill>
                  <a:srgbClr val="111F31"/>
                </a:solidFill>
                <a:latin typeface="Times New Roman"/>
                <a:ea typeface="Times New Roman"/>
                <a:cs typeface="Times New Roman"/>
              </a:defRPr>
            </a:lvl1pPr>
            <a:lvl2pPr>
              <a:defRPr sz="3225">
                <a:solidFill>
                  <a:srgbClr val="111F31"/>
                </a:solidFill>
                <a:latin typeface="Times New Roman"/>
                <a:ea typeface="Times New Roman"/>
                <a:cs typeface="Times New Roman"/>
              </a:defRPr>
            </a:lvl2pPr>
            <a:lvl3pPr>
              <a:defRPr sz="3225">
                <a:solidFill>
                  <a:srgbClr val="111F31"/>
                </a:solidFill>
                <a:latin typeface="Times New Roman"/>
                <a:ea typeface="Times New Roman"/>
                <a:cs typeface="Times New Roman"/>
              </a:defRPr>
            </a:lvl3pPr>
            <a:lvl4pPr>
              <a:defRPr sz="3225">
                <a:solidFill>
                  <a:srgbClr val="111F31"/>
                </a:solidFill>
                <a:latin typeface="Times New Roman"/>
                <a:ea typeface="Times New Roman"/>
                <a:cs typeface="Times New Roman"/>
              </a:defRPr>
            </a:lvl4pPr>
            <a:lvl5pPr>
              <a:defRPr sz="3225">
                <a:solidFill>
                  <a:srgbClr val="111F31"/>
                </a:solidFill>
                <a:latin typeface="Times New Roman"/>
                <a:ea typeface="Times New Roman"/>
                <a:cs typeface="Times New Roman"/>
              </a:defRPr>
            </a:lvl5pPr>
            <a:lvl6pPr>
              <a:defRPr sz="3225">
                <a:solidFill>
                  <a:srgbClr val="111F31"/>
                </a:solidFill>
                <a:latin typeface="Times New Roman"/>
                <a:ea typeface="Times New Roman"/>
                <a:cs typeface="Times New Roman"/>
              </a:defRPr>
            </a:lvl6pPr>
            <a:lvl7pPr>
              <a:defRPr sz="3225">
                <a:solidFill>
                  <a:srgbClr val="111F31"/>
                </a:solidFill>
                <a:latin typeface="Times New Roman"/>
                <a:ea typeface="Times New Roman"/>
                <a:cs typeface="Times New Roman"/>
              </a:defRPr>
            </a:lvl7pPr>
            <a:lvl8pPr>
              <a:defRPr sz="3225">
                <a:solidFill>
                  <a:srgbClr val="111F31"/>
                </a:solidFill>
                <a:latin typeface="Times New Roman"/>
                <a:ea typeface="Times New Roman"/>
                <a:cs typeface="Times New Roman"/>
              </a:defRPr>
            </a:lvl8pPr>
            <a:lvl9pPr>
              <a:defRPr sz="3225">
                <a:solidFill>
                  <a:srgbClr val="111F31"/>
                </a:solidFill>
                <a:latin typeface="Times New Roman"/>
                <a:ea typeface="Times New Roman"/>
                <a:cs typeface="Times New Roman"/>
              </a:defRPr>
            </a:lvl9pPr>
          </a:lstStyle>
          <a:p>
            <a:pPr>
              <a:defRPr sz="3225">
                <a:solidFill>
                  <a:srgbClr val="111F31"/>
                </a:solidFill>
                <a:latin typeface="Times New Roman"/>
                <a:ea typeface="Times New Roman"/>
                <a:cs typeface="Times New Roman"/>
              </a:defRPr>
            </a:pPr>
            <a:r>
              <a:rPr sz="3225">
                <a:solidFill>
                  <a:srgbClr val="111F31"/>
                </a:solidFill>
                <a:latin typeface="Times New Roman"/>
                <a:ea typeface="Times New Roman"/>
                <a:cs typeface="Times New Roman"/>
              </a:rPr>
              <a:t>x* ∈ argmax score(x)</a:t>
            </a:r>
          </a:p>
        </p:txBody>
      </p:sp>
      <p:sp>
        <p:nvSpPr>
          <p:cNvPr id="15" name="s6-14">
            <a:extLst>
              <a:ext uri="{FF2B5EF4-FFF2-40B4-BE49-F238E27FC236}">
                <a16:creationId xmlns:a16="http://schemas.microsoft.com/office/drawing/2014/main" id="{4A0A6F7F-2B5A-4E29-9C74-0B4BA1D33769}"/>
              </a:ext>
            </a:extLst>
          </p:cNvPr>
          <p:cNvSpPr>
            <a:spLocks noGrp="1"/>
          </p:cNvSpPr>
          <p:nvPr/>
        </p:nvSpPr>
        <p:spPr>
          <a:xfrm>
            <a:off x="6972300" y="6267450"/>
            <a:ext cx="4572000" cy="34290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Rank verified search results x ∈ S.</a:t>
            </a:r>
          </a:p>
        </p:txBody>
      </p:sp>
      <p:pic>
        <p:nvPicPr>
          <p:cNvPr id="16" name="Graphic 15">
            <a:extLst>
              <a:ext uri="{FF2B5EF4-FFF2-40B4-BE49-F238E27FC236}">
                <a16:creationId xmlns:a16="http://schemas.microsoft.com/office/drawing/2014/main" id="{63799F78-77E1-4343-9C71-A1087B9E7645}"/>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258057971"/>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850"/>
                                        <p:tgtEl>
                                          <p:spTgt spid="17"/>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17"/>
                                        </p:tgtEl>
                                        <p:attrNameLst>
                                          <p:attrName>style.visibility</p:attrName>
                                        </p:attrNameLst>
                                      </p:cBhvr>
                                      <p:to>
                                        <p:strVal val="visible"/>
                                      </p:to>
                                    </p:set>
                                    <p:animMotion origin="layout" pathEditMode="relative">
                                      <p:cBhvr from="" to="">
                                        <p:cTn id="10" dur="850" fill="hold">
                                          <p:stCondLst>
                                            <p:cond delay="0"/>
                                          </p:stCondLst>
                                        </p:cTn>
                                        <p:tgtEl>
                                          <p:spTgt spid="17"/>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1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850"/>
                                        <p:tgtEl>
                                          <p:spTgt spid="7"/>
                                        </p:tgtEl>
                                      </p:cBhvr>
                                    </p:animEffect>
                                  </p:childTnLst>
                                </p:cTn>
                              </p:par>
                              <p:par>
                                <p:cTn id="44" presetID="0" presetClass="entr" presetSubtype="0" decel="80000" fill="hold" grpId="1" nodeType="withEffect">
                                  <p:stCondLst>
                                    <p:cond delay="510"/>
                                  </p:stCondLst>
                                  <p:childTnLst>
                                    <p:set>
                                      <p:cBhvr>
                                        <p:cTn id="45" dur="1" fill="hold">
                                          <p:stCondLst>
                                            <p:cond delay="849"/>
                                          </p:stCondLst>
                                        </p:cTn>
                                        <p:tgtEl>
                                          <p:spTgt spid="7"/>
                                        </p:tgtEl>
                                        <p:attrNameLst>
                                          <p:attrName>style.visibility</p:attrName>
                                        </p:attrNameLst>
                                      </p:cBhvr>
                                      <p:to>
                                        <p:strVal val="visible"/>
                                      </p:to>
                                    </p:set>
                                    <p:animMotion origin="layout" pathEditMode="relative">
                                      <p:cBhvr from="" to="">
                                        <p:cTn id="46" dur="850" fill="hold">
                                          <p:stCondLst>
                                            <p:cond delay="0"/>
                                          </p:stCondLst>
                                        </p:cTn>
                                        <p:tgtEl>
                                          <p:spTgt spid="7"/>
                                        </p:tgtEl>
                                        <p:attrNameLst>
                                          <p:attrName>ppt_x</p:attrName>
                                          <p:attrName>ppt_y</p:attrName>
                                        </p:attrNameLst>
                                      </p:cBhvr>
                                      <p:from x="0" y="25"/>
                                      <p:to x="0" y="0"/>
                                    </p:animMotion>
                                  </p:childTnLst>
                                </p:cTn>
                              </p:par>
                              <p:par>
                                <p:cTn id="47" presetID="10" presetClass="entr" presetSubtype="0" fill="hold" grpId="0" nodeType="withEffect">
                                  <p:stCondLst>
                                    <p:cond delay="595"/>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850"/>
                                        <p:tgtEl>
                                          <p:spTgt spid="8"/>
                                        </p:tgtEl>
                                      </p:cBhvr>
                                    </p:animEffect>
                                  </p:childTnLst>
                                </p:cTn>
                              </p:par>
                              <p:par>
                                <p:cTn id="50" presetID="0" presetClass="entr" presetSubtype="0" decel="80000" fill="hold" grpId="1" nodeType="withEffect">
                                  <p:stCondLst>
                                    <p:cond delay="595"/>
                                  </p:stCondLst>
                                  <p:childTnLst>
                                    <p:set>
                                      <p:cBhvr>
                                        <p:cTn id="51" dur="1" fill="hold">
                                          <p:stCondLst>
                                            <p:cond delay="849"/>
                                          </p:stCondLst>
                                        </p:cTn>
                                        <p:tgtEl>
                                          <p:spTgt spid="8"/>
                                        </p:tgtEl>
                                        <p:attrNameLst>
                                          <p:attrName>style.visibility</p:attrName>
                                        </p:attrNameLst>
                                      </p:cBhvr>
                                      <p:to>
                                        <p:strVal val="visible"/>
                                      </p:to>
                                    </p:set>
                                    <p:animMotion origin="layout" pathEditMode="relative">
                                      <p:cBhvr from="" to="">
                                        <p:cTn id="52" dur="850" fill="hold">
                                          <p:stCondLst>
                                            <p:cond delay="0"/>
                                          </p:stCondLst>
                                        </p:cTn>
                                        <p:tgtEl>
                                          <p:spTgt spid="8"/>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850"/>
                                        <p:tgtEl>
                                          <p:spTgt spid="13"/>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3"/>
                                        </p:tgtEl>
                                        <p:attrNameLst>
                                          <p:attrName>style.visibility</p:attrName>
                                        </p:attrNameLst>
                                      </p:cBhvr>
                                      <p:to>
                                        <p:strVal val="visible"/>
                                      </p:to>
                                    </p:set>
                                    <p:animMotion origin="layout" pathEditMode="relative">
                                      <p:cBhvr from="" to="">
                                        <p:cTn id="76" dur="850" fill="hold">
                                          <p:stCondLst>
                                            <p:cond delay="0"/>
                                          </p:stCondLst>
                                        </p:cTn>
                                        <p:tgtEl>
                                          <p:spTgt spid="13"/>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850"/>
                                        <p:tgtEl>
                                          <p:spTgt spid="14"/>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4"/>
                                        </p:tgtEl>
                                        <p:attrNameLst>
                                          <p:attrName>style.visibility</p:attrName>
                                        </p:attrNameLst>
                                      </p:cBhvr>
                                      <p:to>
                                        <p:strVal val="visible"/>
                                      </p:to>
                                    </p:set>
                                    <p:animMotion origin="layout" pathEditMode="relative">
                                      <p:cBhvr from="" to="">
                                        <p:cTn id="82" dur="850" fill="hold">
                                          <p:stCondLst>
                                            <p:cond delay="0"/>
                                          </p:stCondLst>
                                        </p:cTn>
                                        <p:tgtEl>
                                          <p:spTgt spid="14"/>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850"/>
                                        <p:tgtEl>
                                          <p:spTgt spid="15"/>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5"/>
                                        </p:tgtEl>
                                        <p:attrNameLst>
                                          <p:attrName>style.visibility</p:attrName>
                                        </p:attrNameLst>
                                      </p:cBhvr>
                                      <p:to>
                                        <p:strVal val="visible"/>
                                      </p:to>
                                    </p:set>
                                    <p:animMotion origin="layout" pathEditMode="relative">
                                      <p:cBhvr from="" to="">
                                        <p:cTn id="88" dur="850" fill="hold">
                                          <p:stCondLst>
                                            <p:cond delay="0"/>
                                          </p:stCondLst>
                                        </p:cTn>
                                        <p:tgtEl>
                                          <p:spTgt spid="15"/>
                                        </p:tgtEl>
                                        <p:attrNameLst>
                                          <p:attrName>ppt_x</p:attrName>
                                          <p:attrName>ppt_y</p:attrName>
                                        </p:attrNameLst>
                                      </p:cBhvr>
                                      <p:from x="0" y="25"/>
                                      <p:to x="0" y="0"/>
                                    </p:animMotion>
                                  </p:childTnLst>
                                </p:cTn>
                              </p:par>
                              <p:par>
                                <p:cTn id="89" presetID="10" presetClass="entr" presetSubtype="0" fill="hold" nodeType="withEffect">
                                  <p:stCondLst>
                                    <p:cond delay="65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850"/>
                                        <p:tgtEl>
                                          <p:spTgt spid="16"/>
                                        </p:tgtEl>
                                      </p:cBhvr>
                                    </p:animEffect>
                                  </p:childTnLst>
                                </p:cTn>
                              </p:par>
                              <p:par>
                                <p:cTn id="92" presetID="0" presetClass="entr" presetSubtype="0" decel="80000" fill="hold" nodeType="withEffect">
                                  <p:stCondLst>
                                    <p:cond delay="650"/>
                                  </p:stCondLst>
                                  <p:childTnLst>
                                    <p:set>
                                      <p:cBhvr>
                                        <p:cTn id="93" dur="1" fill="hold">
                                          <p:stCondLst>
                                            <p:cond delay="849"/>
                                          </p:stCondLst>
                                        </p:cTn>
                                        <p:tgtEl>
                                          <p:spTgt spid="16"/>
                                        </p:tgtEl>
                                        <p:attrNameLst>
                                          <p:attrName>style.visibility</p:attrName>
                                        </p:attrNameLst>
                                      </p:cBhvr>
                                      <p:to>
                                        <p:strVal val="visible"/>
                                      </p:to>
                                    </p:set>
                                    <p:animMotion origin="layout" pathEditMode="relative">
                                      <p:cBhvr from="" to="">
                                        <p:cTn id="94" dur="850" fill="hold">
                                          <p:stCondLst>
                                            <p:cond delay="0"/>
                                          </p:stCondLst>
                                        </p:cTn>
                                        <p:tgtEl>
                                          <p:spTgt spid="16"/>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2" grpId="0"/>
      <p:bldP spid="2" grpId="1"/>
      <p:bldP spid="3" grpId="0"/>
      <p:bldP spid="3" grpId="1"/>
      <p:bldP spid="4" grpId="0"/>
      <p:bldP spid="4" grpId="1"/>
      <p:bldP spid="5" grpId="0"/>
      <p:bldP spid="5" grpId="1"/>
      <p:bldP spid="6" grpId="0"/>
      <p:bldP spid="6" grpId="1"/>
      <p:bldP spid="7" grpId="0"/>
      <p:bldP spid="7" grpId="1"/>
      <p:bldP spid="8" grpId="0"/>
      <p:bldP spid="8" grpId="1"/>
      <p:bldP spid="10" grpId="0"/>
      <p:bldP spid="10" grpId="1"/>
      <p:bldP spid="11" grpId="0"/>
      <p:bldP spid="11" grpId="1"/>
      <p:bldP spid="12" grpId="0"/>
      <p:bldP spid="12" grpId="1"/>
      <p:bldP spid="13" grpId="0"/>
      <p:bldP spid="13" grpId="1"/>
      <p:bldP spid="14" grpId="0"/>
      <p:bldP spid="14" grpId="1"/>
      <p:bldP spid="15" grpId="0"/>
      <p:bldP spid="15"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7-0">
            <a:extLst>
              <a:ext uri="{FF2B5EF4-FFF2-40B4-BE49-F238E27FC236}">
                <a16:creationId xmlns:a16="http://schemas.microsoft.com/office/drawing/2014/main" id="{209489E6-724B-4161-859F-D37F1EF23111}"/>
              </a:ext>
            </a:extLst>
          </p:cNvPr>
          <p:cNvSpPr>
            <a:spLocks noGrp="1"/>
          </p:cNvSpPr>
          <p:nvPr/>
        </p:nvSpPr>
        <p:spPr>
          <a:xfrm>
            <a:off x="723900" y="571500"/>
            <a:ext cx="10763250" cy="857250"/>
          </a:xfrm>
          <a:prstGeom prst="rect">
            <a:avLst/>
          </a:prstGeom>
          <a:noFill/>
          <a:ln w="0">
            <a:noFill/>
          </a:ln>
        </p:spPr>
        <p:txBody>
          <a:bodyPr lIns="0" tIns="0" rIns="0" bIns="0">
            <a:noAutofit/>
          </a:bodyPr>
          <a:lstStyle>
            <a:defPPr>
              <a:defRPr sz="4575">
                <a:solidFill>
                  <a:srgbClr val="111F31"/>
                </a:solidFill>
                <a:latin typeface="Times New Roman"/>
                <a:ea typeface="Times New Roman"/>
                <a:cs typeface="Times New Roman"/>
              </a:defRPr>
            </a:defPPr>
            <a:lvl1pPr>
              <a:defRPr sz="4575">
                <a:solidFill>
                  <a:srgbClr val="111F31"/>
                </a:solidFill>
                <a:latin typeface="Times New Roman"/>
                <a:ea typeface="Times New Roman"/>
                <a:cs typeface="Times New Roman"/>
              </a:defRPr>
            </a:lvl1pPr>
            <a:lvl2pPr>
              <a:defRPr sz="4575">
                <a:solidFill>
                  <a:srgbClr val="111F31"/>
                </a:solidFill>
                <a:latin typeface="Times New Roman"/>
                <a:ea typeface="Times New Roman"/>
                <a:cs typeface="Times New Roman"/>
              </a:defRPr>
            </a:lvl2pPr>
            <a:lvl3pPr>
              <a:defRPr sz="4575">
                <a:solidFill>
                  <a:srgbClr val="111F31"/>
                </a:solidFill>
                <a:latin typeface="Times New Roman"/>
                <a:ea typeface="Times New Roman"/>
                <a:cs typeface="Times New Roman"/>
              </a:defRPr>
            </a:lvl3pPr>
            <a:lvl4pPr>
              <a:defRPr sz="4575">
                <a:solidFill>
                  <a:srgbClr val="111F31"/>
                </a:solidFill>
                <a:latin typeface="Times New Roman"/>
                <a:ea typeface="Times New Roman"/>
                <a:cs typeface="Times New Roman"/>
              </a:defRPr>
            </a:lvl4pPr>
            <a:lvl5pPr>
              <a:defRPr sz="4575">
                <a:solidFill>
                  <a:srgbClr val="111F31"/>
                </a:solidFill>
                <a:latin typeface="Times New Roman"/>
                <a:ea typeface="Times New Roman"/>
                <a:cs typeface="Times New Roman"/>
              </a:defRPr>
            </a:lvl5pPr>
            <a:lvl6pPr>
              <a:defRPr sz="4575">
                <a:solidFill>
                  <a:srgbClr val="111F31"/>
                </a:solidFill>
                <a:latin typeface="Times New Roman"/>
                <a:ea typeface="Times New Roman"/>
                <a:cs typeface="Times New Roman"/>
              </a:defRPr>
            </a:lvl6pPr>
            <a:lvl7pPr>
              <a:defRPr sz="4575">
                <a:solidFill>
                  <a:srgbClr val="111F31"/>
                </a:solidFill>
                <a:latin typeface="Times New Roman"/>
                <a:ea typeface="Times New Roman"/>
                <a:cs typeface="Times New Roman"/>
              </a:defRPr>
            </a:lvl7pPr>
            <a:lvl8pPr>
              <a:defRPr sz="4575">
                <a:solidFill>
                  <a:srgbClr val="111F31"/>
                </a:solidFill>
                <a:latin typeface="Times New Roman"/>
                <a:ea typeface="Times New Roman"/>
                <a:cs typeface="Times New Roman"/>
              </a:defRPr>
            </a:lvl8pPr>
            <a:lvl9pPr>
              <a:defRPr sz="4575">
                <a:solidFill>
                  <a:srgbClr val="111F31"/>
                </a:solidFill>
                <a:latin typeface="Times New Roman"/>
                <a:ea typeface="Times New Roman"/>
                <a:cs typeface="Times New Roman"/>
              </a:defRPr>
            </a:lvl9pPr>
          </a:lstStyle>
          <a:p>
            <a:pPr>
              <a:defRPr sz="4575">
                <a:solidFill>
                  <a:srgbClr val="111F31"/>
                </a:solidFill>
                <a:latin typeface="Times New Roman"/>
                <a:ea typeface="Times New Roman"/>
                <a:cs typeface="Times New Roman"/>
              </a:defRPr>
            </a:pPr>
            <a:r>
              <a:rPr sz="4575">
                <a:solidFill>
                  <a:srgbClr val="111F31"/>
                </a:solidFill>
                <a:latin typeface="Times New Roman"/>
                <a:ea typeface="Times New Roman"/>
                <a:cs typeface="Times New Roman"/>
              </a:rPr>
              <a:t>Every decision leaves a record</a:t>
            </a:r>
          </a:p>
        </p:txBody>
      </p:sp>
      <p:sp>
        <p:nvSpPr>
          <p:cNvPr id="2" name="s7-1">
            <a:extLst>
              <a:ext uri="{FF2B5EF4-FFF2-40B4-BE49-F238E27FC236}">
                <a16:creationId xmlns:a16="http://schemas.microsoft.com/office/drawing/2014/main" id="{8F344BCC-1D19-45CA-8122-C6697B24F24A}"/>
              </a:ext>
            </a:extLst>
          </p:cNvPr>
          <p:cNvSpPr>
            <a:spLocks noGrp="1"/>
          </p:cNvSpPr>
          <p:nvPr/>
        </p:nvSpPr>
        <p:spPr>
          <a:xfrm>
            <a:off x="800100" y="1905000"/>
            <a:ext cx="5143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REQUEST</a:t>
            </a:r>
          </a:p>
        </p:txBody>
      </p:sp>
      <p:sp>
        <p:nvSpPr>
          <p:cNvPr id="3" name="s7-2">
            <a:extLst>
              <a:ext uri="{FF2B5EF4-FFF2-40B4-BE49-F238E27FC236}">
                <a16:creationId xmlns:a16="http://schemas.microsoft.com/office/drawing/2014/main" id="{D2FF3C56-3420-41E9-A3D4-5DC6CB5C14A6}"/>
              </a:ext>
            </a:extLst>
          </p:cNvPr>
          <p:cNvSpPr>
            <a:spLocks noGrp="1"/>
          </p:cNvSpPr>
          <p:nvPr/>
        </p:nvSpPr>
        <p:spPr>
          <a:xfrm>
            <a:off x="762000" y="2362200"/>
            <a:ext cx="5238750" cy="1524000"/>
          </a:xfrm>
          <a:prstGeom prst="rect">
            <a:avLst/>
          </a:prstGeom>
          <a:noFill/>
          <a:ln w="0">
            <a:noFill/>
          </a:ln>
        </p:spPr>
        <p:txBody>
          <a:bodyPr lIns="0" tIns="0" rIns="0" bIns="0">
            <a:noAutofit/>
          </a:bodyPr>
          <a:lstStyle>
            <a:defPPr>
              <a:defRPr sz="3075">
                <a:solidFill>
                  <a:srgbClr val="111F31"/>
                </a:solidFill>
                <a:latin typeface="Times New Roman"/>
                <a:ea typeface="Times New Roman"/>
                <a:cs typeface="Times New Roman"/>
              </a:defRPr>
            </a:defPPr>
            <a:lvl1pPr>
              <a:defRPr sz="3075">
                <a:solidFill>
                  <a:srgbClr val="111F31"/>
                </a:solidFill>
                <a:latin typeface="Times New Roman"/>
                <a:ea typeface="Times New Roman"/>
                <a:cs typeface="Times New Roman"/>
              </a:defRPr>
            </a:lvl1pPr>
            <a:lvl2pPr>
              <a:defRPr sz="3075">
                <a:solidFill>
                  <a:srgbClr val="111F31"/>
                </a:solidFill>
                <a:latin typeface="Times New Roman"/>
                <a:ea typeface="Times New Roman"/>
                <a:cs typeface="Times New Roman"/>
              </a:defRPr>
            </a:lvl2pPr>
            <a:lvl3pPr>
              <a:defRPr sz="3075">
                <a:solidFill>
                  <a:srgbClr val="111F31"/>
                </a:solidFill>
                <a:latin typeface="Times New Roman"/>
                <a:ea typeface="Times New Roman"/>
                <a:cs typeface="Times New Roman"/>
              </a:defRPr>
            </a:lvl3pPr>
            <a:lvl4pPr>
              <a:defRPr sz="3075">
                <a:solidFill>
                  <a:srgbClr val="111F31"/>
                </a:solidFill>
                <a:latin typeface="Times New Roman"/>
                <a:ea typeface="Times New Roman"/>
                <a:cs typeface="Times New Roman"/>
              </a:defRPr>
            </a:lvl4pPr>
            <a:lvl5pPr>
              <a:defRPr sz="3075">
                <a:solidFill>
                  <a:srgbClr val="111F31"/>
                </a:solidFill>
                <a:latin typeface="Times New Roman"/>
                <a:ea typeface="Times New Roman"/>
                <a:cs typeface="Times New Roman"/>
              </a:defRPr>
            </a:lvl5pPr>
            <a:lvl6pPr>
              <a:defRPr sz="3075">
                <a:solidFill>
                  <a:srgbClr val="111F31"/>
                </a:solidFill>
                <a:latin typeface="Times New Roman"/>
                <a:ea typeface="Times New Roman"/>
                <a:cs typeface="Times New Roman"/>
              </a:defRPr>
            </a:lvl6pPr>
            <a:lvl7pPr>
              <a:defRPr sz="3075">
                <a:solidFill>
                  <a:srgbClr val="111F31"/>
                </a:solidFill>
                <a:latin typeface="Times New Roman"/>
                <a:ea typeface="Times New Roman"/>
                <a:cs typeface="Times New Roman"/>
              </a:defRPr>
            </a:lvl7pPr>
            <a:lvl8pPr>
              <a:defRPr sz="3075">
                <a:solidFill>
                  <a:srgbClr val="111F31"/>
                </a:solidFill>
                <a:latin typeface="Times New Roman"/>
                <a:ea typeface="Times New Roman"/>
                <a:cs typeface="Times New Roman"/>
              </a:defRPr>
            </a:lvl8pPr>
            <a:lvl9pPr>
              <a:defRPr sz="3075">
                <a:solidFill>
                  <a:srgbClr val="111F31"/>
                </a:solidFill>
                <a:latin typeface="Times New Roman"/>
                <a:ea typeface="Times New Roman"/>
                <a:cs typeface="Times New Roman"/>
              </a:defRPr>
            </a:lvl9pPr>
          </a:lstStyle>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“A laptop ≤ $1,200.</a:t>
            </a:r>
          </a:p>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At least 16 GB.</a:t>
            </a:r>
          </a:p>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Preferably light.”</a:t>
            </a:r>
          </a:p>
        </p:txBody>
      </p:sp>
      <p:sp>
        <p:nvSpPr>
          <p:cNvPr id="4" name="s7-3">
            <a:extLst>
              <a:ext uri="{FF2B5EF4-FFF2-40B4-BE49-F238E27FC236}">
                <a16:creationId xmlns:a16="http://schemas.microsoft.com/office/drawing/2014/main" id="{8E61A9D9-2664-4FC7-A76F-084EE24F648F}"/>
              </a:ext>
            </a:extLst>
          </p:cNvPr>
          <p:cNvSpPr>
            <a:spLocks noGrp="1"/>
          </p:cNvSpPr>
          <p:nvPr/>
        </p:nvSpPr>
        <p:spPr>
          <a:xfrm>
            <a:off x="800100" y="4295775"/>
            <a:ext cx="5143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CHECKED CANDIDATE</a:t>
            </a:r>
          </a:p>
        </p:txBody>
      </p:sp>
      <p:sp>
        <p:nvSpPr>
          <p:cNvPr id="5" name="s7-4">
            <a:extLst>
              <a:ext uri="{FF2B5EF4-FFF2-40B4-BE49-F238E27FC236}">
                <a16:creationId xmlns:a16="http://schemas.microsoft.com/office/drawing/2014/main" id="{8645BCD2-48D8-44D4-B65C-4160ED9FB8C7}"/>
              </a:ext>
            </a:extLst>
          </p:cNvPr>
          <p:cNvSpPr>
            <a:spLocks noGrp="1"/>
          </p:cNvSpPr>
          <p:nvPr/>
        </p:nvSpPr>
        <p:spPr>
          <a:xfrm>
            <a:off x="781050" y="4743450"/>
            <a:ext cx="5334000" cy="857250"/>
          </a:xfrm>
          <a:prstGeom prst="rect">
            <a:avLst/>
          </a:prstGeom>
          <a:noFill/>
          <a:ln w="0">
            <a:noFill/>
          </a:ln>
        </p:spPr>
        <p:txBody>
          <a:bodyPr lIns="0" tIns="0" rIns="0" bIns="0">
            <a:noAutofit/>
          </a:bodyPr>
          <a:lstStyle>
            <a:defPPr>
              <a:defRPr sz="2325">
                <a:solidFill>
                  <a:srgbClr val="111F31"/>
                </a:solidFill>
                <a:latin typeface="Times New Roman"/>
                <a:ea typeface="Times New Roman"/>
                <a:cs typeface="Times New Roman"/>
              </a:defRPr>
            </a:defPPr>
            <a:lvl1pPr>
              <a:defRPr sz="2325">
                <a:solidFill>
                  <a:srgbClr val="111F31"/>
                </a:solidFill>
                <a:latin typeface="Times New Roman"/>
                <a:ea typeface="Times New Roman"/>
                <a:cs typeface="Times New Roman"/>
              </a:defRPr>
            </a:lvl1pPr>
            <a:lvl2pPr>
              <a:defRPr sz="2325">
                <a:solidFill>
                  <a:srgbClr val="111F31"/>
                </a:solidFill>
                <a:latin typeface="Times New Roman"/>
                <a:ea typeface="Times New Roman"/>
                <a:cs typeface="Times New Roman"/>
              </a:defRPr>
            </a:lvl2pPr>
            <a:lvl3pPr>
              <a:defRPr sz="2325">
                <a:solidFill>
                  <a:srgbClr val="111F31"/>
                </a:solidFill>
                <a:latin typeface="Times New Roman"/>
                <a:ea typeface="Times New Roman"/>
                <a:cs typeface="Times New Roman"/>
              </a:defRPr>
            </a:lvl3pPr>
            <a:lvl4pPr>
              <a:defRPr sz="2325">
                <a:solidFill>
                  <a:srgbClr val="111F31"/>
                </a:solidFill>
                <a:latin typeface="Times New Roman"/>
                <a:ea typeface="Times New Roman"/>
                <a:cs typeface="Times New Roman"/>
              </a:defRPr>
            </a:lvl4pPr>
            <a:lvl5pPr>
              <a:defRPr sz="2325">
                <a:solidFill>
                  <a:srgbClr val="111F31"/>
                </a:solidFill>
                <a:latin typeface="Times New Roman"/>
                <a:ea typeface="Times New Roman"/>
                <a:cs typeface="Times New Roman"/>
              </a:defRPr>
            </a:lvl5pPr>
            <a:lvl6pPr>
              <a:defRPr sz="2325">
                <a:solidFill>
                  <a:srgbClr val="111F31"/>
                </a:solidFill>
                <a:latin typeface="Times New Roman"/>
                <a:ea typeface="Times New Roman"/>
                <a:cs typeface="Times New Roman"/>
              </a:defRPr>
            </a:lvl6pPr>
            <a:lvl7pPr>
              <a:defRPr sz="2325">
                <a:solidFill>
                  <a:srgbClr val="111F31"/>
                </a:solidFill>
                <a:latin typeface="Times New Roman"/>
                <a:ea typeface="Times New Roman"/>
                <a:cs typeface="Times New Roman"/>
              </a:defRPr>
            </a:lvl7pPr>
            <a:lvl8pPr>
              <a:defRPr sz="2325">
                <a:solidFill>
                  <a:srgbClr val="111F31"/>
                </a:solidFill>
                <a:latin typeface="Times New Roman"/>
                <a:ea typeface="Times New Roman"/>
                <a:cs typeface="Times New Roman"/>
              </a:defRPr>
            </a:lvl8pPr>
            <a:lvl9pPr>
              <a:defRPr sz="2325">
                <a:solidFill>
                  <a:srgbClr val="111F31"/>
                </a:solidFill>
                <a:latin typeface="Times New Roman"/>
                <a:ea typeface="Times New Roman"/>
                <a:cs typeface="Times New Roman"/>
              </a:defRPr>
            </a:lvl9pPr>
          </a:lstStyle>
          <a:p>
            <a:pPr>
              <a:defRPr sz="2325">
                <a:solidFill>
                  <a:srgbClr val="111F31"/>
                </a:solidFill>
                <a:latin typeface="Times New Roman"/>
                <a:ea typeface="Times New Roman"/>
                <a:cs typeface="Times New Roman"/>
              </a:defRPr>
            </a:pPr>
            <a:r>
              <a:rPr sz="2325">
                <a:solidFill>
                  <a:srgbClr val="111F31"/>
                </a:solidFill>
                <a:latin typeface="Times New Roman"/>
                <a:ea typeface="Times New Roman"/>
                <a:cs typeface="Times New Roman"/>
              </a:rPr>
              <a:t>$1,149.  16 GB.</a:t>
            </a:r>
          </a:p>
          <a:p>
            <a:pPr>
              <a:defRPr sz="2325">
                <a:solidFill>
                  <a:srgbClr val="111F31"/>
                </a:solidFill>
                <a:latin typeface="Times New Roman"/>
                <a:ea typeface="Times New Roman"/>
                <a:cs typeface="Times New Roman"/>
              </a:defRPr>
            </a:pPr>
            <a:r>
              <a:rPr sz="2325">
                <a:solidFill>
                  <a:srgbClr val="111F31"/>
                </a:solidFill>
                <a:latin typeface="Times New Roman"/>
                <a:ea typeface="Times New Roman"/>
                <a:cs typeface="Times New Roman"/>
              </a:rPr>
              <a:t>Company-approved vendor.</a:t>
            </a:r>
          </a:p>
        </p:txBody>
      </p:sp>
      <p:sp>
        <p:nvSpPr>
          <p:cNvPr id="6" name="s7-5">
            <a:extLst>
              <a:ext uri="{FF2B5EF4-FFF2-40B4-BE49-F238E27FC236}">
                <a16:creationId xmlns:a16="http://schemas.microsoft.com/office/drawing/2014/main" id="{22F78813-F442-4FFF-8715-2B99AC3D8C38}"/>
              </a:ext>
            </a:extLst>
          </p:cNvPr>
          <p:cNvSpPr>
            <a:spLocks noGrp="1"/>
          </p:cNvSpPr>
          <p:nvPr/>
        </p:nvSpPr>
        <p:spPr>
          <a:xfrm>
            <a:off x="762000" y="5838825"/>
            <a:ext cx="5238750" cy="666750"/>
          </a:xfrm>
          <a:prstGeom prst="rect">
            <a:avLst/>
          </a:prstGeom>
          <a:noFill/>
          <a:ln w="0">
            <a:noFill/>
          </a:ln>
        </p:spPr>
        <p:txBody>
          <a:bodyPr lIns="0" tIns="0" rIns="0" bIns="0">
            <a:noAutofit/>
          </a:bodyPr>
          <a:lstStyle>
            <a:defPPr>
              <a:defRPr sz="3750">
                <a:solidFill>
                  <a:srgbClr val="111F31"/>
                </a:solidFill>
                <a:latin typeface="Times New Roman"/>
                <a:ea typeface="Times New Roman"/>
                <a:cs typeface="Times New Roman"/>
              </a:defRPr>
            </a:defPPr>
            <a:lvl1pPr>
              <a:defRPr sz="3750">
                <a:solidFill>
                  <a:srgbClr val="111F31"/>
                </a:solidFill>
                <a:latin typeface="Times New Roman"/>
                <a:ea typeface="Times New Roman"/>
                <a:cs typeface="Times New Roman"/>
              </a:defRPr>
            </a:lvl1pPr>
            <a:lvl2pPr>
              <a:defRPr sz="3750">
                <a:solidFill>
                  <a:srgbClr val="111F31"/>
                </a:solidFill>
                <a:latin typeface="Times New Roman"/>
                <a:ea typeface="Times New Roman"/>
                <a:cs typeface="Times New Roman"/>
              </a:defRPr>
            </a:lvl2pPr>
            <a:lvl3pPr>
              <a:defRPr sz="3750">
                <a:solidFill>
                  <a:srgbClr val="111F31"/>
                </a:solidFill>
                <a:latin typeface="Times New Roman"/>
                <a:ea typeface="Times New Roman"/>
                <a:cs typeface="Times New Roman"/>
              </a:defRPr>
            </a:lvl3pPr>
            <a:lvl4pPr>
              <a:defRPr sz="3750">
                <a:solidFill>
                  <a:srgbClr val="111F31"/>
                </a:solidFill>
                <a:latin typeface="Times New Roman"/>
                <a:ea typeface="Times New Roman"/>
                <a:cs typeface="Times New Roman"/>
              </a:defRPr>
            </a:lvl4pPr>
            <a:lvl5pPr>
              <a:defRPr sz="3750">
                <a:solidFill>
                  <a:srgbClr val="111F31"/>
                </a:solidFill>
                <a:latin typeface="Times New Roman"/>
                <a:ea typeface="Times New Roman"/>
                <a:cs typeface="Times New Roman"/>
              </a:defRPr>
            </a:lvl5pPr>
            <a:lvl6pPr>
              <a:defRPr sz="3750">
                <a:solidFill>
                  <a:srgbClr val="111F31"/>
                </a:solidFill>
                <a:latin typeface="Times New Roman"/>
                <a:ea typeface="Times New Roman"/>
                <a:cs typeface="Times New Roman"/>
              </a:defRPr>
            </a:lvl6pPr>
            <a:lvl7pPr>
              <a:defRPr sz="3750">
                <a:solidFill>
                  <a:srgbClr val="111F31"/>
                </a:solidFill>
                <a:latin typeface="Times New Roman"/>
                <a:ea typeface="Times New Roman"/>
                <a:cs typeface="Times New Roman"/>
              </a:defRPr>
            </a:lvl7pPr>
            <a:lvl8pPr>
              <a:defRPr sz="3750">
                <a:solidFill>
                  <a:srgbClr val="111F31"/>
                </a:solidFill>
                <a:latin typeface="Times New Roman"/>
                <a:ea typeface="Times New Roman"/>
                <a:cs typeface="Times New Roman"/>
              </a:defRPr>
            </a:lvl8pPr>
            <a:lvl9pPr>
              <a:defRPr sz="3750">
                <a:solidFill>
                  <a:srgbClr val="111F31"/>
                </a:solidFill>
                <a:latin typeface="Times New Roman"/>
                <a:ea typeface="Times New Roman"/>
                <a:cs typeface="Times New Roman"/>
              </a:defRPr>
            </a:lvl9pPr>
          </a:lstStyle>
          <a:p>
            <a:pPr>
              <a:defRPr sz="3750">
                <a:solidFill>
                  <a:srgbClr val="111F31"/>
                </a:solidFill>
                <a:latin typeface="Times New Roman"/>
                <a:ea typeface="Times New Roman"/>
                <a:cs typeface="Times New Roman"/>
              </a:defRPr>
            </a:pPr>
            <a:r>
              <a:rPr sz="3750">
                <a:solidFill>
                  <a:srgbClr val="111F31"/>
                </a:solidFill>
                <a:latin typeface="Times New Roman"/>
                <a:ea typeface="Times New Roman"/>
                <a:cs typeface="Times New Roman"/>
              </a:rPr>
              <a:t>∴ eligible</a:t>
            </a:r>
          </a:p>
        </p:txBody>
      </p:sp>
      <p:sp>
        <p:nvSpPr>
          <p:cNvPr id="7" name="s7-6">
            <a:extLst>
              <a:ext uri="{FF2B5EF4-FFF2-40B4-BE49-F238E27FC236}">
                <a16:creationId xmlns:a16="http://schemas.microsoft.com/office/drawing/2014/main" id="{80CDC3C8-C648-4376-8A73-4C068C1A5844}"/>
              </a:ext>
            </a:extLst>
          </p:cNvPr>
          <p:cNvSpPr>
            <a:spLocks noGrp="1"/>
          </p:cNvSpPr>
          <p:nvPr/>
        </p:nvSpPr>
        <p:spPr>
          <a:xfrm>
            <a:off x="6705600" y="1828800"/>
            <a:ext cx="4762500" cy="4676775"/>
          </a:xfrm>
          <a:prstGeom prst="rect">
            <a:avLst/>
          </a:prstGeom>
          <a:solidFill>
            <a:srgbClr val="BEDDFF"/>
          </a:solidFill>
          <a:ln w="0">
            <a:noFill/>
          </a:ln>
        </p:spPr>
      </p:sp>
      <p:sp>
        <p:nvSpPr>
          <p:cNvPr id="8" name="s7-7">
            <a:extLst>
              <a:ext uri="{FF2B5EF4-FFF2-40B4-BE49-F238E27FC236}">
                <a16:creationId xmlns:a16="http://schemas.microsoft.com/office/drawing/2014/main" id="{988F6F55-1F31-4070-8B00-865756472A74}"/>
              </a:ext>
            </a:extLst>
          </p:cNvPr>
          <p:cNvSpPr>
            <a:spLocks noGrp="1"/>
          </p:cNvSpPr>
          <p:nvPr/>
        </p:nvSpPr>
        <p:spPr>
          <a:xfrm>
            <a:off x="7010400" y="2085975"/>
            <a:ext cx="2667000" cy="352425"/>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REQUEST / 001</a:t>
            </a:r>
          </a:p>
        </p:txBody>
      </p:sp>
      <p:sp>
        <p:nvSpPr>
          <p:cNvPr id="9" name="s7-8">
            <a:extLst>
              <a:ext uri="{FF2B5EF4-FFF2-40B4-BE49-F238E27FC236}">
                <a16:creationId xmlns:a16="http://schemas.microsoft.com/office/drawing/2014/main" id="{09F36248-0A7D-4055-A7AC-080191129F66}"/>
              </a:ext>
            </a:extLst>
          </p:cNvPr>
          <p:cNvSpPr>
            <a:spLocks noGrp="1"/>
          </p:cNvSpPr>
          <p:nvPr/>
        </p:nvSpPr>
        <p:spPr>
          <a:xfrm>
            <a:off x="9963150" y="2143125"/>
            <a:ext cx="1381125" cy="228600"/>
          </a:xfrm>
          <a:prstGeom prst="rect">
            <a:avLst/>
          </a:prstGeom>
          <a:noFill/>
          <a:ln w="0">
            <a:noFill/>
          </a:ln>
        </p:spPr>
        <p:txBody>
          <a:bodyPr lIns="0" tIns="0" rIns="0" bIns="0">
            <a:noAutofit/>
          </a:bodyPr>
          <a:lstStyle>
            <a:defPPr>
              <a:defRPr sz="1050">
                <a:solidFill>
                  <a:srgbClr val="111F31"/>
                </a:solidFill>
                <a:latin typeface="Bahnschrift"/>
                <a:ea typeface="Bahnschrift"/>
                <a:cs typeface="Bahnschrift"/>
              </a:defRPr>
            </a:defPPr>
            <a:lvl1pPr>
              <a:defRPr sz="1050">
                <a:solidFill>
                  <a:srgbClr val="111F31"/>
                </a:solidFill>
                <a:latin typeface="Bahnschrift"/>
                <a:ea typeface="Bahnschrift"/>
                <a:cs typeface="Bahnschrift"/>
              </a:defRPr>
            </a:lvl1pPr>
            <a:lvl2pPr>
              <a:defRPr sz="1050">
                <a:solidFill>
                  <a:srgbClr val="111F31"/>
                </a:solidFill>
                <a:latin typeface="Bahnschrift"/>
                <a:ea typeface="Bahnschrift"/>
                <a:cs typeface="Bahnschrift"/>
              </a:defRPr>
            </a:lvl2pPr>
            <a:lvl3pPr>
              <a:defRPr sz="1050">
                <a:solidFill>
                  <a:srgbClr val="111F31"/>
                </a:solidFill>
                <a:latin typeface="Bahnschrift"/>
                <a:ea typeface="Bahnschrift"/>
                <a:cs typeface="Bahnschrift"/>
              </a:defRPr>
            </a:lvl3pPr>
            <a:lvl4pPr>
              <a:defRPr sz="1050">
                <a:solidFill>
                  <a:srgbClr val="111F31"/>
                </a:solidFill>
                <a:latin typeface="Bahnschrift"/>
                <a:ea typeface="Bahnschrift"/>
                <a:cs typeface="Bahnschrift"/>
              </a:defRPr>
            </a:lvl4pPr>
            <a:lvl5pPr>
              <a:defRPr sz="1050">
                <a:solidFill>
                  <a:srgbClr val="111F31"/>
                </a:solidFill>
                <a:latin typeface="Bahnschrift"/>
                <a:ea typeface="Bahnschrift"/>
                <a:cs typeface="Bahnschrift"/>
              </a:defRPr>
            </a:lvl5pPr>
            <a:lvl6pPr>
              <a:defRPr sz="1050">
                <a:solidFill>
                  <a:srgbClr val="111F31"/>
                </a:solidFill>
                <a:latin typeface="Bahnschrift"/>
                <a:ea typeface="Bahnschrift"/>
                <a:cs typeface="Bahnschrift"/>
              </a:defRPr>
            </a:lvl6pPr>
            <a:lvl7pPr>
              <a:defRPr sz="1050">
                <a:solidFill>
                  <a:srgbClr val="111F31"/>
                </a:solidFill>
                <a:latin typeface="Bahnschrift"/>
                <a:ea typeface="Bahnschrift"/>
                <a:cs typeface="Bahnschrift"/>
              </a:defRPr>
            </a:lvl7pPr>
            <a:lvl8pPr>
              <a:defRPr sz="1050">
                <a:solidFill>
                  <a:srgbClr val="111F31"/>
                </a:solidFill>
                <a:latin typeface="Bahnschrift"/>
                <a:ea typeface="Bahnschrift"/>
                <a:cs typeface="Bahnschrift"/>
              </a:defRPr>
            </a:lvl8pPr>
            <a:lvl9pPr>
              <a:defRPr sz="1050">
                <a:solidFill>
                  <a:srgbClr val="111F31"/>
                </a:solidFill>
                <a:latin typeface="Bahnschrift"/>
                <a:ea typeface="Bahnschrift"/>
                <a:cs typeface="Bahnschrift"/>
              </a:defRPr>
            </a:lvl9pPr>
          </a:lstStyle>
          <a:p>
            <a:pPr>
              <a:defRPr sz="1050">
                <a:solidFill>
                  <a:srgbClr val="111F31"/>
                </a:solidFill>
                <a:latin typeface="Bahnschrift"/>
                <a:ea typeface="Bahnschrift"/>
                <a:cs typeface="Bahnschrift"/>
              </a:defRPr>
            </a:pPr>
            <a:r>
              <a:rPr sz="1050">
                <a:solidFill>
                  <a:srgbClr val="111F31"/>
                </a:solidFill>
                <a:latin typeface="Bahnschrift"/>
                <a:ea typeface="Bahnschrift"/>
                <a:cs typeface="Bahnschrift"/>
              </a:rPr>
              <a:t>ILLUSTRATIVE</a:t>
            </a:r>
          </a:p>
        </p:txBody>
      </p:sp>
      <p:sp>
        <p:nvSpPr>
          <p:cNvPr id="10" name="s7-9">
            <a:extLst>
              <a:ext uri="{FF2B5EF4-FFF2-40B4-BE49-F238E27FC236}">
                <a16:creationId xmlns:a16="http://schemas.microsoft.com/office/drawing/2014/main" id="{5C8CA502-FA92-4E74-B9BA-2A086B0E69EF}"/>
              </a:ext>
            </a:extLst>
          </p:cNvPr>
          <p:cNvSpPr>
            <a:spLocks noGrp="1"/>
          </p:cNvSpPr>
          <p:nvPr/>
        </p:nvSpPr>
        <p:spPr>
          <a:xfrm>
            <a:off x="7010400" y="2609850"/>
            <a:ext cx="4152900" cy="9525"/>
          </a:xfrm>
          <a:prstGeom prst="rect">
            <a:avLst/>
          </a:prstGeom>
          <a:solidFill>
            <a:srgbClr val="111F31"/>
          </a:solidFill>
          <a:ln w="0">
            <a:noFill/>
          </a:ln>
        </p:spPr>
      </p:sp>
      <p:sp>
        <p:nvSpPr>
          <p:cNvPr id="11" name="s7-10">
            <a:extLst>
              <a:ext uri="{FF2B5EF4-FFF2-40B4-BE49-F238E27FC236}">
                <a16:creationId xmlns:a16="http://schemas.microsoft.com/office/drawing/2014/main" id="{EC6D8840-6584-4E20-B14D-815AE8BEED47}"/>
              </a:ext>
            </a:extLst>
          </p:cNvPr>
          <p:cNvSpPr>
            <a:spLocks noGrp="1"/>
          </p:cNvSpPr>
          <p:nvPr/>
        </p:nvSpPr>
        <p:spPr>
          <a:xfrm>
            <a:off x="7010400" y="2857500"/>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WHO</a:t>
            </a:r>
          </a:p>
        </p:txBody>
      </p:sp>
      <p:sp>
        <p:nvSpPr>
          <p:cNvPr id="12" name="s7-11">
            <a:extLst>
              <a:ext uri="{FF2B5EF4-FFF2-40B4-BE49-F238E27FC236}">
                <a16:creationId xmlns:a16="http://schemas.microsoft.com/office/drawing/2014/main" id="{A7CF5191-D915-498A-9DDA-8456CB95C241}"/>
              </a:ext>
            </a:extLst>
          </p:cNvPr>
          <p:cNvSpPr>
            <a:spLocks noGrp="1"/>
          </p:cNvSpPr>
          <p:nvPr/>
        </p:nvSpPr>
        <p:spPr>
          <a:xfrm>
            <a:off x="8439150" y="2800350"/>
            <a:ext cx="266700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Derek</a:t>
            </a:r>
          </a:p>
        </p:txBody>
      </p:sp>
      <p:sp>
        <p:nvSpPr>
          <p:cNvPr id="13" name="s7-12">
            <a:extLst>
              <a:ext uri="{FF2B5EF4-FFF2-40B4-BE49-F238E27FC236}">
                <a16:creationId xmlns:a16="http://schemas.microsoft.com/office/drawing/2014/main" id="{E7A1081F-C009-4810-9B57-B53457E4F767}"/>
              </a:ext>
            </a:extLst>
          </p:cNvPr>
          <p:cNvSpPr>
            <a:spLocks noGrp="1"/>
          </p:cNvSpPr>
          <p:nvPr/>
        </p:nvSpPr>
        <p:spPr>
          <a:xfrm>
            <a:off x="7010400" y="3457575"/>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WHAT</a:t>
            </a:r>
          </a:p>
        </p:txBody>
      </p:sp>
      <p:sp>
        <p:nvSpPr>
          <p:cNvPr id="14" name="s7-13">
            <a:extLst>
              <a:ext uri="{FF2B5EF4-FFF2-40B4-BE49-F238E27FC236}">
                <a16:creationId xmlns:a16="http://schemas.microsoft.com/office/drawing/2014/main" id="{F08333B0-C66B-4020-ABF4-36F4B1576F20}"/>
              </a:ext>
            </a:extLst>
          </p:cNvPr>
          <p:cNvSpPr>
            <a:spLocks noGrp="1"/>
          </p:cNvSpPr>
          <p:nvPr/>
        </p:nvSpPr>
        <p:spPr>
          <a:xfrm>
            <a:off x="8439150" y="3400425"/>
            <a:ext cx="276225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Laptop request</a:t>
            </a:r>
          </a:p>
        </p:txBody>
      </p:sp>
      <p:sp>
        <p:nvSpPr>
          <p:cNvPr id="15" name="s7-14">
            <a:extLst>
              <a:ext uri="{FF2B5EF4-FFF2-40B4-BE49-F238E27FC236}">
                <a16:creationId xmlns:a16="http://schemas.microsoft.com/office/drawing/2014/main" id="{161324E4-AEFB-4C54-8DA8-829EC1B07604}"/>
              </a:ext>
            </a:extLst>
          </p:cNvPr>
          <p:cNvSpPr>
            <a:spLocks noGrp="1"/>
          </p:cNvSpPr>
          <p:nvPr/>
        </p:nvSpPr>
        <p:spPr>
          <a:xfrm>
            <a:off x="7010400" y="4057650"/>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RESULT</a:t>
            </a:r>
          </a:p>
        </p:txBody>
      </p:sp>
      <p:sp>
        <p:nvSpPr>
          <p:cNvPr id="16" name="s7-15">
            <a:extLst>
              <a:ext uri="{FF2B5EF4-FFF2-40B4-BE49-F238E27FC236}">
                <a16:creationId xmlns:a16="http://schemas.microsoft.com/office/drawing/2014/main" id="{197EC67B-9531-460C-B521-6DBE0FA79C46}"/>
              </a:ext>
            </a:extLst>
          </p:cNvPr>
          <p:cNvSpPr>
            <a:spLocks noGrp="1"/>
          </p:cNvSpPr>
          <p:nvPr/>
        </p:nvSpPr>
        <p:spPr>
          <a:xfrm>
            <a:off x="8439150" y="4000500"/>
            <a:ext cx="266700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Eligible</a:t>
            </a:r>
          </a:p>
        </p:txBody>
      </p:sp>
      <p:sp>
        <p:nvSpPr>
          <p:cNvPr id="17" name="s7-16">
            <a:extLst>
              <a:ext uri="{FF2B5EF4-FFF2-40B4-BE49-F238E27FC236}">
                <a16:creationId xmlns:a16="http://schemas.microsoft.com/office/drawing/2014/main" id="{CA72688C-26B2-4E34-9958-F42B87C89C76}"/>
              </a:ext>
            </a:extLst>
          </p:cNvPr>
          <p:cNvSpPr>
            <a:spLocks noGrp="1"/>
          </p:cNvSpPr>
          <p:nvPr/>
        </p:nvSpPr>
        <p:spPr>
          <a:xfrm>
            <a:off x="7010400" y="4657725"/>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WHY</a:t>
            </a:r>
          </a:p>
        </p:txBody>
      </p:sp>
      <p:sp>
        <p:nvSpPr>
          <p:cNvPr id="18" name="s7-17">
            <a:extLst>
              <a:ext uri="{FF2B5EF4-FFF2-40B4-BE49-F238E27FC236}">
                <a16:creationId xmlns:a16="http://schemas.microsoft.com/office/drawing/2014/main" id="{48202A37-D389-43E3-8898-355AB1077F33}"/>
              </a:ext>
            </a:extLst>
          </p:cNvPr>
          <p:cNvSpPr>
            <a:spLocks noGrp="1"/>
          </p:cNvSpPr>
          <p:nvPr/>
        </p:nvSpPr>
        <p:spPr>
          <a:xfrm>
            <a:off x="8439150" y="4600575"/>
            <a:ext cx="2762250" cy="78105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Budget, RAM, and</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vendor checks pass.</a:t>
            </a:r>
          </a:p>
        </p:txBody>
      </p:sp>
      <p:sp>
        <p:nvSpPr>
          <p:cNvPr id="19" name="s7-18">
            <a:extLst>
              <a:ext uri="{FF2B5EF4-FFF2-40B4-BE49-F238E27FC236}">
                <a16:creationId xmlns:a16="http://schemas.microsoft.com/office/drawing/2014/main" id="{EC918779-1C3F-4D9F-A198-45B10FCAF499}"/>
              </a:ext>
            </a:extLst>
          </p:cNvPr>
          <p:cNvSpPr>
            <a:spLocks noGrp="1"/>
          </p:cNvSpPr>
          <p:nvPr/>
        </p:nvSpPr>
        <p:spPr>
          <a:xfrm>
            <a:off x="7010400" y="5534025"/>
            <a:ext cx="4152900" cy="9525"/>
          </a:xfrm>
          <a:prstGeom prst="rect">
            <a:avLst/>
          </a:prstGeom>
          <a:solidFill>
            <a:srgbClr val="111F31"/>
          </a:solidFill>
          <a:ln w="0">
            <a:noFill/>
          </a:ln>
        </p:spPr>
      </p:sp>
      <p:sp>
        <p:nvSpPr>
          <p:cNvPr id="20" name="s7-19">
            <a:extLst>
              <a:ext uri="{FF2B5EF4-FFF2-40B4-BE49-F238E27FC236}">
                <a16:creationId xmlns:a16="http://schemas.microsoft.com/office/drawing/2014/main" id="{697CC9CE-6E5C-463F-86DB-94127EA205B6}"/>
              </a:ext>
            </a:extLst>
          </p:cNvPr>
          <p:cNvSpPr>
            <a:spLocks noGrp="1"/>
          </p:cNvSpPr>
          <p:nvPr/>
        </p:nvSpPr>
        <p:spPr>
          <a:xfrm>
            <a:off x="7029450" y="5791200"/>
            <a:ext cx="4191000" cy="59055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Approvals and denials stay on record,</a:t>
            </a:r>
          </a:p>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with submitter and proof-based reason.</a:t>
            </a:r>
          </a:p>
        </p:txBody>
      </p:sp>
      <p:pic>
        <p:nvPicPr>
          <p:cNvPr id="21" name="Graphic 20">
            <a:extLst>
              <a:ext uri="{FF2B5EF4-FFF2-40B4-BE49-F238E27FC236}">
                <a16:creationId xmlns:a16="http://schemas.microsoft.com/office/drawing/2014/main" id="{7A36231B-D071-483C-9B67-99D01336BBC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712730331"/>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850"/>
                                        <p:tgtEl>
                                          <p:spTgt spid="22"/>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2"/>
                                        </p:tgtEl>
                                        <p:attrNameLst>
                                          <p:attrName>style.visibility</p:attrName>
                                        </p:attrNameLst>
                                      </p:cBhvr>
                                      <p:to>
                                        <p:strVal val="visible"/>
                                      </p:to>
                                    </p:set>
                                    <p:animMotion origin="layout" pathEditMode="relative">
                                      <p:cBhvr from="" to="">
                                        <p:cTn id="10" dur="850" fill="hold">
                                          <p:stCondLst>
                                            <p:cond delay="0"/>
                                          </p:stCondLst>
                                        </p:cTn>
                                        <p:tgtEl>
                                          <p:spTgt spid="22"/>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850"/>
                                        <p:tgtEl>
                                          <p:spTgt spid="11"/>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1"/>
                                        </p:tgtEl>
                                        <p:attrNameLst>
                                          <p:attrName>style.visibility</p:attrName>
                                        </p:attrNameLst>
                                      </p:cBhvr>
                                      <p:to>
                                        <p:strVal val="visible"/>
                                      </p:to>
                                    </p:set>
                                    <p:animMotion origin="layout" pathEditMode="relative">
                                      <p:cBhvr from="" to="">
                                        <p:cTn id="58" dur="850" fill="hold">
                                          <p:stCondLst>
                                            <p:cond delay="0"/>
                                          </p:stCondLst>
                                        </p:cTn>
                                        <p:tgtEl>
                                          <p:spTgt spid="11"/>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850"/>
                                        <p:tgtEl>
                                          <p:spTgt spid="12"/>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2"/>
                                        </p:tgtEl>
                                        <p:attrNameLst>
                                          <p:attrName>style.visibility</p:attrName>
                                        </p:attrNameLst>
                                      </p:cBhvr>
                                      <p:to>
                                        <p:strVal val="visible"/>
                                      </p:to>
                                    </p:set>
                                    <p:animMotion origin="layout" pathEditMode="relative">
                                      <p:cBhvr from="" to="">
                                        <p:cTn id="64" dur="850" fill="hold">
                                          <p:stCondLst>
                                            <p:cond delay="0"/>
                                          </p:stCondLst>
                                        </p:cTn>
                                        <p:tgtEl>
                                          <p:spTgt spid="12"/>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850"/>
                                        <p:tgtEl>
                                          <p:spTgt spid="13"/>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3"/>
                                        </p:tgtEl>
                                        <p:attrNameLst>
                                          <p:attrName>style.visibility</p:attrName>
                                        </p:attrNameLst>
                                      </p:cBhvr>
                                      <p:to>
                                        <p:strVal val="visible"/>
                                      </p:to>
                                    </p:set>
                                    <p:animMotion origin="layout" pathEditMode="relative">
                                      <p:cBhvr from="" to="">
                                        <p:cTn id="70" dur="850" fill="hold">
                                          <p:stCondLst>
                                            <p:cond delay="0"/>
                                          </p:stCondLst>
                                        </p:cTn>
                                        <p:tgtEl>
                                          <p:spTgt spid="13"/>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grpId="0" nodeType="withEffect">
                                  <p:stCondLst>
                                    <p:cond delay="65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850"/>
                                        <p:tgtEl>
                                          <p:spTgt spid="20"/>
                                        </p:tgtEl>
                                      </p:cBhvr>
                                    </p:animEffect>
                                  </p:childTnLst>
                                </p:cTn>
                              </p:par>
                              <p:par>
                                <p:cTn id="104" presetID="0" presetClass="entr" presetSubtype="0" decel="80000" fill="hold" grpId="1" nodeType="withEffect">
                                  <p:stCondLst>
                                    <p:cond delay="650"/>
                                  </p:stCondLst>
                                  <p:childTnLst>
                                    <p:set>
                                      <p:cBhvr>
                                        <p:cTn id="105" dur="1" fill="hold">
                                          <p:stCondLst>
                                            <p:cond delay="849"/>
                                          </p:stCondLst>
                                        </p:cTn>
                                        <p:tgtEl>
                                          <p:spTgt spid="20"/>
                                        </p:tgtEl>
                                        <p:attrNameLst>
                                          <p:attrName>style.visibility</p:attrName>
                                        </p:attrNameLst>
                                      </p:cBhvr>
                                      <p:to>
                                        <p:strVal val="visible"/>
                                      </p:to>
                                    </p:set>
                                    <p:animMotion origin="layout" pathEditMode="relative">
                                      <p:cBhvr from="" to="">
                                        <p:cTn id="106" dur="850" fill="hold">
                                          <p:stCondLst>
                                            <p:cond delay="0"/>
                                          </p:stCondLst>
                                        </p:cTn>
                                        <p:tgtEl>
                                          <p:spTgt spid="20"/>
                                        </p:tgtEl>
                                        <p:attrNameLst>
                                          <p:attrName>ppt_x</p:attrName>
                                          <p:attrName>ppt_y</p:attrName>
                                        </p:attrNameLst>
                                      </p:cBhvr>
                                      <p:from x="0" y="25"/>
                                      <p:to x="0" y="0"/>
                                    </p:animMotion>
                                  </p:childTnLst>
                                </p:cTn>
                              </p:par>
                              <p:par>
                                <p:cTn id="107" presetID="10" presetClass="entr" presetSubtype="0" fill="hold" nodeType="withEffect">
                                  <p:stCondLst>
                                    <p:cond delay="650"/>
                                  </p:stCondLst>
                                  <p:childTnLst>
                                    <p:set>
                                      <p:cBhvr>
                                        <p:cTn id="108" dur="1" fill="hold">
                                          <p:stCondLst>
                                            <p:cond delay="0"/>
                                          </p:stCondLst>
                                        </p:cTn>
                                        <p:tgtEl>
                                          <p:spTgt spid="21"/>
                                        </p:tgtEl>
                                        <p:attrNameLst>
                                          <p:attrName>style.visibility</p:attrName>
                                        </p:attrNameLst>
                                      </p:cBhvr>
                                      <p:to>
                                        <p:strVal val="visible"/>
                                      </p:to>
                                    </p:set>
                                    <p:animEffect transition="in" filter="fade">
                                      <p:cBhvr>
                                        <p:cTn id="109" dur="850"/>
                                        <p:tgtEl>
                                          <p:spTgt spid="21"/>
                                        </p:tgtEl>
                                      </p:cBhvr>
                                    </p:animEffect>
                                  </p:childTnLst>
                                </p:cTn>
                              </p:par>
                              <p:par>
                                <p:cTn id="110" presetID="0" presetClass="entr" presetSubtype="0" decel="80000" fill="hold" nodeType="withEffect">
                                  <p:stCondLst>
                                    <p:cond delay="650"/>
                                  </p:stCondLst>
                                  <p:childTnLst>
                                    <p:set>
                                      <p:cBhvr>
                                        <p:cTn id="111" dur="1" fill="hold">
                                          <p:stCondLst>
                                            <p:cond delay="849"/>
                                          </p:stCondLst>
                                        </p:cTn>
                                        <p:tgtEl>
                                          <p:spTgt spid="21"/>
                                        </p:tgtEl>
                                        <p:attrNameLst>
                                          <p:attrName>style.visibility</p:attrName>
                                        </p:attrNameLst>
                                      </p:cBhvr>
                                      <p:to>
                                        <p:strVal val="visible"/>
                                      </p:to>
                                    </p:set>
                                    <p:animMotion origin="layout" pathEditMode="relative">
                                      <p:cBhvr from="" to="">
                                        <p:cTn id="112" dur="850" fill="hold">
                                          <p:stCondLst>
                                            <p:cond delay="0"/>
                                          </p:stCondLst>
                                        </p:cTn>
                                        <p:tgtEl>
                                          <p:spTgt spid="21"/>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20" grpId="0"/>
      <p:bldP spid="20"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8-0">
            <a:extLst>
              <a:ext uri="{FF2B5EF4-FFF2-40B4-BE49-F238E27FC236}">
                <a16:creationId xmlns:a16="http://schemas.microsoft.com/office/drawing/2014/main" id="{5FAC30D3-58F0-4518-95CD-BC669EE042FD}"/>
              </a:ext>
            </a:extLst>
          </p:cNvPr>
          <p:cNvSpPr>
            <a:spLocks noGrp="1"/>
          </p:cNvSpPr>
          <p:nvPr/>
        </p:nvSpPr>
        <p:spPr>
          <a:xfrm>
            <a:off x="723900" y="590550"/>
            <a:ext cx="9810750" cy="857250"/>
          </a:xfrm>
          <a:prstGeom prst="rect">
            <a:avLst/>
          </a:prstGeom>
          <a:noFill/>
          <a:ln w="0">
            <a:noFill/>
          </a:ln>
        </p:spPr>
        <p:txBody>
          <a:bodyPr lIns="0" tIns="0" rIns="0" bIns="0">
            <a:noAutofit/>
          </a:bodyPr>
          <a:lstStyle>
            <a:defPPr>
              <a:defRPr sz="4500">
                <a:solidFill>
                  <a:srgbClr val="111F31"/>
                </a:solidFill>
                <a:latin typeface="Times New Roman"/>
                <a:ea typeface="Times New Roman"/>
                <a:cs typeface="Times New Roman"/>
              </a:defRPr>
            </a:defPPr>
            <a:lvl1pPr>
              <a:defRPr sz="4500">
                <a:solidFill>
                  <a:srgbClr val="111F31"/>
                </a:solidFill>
                <a:latin typeface="Times New Roman"/>
                <a:ea typeface="Times New Roman"/>
                <a:cs typeface="Times New Roman"/>
              </a:defRPr>
            </a:lvl1pPr>
            <a:lvl2pPr>
              <a:defRPr sz="4500">
                <a:solidFill>
                  <a:srgbClr val="111F31"/>
                </a:solidFill>
                <a:latin typeface="Times New Roman"/>
                <a:ea typeface="Times New Roman"/>
                <a:cs typeface="Times New Roman"/>
              </a:defRPr>
            </a:lvl2pPr>
            <a:lvl3pPr>
              <a:defRPr sz="4500">
                <a:solidFill>
                  <a:srgbClr val="111F31"/>
                </a:solidFill>
                <a:latin typeface="Times New Roman"/>
                <a:ea typeface="Times New Roman"/>
                <a:cs typeface="Times New Roman"/>
              </a:defRPr>
            </a:lvl3pPr>
            <a:lvl4pPr>
              <a:defRPr sz="4500">
                <a:solidFill>
                  <a:srgbClr val="111F31"/>
                </a:solidFill>
                <a:latin typeface="Times New Roman"/>
                <a:ea typeface="Times New Roman"/>
                <a:cs typeface="Times New Roman"/>
              </a:defRPr>
            </a:lvl4pPr>
            <a:lvl5pPr>
              <a:defRPr sz="4500">
                <a:solidFill>
                  <a:srgbClr val="111F31"/>
                </a:solidFill>
                <a:latin typeface="Times New Roman"/>
                <a:ea typeface="Times New Roman"/>
                <a:cs typeface="Times New Roman"/>
              </a:defRPr>
            </a:lvl5pPr>
            <a:lvl6pPr>
              <a:defRPr sz="4500">
                <a:solidFill>
                  <a:srgbClr val="111F31"/>
                </a:solidFill>
                <a:latin typeface="Times New Roman"/>
                <a:ea typeface="Times New Roman"/>
                <a:cs typeface="Times New Roman"/>
              </a:defRPr>
            </a:lvl6pPr>
            <a:lvl7pPr>
              <a:defRPr sz="4500">
                <a:solidFill>
                  <a:srgbClr val="111F31"/>
                </a:solidFill>
                <a:latin typeface="Times New Roman"/>
                <a:ea typeface="Times New Roman"/>
                <a:cs typeface="Times New Roman"/>
              </a:defRPr>
            </a:lvl7pPr>
            <a:lvl8pPr>
              <a:defRPr sz="4500">
                <a:solidFill>
                  <a:srgbClr val="111F31"/>
                </a:solidFill>
                <a:latin typeface="Times New Roman"/>
                <a:ea typeface="Times New Roman"/>
                <a:cs typeface="Times New Roman"/>
              </a:defRPr>
            </a:lvl8pPr>
            <a:lvl9pPr>
              <a:defRPr sz="4500">
                <a:solidFill>
                  <a:srgbClr val="111F31"/>
                </a:solidFill>
                <a:latin typeface="Times New Roman"/>
                <a:ea typeface="Times New Roman"/>
                <a:cs typeface="Times New Roman"/>
              </a:defRPr>
            </a:lvl9pPr>
          </a:lstStyle>
          <a:p>
            <a:pPr>
              <a:defRPr sz="4500">
                <a:solidFill>
                  <a:srgbClr val="111F31"/>
                </a:solidFill>
                <a:latin typeface="Times New Roman"/>
                <a:ea typeface="Times New Roman"/>
                <a:cs typeface="Times New Roman"/>
              </a:defRPr>
            </a:pPr>
            <a:r>
              <a:rPr sz="4500">
                <a:solidFill>
                  <a:srgbClr val="111F31"/>
                </a:solidFill>
                <a:latin typeface="Times New Roman"/>
                <a:ea typeface="Times New Roman"/>
                <a:cs typeface="Times New Roman"/>
              </a:rPr>
              <a:t>The opportunity in procurement</a:t>
            </a:r>
          </a:p>
        </p:txBody>
      </p:sp>
      <p:sp>
        <p:nvSpPr>
          <p:cNvPr id="2" name="s8-1">
            <a:extLst>
              <a:ext uri="{FF2B5EF4-FFF2-40B4-BE49-F238E27FC236}">
                <a16:creationId xmlns:a16="http://schemas.microsoft.com/office/drawing/2014/main" id="{28BD36B3-E704-4C02-A927-4793E2ADEEB6}"/>
              </a:ext>
            </a:extLst>
          </p:cNvPr>
          <p:cNvSpPr>
            <a:spLocks noGrp="1"/>
          </p:cNvSpPr>
          <p:nvPr/>
        </p:nvSpPr>
        <p:spPr>
          <a:xfrm>
            <a:off x="781050" y="1619250"/>
            <a:ext cx="352425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PROCUREMENT SOFTWARE</a:t>
            </a:r>
          </a:p>
        </p:txBody>
      </p:sp>
      <p:sp>
        <p:nvSpPr>
          <p:cNvPr id="3" name="s8-2">
            <a:extLst>
              <a:ext uri="{FF2B5EF4-FFF2-40B4-BE49-F238E27FC236}">
                <a16:creationId xmlns:a16="http://schemas.microsoft.com/office/drawing/2014/main" id="{34F3BE6F-E766-47D7-A542-B52820912029}"/>
              </a:ext>
            </a:extLst>
          </p:cNvPr>
          <p:cNvSpPr>
            <a:spLocks noGrp="1"/>
          </p:cNvSpPr>
          <p:nvPr/>
        </p:nvSpPr>
        <p:spPr>
          <a:xfrm>
            <a:off x="742950" y="1952625"/>
            <a:ext cx="3524250"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$10.9B</a:t>
            </a:r>
          </a:p>
        </p:txBody>
      </p:sp>
      <p:sp>
        <p:nvSpPr>
          <p:cNvPr id="4" name="s8-3">
            <a:hlinkClick r:id="rId3"/>
            <a:extLst>
              <a:ext uri="{FF2B5EF4-FFF2-40B4-BE49-F238E27FC236}">
                <a16:creationId xmlns:a16="http://schemas.microsoft.com/office/drawing/2014/main" id="{29EFC8E6-70C8-4BA3-8D46-11216D880D0B}"/>
              </a:ext>
            </a:extLst>
          </p:cNvPr>
          <p:cNvSpPr>
            <a:spLocks noGrp="1"/>
          </p:cNvSpPr>
          <p:nvPr/>
        </p:nvSpPr>
        <p:spPr>
          <a:xfrm>
            <a:off x="781050" y="2743200"/>
            <a:ext cx="352425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[Grand View Research]</a:t>
            </a:r>
          </a:p>
        </p:txBody>
      </p:sp>
      <p:sp>
        <p:nvSpPr>
          <p:cNvPr id="5" name="s8-4">
            <a:extLst>
              <a:ext uri="{FF2B5EF4-FFF2-40B4-BE49-F238E27FC236}">
                <a16:creationId xmlns:a16="http://schemas.microsoft.com/office/drawing/2014/main" id="{FD9C4215-B90A-4929-A0EC-E173D99780C6}"/>
              </a:ext>
            </a:extLst>
          </p:cNvPr>
          <p:cNvSpPr>
            <a:spLocks noGrp="1"/>
          </p:cNvSpPr>
          <p:nvPr/>
        </p:nvSpPr>
        <p:spPr>
          <a:xfrm>
            <a:off x="781050" y="3114675"/>
            <a:ext cx="3476625"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Global market, 2026 estimate</a:t>
            </a:r>
          </a:p>
        </p:txBody>
      </p:sp>
      <p:sp>
        <p:nvSpPr>
          <p:cNvPr id="6" name="s8-5">
            <a:extLst>
              <a:ext uri="{FF2B5EF4-FFF2-40B4-BE49-F238E27FC236}">
                <a16:creationId xmlns:a16="http://schemas.microsoft.com/office/drawing/2014/main" id="{9F6557D0-82A6-4574-822A-FE3309013743}"/>
              </a:ext>
            </a:extLst>
          </p:cNvPr>
          <p:cNvSpPr>
            <a:spLocks noGrp="1"/>
          </p:cNvSpPr>
          <p:nvPr/>
        </p:nvSpPr>
        <p:spPr>
          <a:xfrm>
            <a:off x="781050" y="3714750"/>
            <a:ext cx="3524250" cy="238125"/>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Broader than PO software alone.</a:t>
            </a:r>
          </a:p>
        </p:txBody>
      </p:sp>
      <p:sp>
        <p:nvSpPr>
          <p:cNvPr id="7" name="s8-6">
            <a:extLst>
              <a:ext uri="{FF2B5EF4-FFF2-40B4-BE49-F238E27FC236}">
                <a16:creationId xmlns:a16="http://schemas.microsoft.com/office/drawing/2014/main" id="{630D6D1E-8E8C-4303-8A36-DBA22C8159E7}"/>
              </a:ext>
            </a:extLst>
          </p:cNvPr>
          <p:cNvSpPr>
            <a:spLocks noGrp="1"/>
          </p:cNvSpPr>
          <p:nvPr/>
        </p:nvSpPr>
        <p:spPr>
          <a:xfrm>
            <a:off x="4324350" y="1619250"/>
            <a:ext cx="9525" cy="2286000"/>
          </a:xfrm>
          <a:prstGeom prst="rect">
            <a:avLst/>
          </a:prstGeom>
          <a:solidFill>
            <a:srgbClr val="BEDDFF"/>
          </a:solidFill>
          <a:ln w="0">
            <a:noFill/>
          </a:ln>
        </p:spPr>
      </p:sp>
      <p:sp>
        <p:nvSpPr>
          <p:cNvPr id="8" name="s8-7">
            <a:extLst>
              <a:ext uri="{FF2B5EF4-FFF2-40B4-BE49-F238E27FC236}">
                <a16:creationId xmlns:a16="http://schemas.microsoft.com/office/drawing/2014/main" id="{79610180-CB95-4BBF-83F4-2F76673D2BB8}"/>
              </a:ext>
            </a:extLst>
          </p:cNvPr>
          <p:cNvSpPr>
            <a:spLocks noGrp="1"/>
          </p:cNvSpPr>
          <p:nvPr/>
        </p:nvSpPr>
        <p:spPr>
          <a:xfrm>
            <a:off x="4705350" y="1619250"/>
            <a:ext cx="3095625"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AGENT ADOPTION</a:t>
            </a:r>
          </a:p>
        </p:txBody>
      </p:sp>
      <p:sp>
        <p:nvSpPr>
          <p:cNvPr id="9" name="s8-8">
            <a:extLst>
              <a:ext uri="{FF2B5EF4-FFF2-40B4-BE49-F238E27FC236}">
                <a16:creationId xmlns:a16="http://schemas.microsoft.com/office/drawing/2014/main" id="{411105F9-F7B8-4366-AB5A-7DE8CBF32019}"/>
              </a:ext>
            </a:extLst>
          </p:cNvPr>
          <p:cNvSpPr>
            <a:spLocks noGrp="1"/>
          </p:cNvSpPr>
          <p:nvPr/>
        </p:nvSpPr>
        <p:spPr>
          <a:xfrm>
            <a:off x="4667250" y="1952625"/>
            <a:ext cx="3190875"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40%</a:t>
            </a:r>
          </a:p>
        </p:txBody>
      </p:sp>
      <p:sp>
        <p:nvSpPr>
          <p:cNvPr id="10" name="s8-9">
            <a:hlinkClick r:id="rId4"/>
            <a:extLst>
              <a:ext uri="{FF2B5EF4-FFF2-40B4-BE49-F238E27FC236}">
                <a16:creationId xmlns:a16="http://schemas.microsoft.com/office/drawing/2014/main" id="{6C2E956F-9AEC-492E-9394-636CF691AD71}"/>
              </a:ext>
            </a:extLst>
          </p:cNvPr>
          <p:cNvSpPr>
            <a:spLocks noGrp="1"/>
          </p:cNvSpPr>
          <p:nvPr/>
        </p:nvSpPr>
        <p:spPr>
          <a:xfrm>
            <a:off x="4705350" y="2743200"/>
            <a:ext cx="3095625"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[McKinsey]</a:t>
            </a:r>
          </a:p>
        </p:txBody>
      </p:sp>
      <p:sp>
        <p:nvSpPr>
          <p:cNvPr id="11" name="s8-10">
            <a:extLst>
              <a:ext uri="{FF2B5EF4-FFF2-40B4-BE49-F238E27FC236}">
                <a16:creationId xmlns:a16="http://schemas.microsoft.com/office/drawing/2014/main" id="{12E8346E-2693-4E41-8261-BB9D5C642357}"/>
              </a:ext>
            </a:extLst>
          </p:cNvPr>
          <p:cNvSpPr>
            <a:spLocks noGrp="1"/>
          </p:cNvSpPr>
          <p:nvPr/>
        </p:nvSpPr>
        <p:spPr>
          <a:xfrm>
            <a:off x="4705350" y="3114675"/>
            <a:ext cx="3143250"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Large firms scaling agents</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in at least one function</a:t>
            </a:r>
          </a:p>
        </p:txBody>
      </p:sp>
      <p:sp>
        <p:nvSpPr>
          <p:cNvPr id="12" name="s8-11">
            <a:extLst>
              <a:ext uri="{FF2B5EF4-FFF2-40B4-BE49-F238E27FC236}">
                <a16:creationId xmlns:a16="http://schemas.microsoft.com/office/drawing/2014/main" id="{F8C4A89C-9040-4576-BAFE-61702E45D34F}"/>
              </a:ext>
            </a:extLst>
          </p:cNvPr>
          <p:cNvSpPr>
            <a:spLocks noGrp="1"/>
          </p:cNvSpPr>
          <p:nvPr/>
        </p:nvSpPr>
        <p:spPr>
          <a:xfrm>
            <a:off x="4705350" y="3714750"/>
            <a:ext cx="3190875" cy="238125"/>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Firms with &gt;$1B annual revenue.</a:t>
            </a:r>
          </a:p>
        </p:txBody>
      </p:sp>
      <p:sp>
        <p:nvSpPr>
          <p:cNvPr id="13" name="s8-12">
            <a:extLst>
              <a:ext uri="{FF2B5EF4-FFF2-40B4-BE49-F238E27FC236}">
                <a16:creationId xmlns:a16="http://schemas.microsoft.com/office/drawing/2014/main" id="{89A1F58F-6233-463A-AB76-CCB2FFAEFFD4}"/>
              </a:ext>
            </a:extLst>
          </p:cNvPr>
          <p:cNvSpPr>
            <a:spLocks noGrp="1"/>
          </p:cNvSpPr>
          <p:nvPr/>
        </p:nvSpPr>
        <p:spPr>
          <a:xfrm>
            <a:off x="8096250" y="1619250"/>
            <a:ext cx="9525" cy="2286000"/>
          </a:xfrm>
          <a:prstGeom prst="rect">
            <a:avLst/>
          </a:prstGeom>
          <a:solidFill>
            <a:srgbClr val="BEDDFF"/>
          </a:solidFill>
          <a:ln w="0">
            <a:noFill/>
          </a:ln>
        </p:spPr>
      </p:sp>
      <p:sp>
        <p:nvSpPr>
          <p:cNvPr id="14" name="s8-13">
            <a:extLst>
              <a:ext uri="{FF2B5EF4-FFF2-40B4-BE49-F238E27FC236}">
                <a16:creationId xmlns:a16="http://schemas.microsoft.com/office/drawing/2014/main" id="{208A83B8-6A93-4983-87D5-0DFB6FA1AE2E}"/>
              </a:ext>
            </a:extLst>
          </p:cNvPr>
          <p:cNvSpPr>
            <a:spLocks noGrp="1"/>
          </p:cNvSpPr>
          <p:nvPr/>
        </p:nvSpPr>
        <p:spPr>
          <a:xfrm>
            <a:off x="8477250" y="1619250"/>
            <a:ext cx="304800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AI VALUE REALIZED</a:t>
            </a:r>
          </a:p>
        </p:txBody>
      </p:sp>
      <p:sp>
        <p:nvSpPr>
          <p:cNvPr id="15" name="s8-14">
            <a:extLst>
              <a:ext uri="{FF2B5EF4-FFF2-40B4-BE49-F238E27FC236}">
                <a16:creationId xmlns:a16="http://schemas.microsoft.com/office/drawing/2014/main" id="{C96897E9-7BF2-40F4-B5BE-6EE951A6EE90}"/>
              </a:ext>
            </a:extLst>
          </p:cNvPr>
          <p:cNvSpPr>
            <a:spLocks noGrp="1"/>
          </p:cNvSpPr>
          <p:nvPr/>
        </p:nvSpPr>
        <p:spPr>
          <a:xfrm>
            <a:off x="8439150" y="1952625"/>
            <a:ext cx="3095625"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6%</a:t>
            </a:r>
          </a:p>
        </p:txBody>
      </p:sp>
      <p:sp>
        <p:nvSpPr>
          <p:cNvPr id="16" name="s8-15">
            <a:hlinkClick r:id="rId4"/>
            <a:extLst>
              <a:ext uri="{FF2B5EF4-FFF2-40B4-BE49-F238E27FC236}">
                <a16:creationId xmlns:a16="http://schemas.microsoft.com/office/drawing/2014/main" id="{D79B4B67-F2BC-4CCB-A866-86075CCA45E1}"/>
              </a:ext>
            </a:extLst>
          </p:cNvPr>
          <p:cNvSpPr>
            <a:spLocks noGrp="1"/>
          </p:cNvSpPr>
          <p:nvPr/>
        </p:nvSpPr>
        <p:spPr>
          <a:xfrm>
            <a:off x="8477250" y="2743200"/>
            <a:ext cx="304800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[McKinsey]</a:t>
            </a:r>
          </a:p>
        </p:txBody>
      </p:sp>
      <p:sp>
        <p:nvSpPr>
          <p:cNvPr id="17" name="s8-16">
            <a:extLst>
              <a:ext uri="{FF2B5EF4-FFF2-40B4-BE49-F238E27FC236}">
                <a16:creationId xmlns:a16="http://schemas.microsoft.com/office/drawing/2014/main" id="{8A1501E7-6B8B-454D-8A5E-C641FE6EE561}"/>
              </a:ext>
            </a:extLst>
          </p:cNvPr>
          <p:cNvSpPr>
            <a:spLocks noGrp="1"/>
          </p:cNvSpPr>
          <p:nvPr/>
        </p:nvSpPr>
        <p:spPr>
          <a:xfrm>
            <a:off x="8477250" y="3114675"/>
            <a:ext cx="3048000"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Respondents qualifying</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as AI high performers</a:t>
            </a:r>
          </a:p>
        </p:txBody>
      </p:sp>
      <p:sp>
        <p:nvSpPr>
          <p:cNvPr id="18" name="s8-17">
            <a:extLst>
              <a:ext uri="{FF2B5EF4-FFF2-40B4-BE49-F238E27FC236}">
                <a16:creationId xmlns:a16="http://schemas.microsoft.com/office/drawing/2014/main" id="{D6AEFB04-5CD0-4AD8-9538-5A04094FF14F}"/>
              </a:ext>
            </a:extLst>
          </p:cNvPr>
          <p:cNvSpPr>
            <a:spLocks noGrp="1"/>
          </p:cNvSpPr>
          <p:nvPr/>
        </p:nvSpPr>
        <p:spPr>
          <a:xfrm>
            <a:off x="8477250" y="3714750"/>
            <a:ext cx="304800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≥5% EBIT impact + significant value</a:t>
            </a:r>
          </a:p>
        </p:txBody>
      </p:sp>
      <p:sp>
        <p:nvSpPr>
          <p:cNvPr id="19" name="s8-18">
            <a:extLst>
              <a:ext uri="{FF2B5EF4-FFF2-40B4-BE49-F238E27FC236}">
                <a16:creationId xmlns:a16="http://schemas.microsoft.com/office/drawing/2014/main" id="{E6053746-BF17-4612-897D-6ABDD05B4FFC}"/>
              </a:ext>
            </a:extLst>
          </p:cNvPr>
          <p:cNvSpPr>
            <a:spLocks noGrp="1"/>
          </p:cNvSpPr>
          <p:nvPr/>
        </p:nvSpPr>
        <p:spPr>
          <a:xfrm>
            <a:off x="0" y="4210050"/>
            <a:ext cx="12192000" cy="2647950"/>
          </a:xfrm>
          <a:prstGeom prst="rect">
            <a:avLst/>
          </a:prstGeom>
          <a:solidFill>
            <a:srgbClr val="BEDDFF"/>
          </a:solidFill>
          <a:ln w="0">
            <a:noFill/>
          </a:ln>
        </p:spPr>
      </p:sp>
      <p:sp>
        <p:nvSpPr>
          <p:cNvPr id="20" name="s8-19">
            <a:extLst>
              <a:ext uri="{FF2B5EF4-FFF2-40B4-BE49-F238E27FC236}">
                <a16:creationId xmlns:a16="http://schemas.microsoft.com/office/drawing/2014/main" id="{7AADE43F-CBF5-4AF3-B010-FF9A58093D10}"/>
              </a:ext>
            </a:extLst>
          </p:cNvPr>
          <p:cNvSpPr>
            <a:spLocks noGrp="1"/>
          </p:cNvSpPr>
          <p:nvPr/>
        </p:nvSpPr>
        <p:spPr>
          <a:xfrm>
            <a:off x="781050" y="4419600"/>
            <a:ext cx="1057275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NEXT EXPANSION STEPS</a:t>
            </a:r>
          </a:p>
        </p:txBody>
      </p:sp>
      <p:sp>
        <p:nvSpPr>
          <p:cNvPr id="21" name="s8-20">
            <a:extLst>
              <a:ext uri="{FF2B5EF4-FFF2-40B4-BE49-F238E27FC236}">
                <a16:creationId xmlns:a16="http://schemas.microsoft.com/office/drawing/2014/main" id="{6A172EEA-66B6-4371-81A4-8A35FD085042}"/>
              </a:ext>
            </a:extLst>
          </p:cNvPr>
          <p:cNvSpPr>
            <a:spLocks noGrp="1"/>
          </p:cNvSpPr>
          <p:nvPr/>
        </p:nvSpPr>
        <p:spPr>
          <a:xfrm>
            <a:off x="781050" y="4876800"/>
            <a:ext cx="32385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01 / Win finance teams</a:t>
            </a:r>
          </a:p>
        </p:txBody>
      </p:sp>
      <p:sp>
        <p:nvSpPr>
          <p:cNvPr id="22" name="s8-21">
            <a:extLst>
              <a:ext uri="{FF2B5EF4-FFF2-40B4-BE49-F238E27FC236}">
                <a16:creationId xmlns:a16="http://schemas.microsoft.com/office/drawing/2014/main" id="{CFFF7BAB-FADB-4242-99D1-C8CB7FE065D7}"/>
              </a:ext>
            </a:extLst>
          </p:cNvPr>
          <p:cNvSpPr>
            <a:spLocks noGrp="1"/>
          </p:cNvSpPr>
          <p:nvPr/>
        </p:nvSpPr>
        <p:spPr>
          <a:xfrm>
            <a:off x="781050" y="5400675"/>
            <a:ext cx="32385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Start with routine IT purchases.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Sell faster approvals and</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traceable decisions.</a:t>
            </a:r>
          </a:p>
        </p:txBody>
      </p:sp>
      <p:sp>
        <p:nvSpPr>
          <p:cNvPr id="23" name="s8-22">
            <a:extLst>
              <a:ext uri="{FF2B5EF4-FFF2-40B4-BE49-F238E27FC236}">
                <a16:creationId xmlns:a16="http://schemas.microsoft.com/office/drawing/2014/main" id="{AD200F9B-B920-4EBF-82B1-D80821BC6CDF}"/>
              </a:ext>
            </a:extLst>
          </p:cNvPr>
          <p:cNvSpPr>
            <a:spLocks noGrp="1"/>
          </p:cNvSpPr>
          <p:nvPr/>
        </p:nvSpPr>
        <p:spPr>
          <a:xfrm>
            <a:off x="4324350" y="4876800"/>
            <a:ext cx="9525" cy="1714500"/>
          </a:xfrm>
          <a:prstGeom prst="rect">
            <a:avLst/>
          </a:prstGeom>
          <a:solidFill>
            <a:srgbClr val="8FABCA"/>
          </a:solidFill>
          <a:ln w="0">
            <a:noFill/>
          </a:ln>
        </p:spPr>
      </p:sp>
      <p:sp>
        <p:nvSpPr>
          <p:cNvPr id="24" name="s8-23">
            <a:extLst>
              <a:ext uri="{FF2B5EF4-FFF2-40B4-BE49-F238E27FC236}">
                <a16:creationId xmlns:a16="http://schemas.microsoft.com/office/drawing/2014/main" id="{BF49CE24-095F-46F6-8832-91BCF675D64B}"/>
              </a:ext>
            </a:extLst>
          </p:cNvPr>
          <p:cNvSpPr>
            <a:spLocks noGrp="1"/>
          </p:cNvSpPr>
          <p:nvPr/>
        </p:nvSpPr>
        <p:spPr>
          <a:xfrm>
            <a:off x="4705350" y="4876800"/>
            <a:ext cx="32385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02 / Fit the workflow</a:t>
            </a:r>
          </a:p>
        </p:txBody>
      </p:sp>
      <p:sp>
        <p:nvSpPr>
          <p:cNvPr id="25" name="s8-24">
            <a:extLst>
              <a:ext uri="{FF2B5EF4-FFF2-40B4-BE49-F238E27FC236}">
                <a16:creationId xmlns:a16="http://schemas.microsoft.com/office/drawing/2014/main" id="{A1FF3E73-D6CF-4AF2-B409-FA33CE2BE004}"/>
              </a:ext>
            </a:extLst>
          </p:cNvPr>
          <p:cNvSpPr>
            <a:spLocks noGrp="1"/>
          </p:cNvSpPr>
          <p:nvPr/>
        </p:nvSpPr>
        <p:spPr>
          <a:xfrm>
            <a:off x="4705350" y="5400675"/>
            <a:ext cx="32385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Link ERP + supplier catalogs.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Keep existing approval</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controls.</a:t>
            </a:r>
          </a:p>
        </p:txBody>
      </p:sp>
      <p:sp>
        <p:nvSpPr>
          <p:cNvPr id="26" name="s8-25">
            <a:extLst>
              <a:ext uri="{FF2B5EF4-FFF2-40B4-BE49-F238E27FC236}">
                <a16:creationId xmlns:a16="http://schemas.microsoft.com/office/drawing/2014/main" id="{A8E412A4-01FE-4537-A90C-D701EEF82394}"/>
              </a:ext>
            </a:extLst>
          </p:cNvPr>
          <p:cNvSpPr>
            <a:spLocks noGrp="1"/>
          </p:cNvSpPr>
          <p:nvPr/>
        </p:nvSpPr>
        <p:spPr>
          <a:xfrm>
            <a:off x="8096250" y="4876800"/>
            <a:ext cx="9525" cy="1714500"/>
          </a:xfrm>
          <a:prstGeom prst="rect">
            <a:avLst/>
          </a:prstGeom>
          <a:solidFill>
            <a:srgbClr val="8FABCA"/>
          </a:solidFill>
          <a:ln w="0">
            <a:noFill/>
          </a:ln>
        </p:spPr>
      </p:sp>
      <p:sp>
        <p:nvSpPr>
          <p:cNvPr id="27" name="s8-26">
            <a:extLst>
              <a:ext uri="{FF2B5EF4-FFF2-40B4-BE49-F238E27FC236}">
                <a16:creationId xmlns:a16="http://schemas.microsoft.com/office/drawing/2014/main" id="{342CBF1D-5C2D-4492-B25D-55EB64B479D4}"/>
              </a:ext>
            </a:extLst>
          </p:cNvPr>
          <p:cNvSpPr>
            <a:spLocks noGrp="1"/>
          </p:cNvSpPr>
          <p:nvPr/>
        </p:nvSpPr>
        <p:spPr>
          <a:xfrm>
            <a:off x="8477250" y="4876800"/>
            <a:ext cx="30480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03 / Expand with proof</a:t>
            </a:r>
          </a:p>
        </p:txBody>
      </p:sp>
      <p:sp>
        <p:nvSpPr>
          <p:cNvPr id="28" name="s8-27">
            <a:extLst>
              <a:ext uri="{FF2B5EF4-FFF2-40B4-BE49-F238E27FC236}">
                <a16:creationId xmlns:a16="http://schemas.microsoft.com/office/drawing/2014/main" id="{98AA9794-A78B-4235-A5CD-45764C4B2E53}"/>
              </a:ext>
            </a:extLst>
          </p:cNvPr>
          <p:cNvSpPr>
            <a:spLocks noGrp="1"/>
          </p:cNvSpPr>
          <p:nvPr/>
        </p:nvSpPr>
        <p:spPr>
          <a:xfrm>
            <a:off x="8477250" y="5400675"/>
            <a:ext cx="30480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Add categories and teams.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Reuse verified rules and</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decision records.</a:t>
            </a:r>
          </a:p>
        </p:txBody>
      </p:sp>
      <p:pic>
        <p:nvPicPr>
          <p:cNvPr id="29" name="Graphic 28">
            <a:extLst>
              <a:ext uri="{FF2B5EF4-FFF2-40B4-BE49-F238E27FC236}">
                <a16:creationId xmlns:a16="http://schemas.microsoft.com/office/drawing/2014/main" id="{841745C8-E5F4-4391-9E81-1D2BE0B593D8}"/>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2042015672"/>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850"/>
                                        <p:tgtEl>
                                          <p:spTgt spid="3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30"/>
                                        </p:tgtEl>
                                        <p:attrNameLst>
                                          <p:attrName>style.visibility</p:attrName>
                                        </p:attrNameLst>
                                      </p:cBhvr>
                                      <p:to>
                                        <p:strVal val="visible"/>
                                      </p:to>
                                    </p:set>
                                    <p:animMotion origin="layout" pathEditMode="relative">
                                      <p:cBhvr from="" to="">
                                        <p:cTn id="10" dur="850" fill="hold">
                                          <p:stCondLst>
                                            <p:cond delay="0"/>
                                          </p:stCondLst>
                                        </p:cTn>
                                        <p:tgtEl>
                                          <p:spTgt spid="3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grpId="0" nodeType="withEffect">
                                  <p:stCondLst>
                                    <p:cond delay="65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850"/>
                                        <p:tgtEl>
                                          <p:spTgt spid="20"/>
                                        </p:tgtEl>
                                      </p:cBhvr>
                                    </p:animEffect>
                                  </p:childTnLst>
                                </p:cTn>
                              </p:par>
                              <p:par>
                                <p:cTn id="104" presetID="0" presetClass="entr" presetSubtype="0" decel="80000" fill="hold" grpId="1" nodeType="withEffect">
                                  <p:stCondLst>
                                    <p:cond delay="650"/>
                                  </p:stCondLst>
                                  <p:childTnLst>
                                    <p:set>
                                      <p:cBhvr>
                                        <p:cTn id="105" dur="1" fill="hold">
                                          <p:stCondLst>
                                            <p:cond delay="849"/>
                                          </p:stCondLst>
                                        </p:cTn>
                                        <p:tgtEl>
                                          <p:spTgt spid="20"/>
                                        </p:tgtEl>
                                        <p:attrNameLst>
                                          <p:attrName>style.visibility</p:attrName>
                                        </p:attrNameLst>
                                      </p:cBhvr>
                                      <p:to>
                                        <p:strVal val="visible"/>
                                      </p:to>
                                    </p:set>
                                    <p:animMotion origin="layout" pathEditMode="relative">
                                      <p:cBhvr from="" to="">
                                        <p:cTn id="106" dur="850" fill="hold">
                                          <p:stCondLst>
                                            <p:cond delay="0"/>
                                          </p:stCondLst>
                                        </p:cTn>
                                        <p:tgtEl>
                                          <p:spTgt spid="20"/>
                                        </p:tgtEl>
                                        <p:attrNameLst>
                                          <p:attrName>ppt_x</p:attrName>
                                          <p:attrName>ppt_y</p:attrName>
                                        </p:attrNameLst>
                                      </p:cBhvr>
                                      <p:from x="0" y="25"/>
                                      <p:to x="0" y="0"/>
                                    </p:animMotion>
                                  </p:childTnLst>
                                </p:cTn>
                              </p:par>
                              <p:par>
                                <p:cTn id="107" presetID="10" presetClass="entr" presetSubtype="0" fill="hold" grpId="0" nodeType="withEffect">
                                  <p:stCondLst>
                                    <p:cond delay="650"/>
                                  </p:stCondLst>
                                  <p:childTnLst>
                                    <p:set>
                                      <p:cBhvr>
                                        <p:cTn id="108" dur="1" fill="hold">
                                          <p:stCondLst>
                                            <p:cond delay="0"/>
                                          </p:stCondLst>
                                        </p:cTn>
                                        <p:tgtEl>
                                          <p:spTgt spid="21"/>
                                        </p:tgtEl>
                                        <p:attrNameLst>
                                          <p:attrName>style.visibility</p:attrName>
                                        </p:attrNameLst>
                                      </p:cBhvr>
                                      <p:to>
                                        <p:strVal val="visible"/>
                                      </p:to>
                                    </p:set>
                                    <p:animEffect transition="in" filter="fade">
                                      <p:cBhvr>
                                        <p:cTn id="109" dur="850"/>
                                        <p:tgtEl>
                                          <p:spTgt spid="21"/>
                                        </p:tgtEl>
                                      </p:cBhvr>
                                    </p:animEffect>
                                  </p:childTnLst>
                                </p:cTn>
                              </p:par>
                              <p:par>
                                <p:cTn id="110" presetID="0" presetClass="entr" presetSubtype="0" decel="80000" fill="hold" grpId="1" nodeType="withEffect">
                                  <p:stCondLst>
                                    <p:cond delay="650"/>
                                  </p:stCondLst>
                                  <p:childTnLst>
                                    <p:set>
                                      <p:cBhvr>
                                        <p:cTn id="111" dur="1" fill="hold">
                                          <p:stCondLst>
                                            <p:cond delay="849"/>
                                          </p:stCondLst>
                                        </p:cTn>
                                        <p:tgtEl>
                                          <p:spTgt spid="21"/>
                                        </p:tgtEl>
                                        <p:attrNameLst>
                                          <p:attrName>style.visibility</p:attrName>
                                        </p:attrNameLst>
                                      </p:cBhvr>
                                      <p:to>
                                        <p:strVal val="visible"/>
                                      </p:to>
                                    </p:set>
                                    <p:animMotion origin="layout" pathEditMode="relative">
                                      <p:cBhvr from="" to="">
                                        <p:cTn id="112" dur="850" fill="hold">
                                          <p:stCondLst>
                                            <p:cond delay="0"/>
                                          </p:stCondLst>
                                        </p:cTn>
                                        <p:tgtEl>
                                          <p:spTgt spid="21"/>
                                        </p:tgtEl>
                                        <p:attrNameLst>
                                          <p:attrName>ppt_x</p:attrName>
                                          <p:attrName>ppt_y</p:attrName>
                                        </p:attrNameLst>
                                      </p:cBhvr>
                                      <p:from x="0" y="25"/>
                                      <p:to x="0" y="0"/>
                                    </p:animMotion>
                                  </p:childTnLst>
                                </p:cTn>
                              </p:par>
                              <p:par>
                                <p:cTn id="113" presetID="10" presetClass="entr" presetSubtype="0" fill="hold" grpId="0" nodeType="withEffect">
                                  <p:stCondLst>
                                    <p:cond delay="65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850"/>
                                        <p:tgtEl>
                                          <p:spTgt spid="22"/>
                                        </p:tgtEl>
                                      </p:cBhvr>
                                    </p:animEffect>
                                  </p:childTnLst>
                                </p:cTn>
                              </p:par>
                              <p:par>
                                <p:cTn id="116" presetID="0" presetClass="entr" presetSubtype="0" decel="80000" fill="hold" grpId="1" nodeType="withEffect">
                                  <p:stCondLst>
                                    <p:cond delay="650"/>
                                  </p:stCondLst>
                                  <p:childTnLst>
                                    <p:set>
                                      <p:cBhvr>
                                        <p:cTn id="117" dur="1" fill="hold">
                                          <p:stCondLst>
                                            <p:cond delay="849"/>
                                          </p:stCondLst>
                                        </p:cTn>
                                        <p:tgtEl>
                                          <p:spTgt spid="22"/>
                                        </p:tgtEl>
                                        <p:attrNameLst>
                                          <p:attrName>style.visibility</p:attrName>
                                        </p:attrNameLst>
                                      </p:cBhvr>
                                      <p:to>
                                        <p:strVal val="visible"/>
                                      </p:to>
                                    </p:set>
                                    <p:animMotion origin="layout" pathEditMode="relative">
                                      <p:cBhvr from="" to="">
                                        <p:cTn id="118" dur="850" fill="hold">
                                          <p:stCondLst>
                                            <p:cond delay="0"/>
                                          </p:stCondLst>
                                        </p:cTn>
                                        <p:tgtEl>
                                          <p:spTgt spid="22"/>
                                        </p:tgtEl>
                                        <p:attrNameLst>
                                          <p:attrName>ppt_x</p:attrName>
                                          <p:attrName>ppt_y</p:attrName>
                                        </p:attrNameLst>
                                      </p:cBhvr>
                                      <p:from x="0" y="25"/>
                                      <p:to x="0" y="0"/>
                                    </p:animMotion>
                                  </p:childTnLst>
                                </p:cTn>
                              </p:par>
                              <p:par>
                                <p:cTn id="119" presetID="10" presetClass="entr" presetSubtype="0" fill="hold" grpId="0" nodeType="withEffect">
                                  <p:stCondLst>
                                    <p:cond delay="65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850"/>
                                        <p:tgtEl>
                                          <p:spTgt spid="24"/>
                                        </p:tgtEl>
                                      </p:cBhvr>
                                    </p:animEffect>
                                  </p:childTnLst>
                                </p:cTn>
                              </p:par>
                              <p:par>
                                <p:cTn id="122" presetID="0" presetClass="entr" presetSubtype="0" decel="80000" fill="hold" grpId="1" nodeType="withEffect">
                                  <p:stCondLst>
                                    <p:cond delay="650"/>
                                  </p:stCondLst>
                                  <p:childTnLst>
                                    <p:set>
                                      <p:cBhvr>
                                        <p:cTn id="123" dur="1" fill="hold">
                                          <p:stCondLst>
                                            <p:cond delay="849"/>
                                          </p:stCondLst>
                                        </p:cTn>
                                        <p:tgtEl>
                                          <p:spTgt spid="24"/>
                                        </p:tgtEl>
                                        <p:attrNameLst>
                                          <p:attrName>style.visibility</p:attrName>
                                        </p:attrNameLst>
                                      </p:cBhvr>
                                      <p:to>
                                        <p:strVal val="visible"/>
                                      </p:to>
                                    </p:set>
                                    <p:animMotion origin="layout" pathEditMode="relative">
                                      <p:cBhvr from="" to="">
                                        <p:cTn id="124" dur="850" fill="hold">
                                          <p:stCondLst>
                                            <p:cond delay="0"/>
                                          </p:stCondLst>
                                        </p:cTn>
                                        <p:tgtEl>
                                          <p:spTgt spid="24"/>
                                        </p:tgtEl>
                                        <p:attrNameLst>
                                          <p:attrName>ppt_x</p:attrName>
                                          <p:attrName>ppt_y</p:attrName>
                                        </p:attrNameLst>
                                      </p:cBhvr>
                                      <p:from x="0" y="25"/>
                                      <p:to x="0" y="0"/>
                                    </p:animMotion>
                                  </p:childTnLst>
                                </p:cTn>
                              </p:par>
                              <p:par>
                                <p:cTn id="125" presetID="10" presetClass="entr" presetSubtype="0" fill="hold" grpId="0" nodeType="withEffect">
                                  <p:stCondLst>
                                    <p:cond delay="65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850"/>
                                        <p:tgtEl>
                                          <p:spTgt spid="25"/>
                                        </p:tgtEl>
                                      </p:cBhvr>
                                    </p:animEffect>
                                  </p:childTnLst>
                                </p:cTn>
                              </p:par>
                              <p:par>
                                <p:cTn id="128" presetID="0" presetClass="entr" presetSubtype="0" decel="80000" fill="hold" grpId="1" nodeType="withEffect">
                                  <p:stCondLst>
                                    <p:cond delay="650"/>
                                  </p:stCondLst>
                                  <p:childTnLst>
                                    <p:set>
                                      <p:cBhvr>
                                        <p:cTn id="129" dur="1" fill="hold">
                                          <p:stCondLst>
                                            <p:cond delay="849"/>
                                          </p:stCondLst>
                                        </p:cTn>
                                        <p:tgtEl>
                                          <p:spTgt spid="25"/>
                                        </p:tgtEl>
                                        <p:attrNameLst>
                                          <p:attrName>style.visibility</p:attrName>
                                        </p:attrNameLst>
                                      </p:cBhvr>
                                      <p:to>
                                        <p:strVal val="visible"/>
                                      </p:to>
                                    </p:set>
                                    <p:animMotion origin="layout" pathEditMode="relative">
                                      <p:cBhvr from="" to="">
                                        <p:cTn id="130" dur="850" fill="hold">
                                          <p:stCondLst>
                                            <p:cond delay="0"/>
                                          </p:stCondLst>
                                        </p:cTn>
                                        <p:tgtEl>
                                          <p:spTgt spid="25"/>
                                        </p:tgtEl>
                                        <p:attrNameLst>
                                          <p:attrName>ppt_x</p:attrName>
                                          <p:attrName>ppt_y</p:attrName>
                                        </p:attrNameLst>
                                      </p:cBhvr>
                                      <p:from x="0" y="25"/>
                                      <p:to x="0" y="0"/>
                                    </p:animMotion>
                                  </p:childTnLst>
                                </p:cTn>
                              </p:par>
                              <p:par>
                                <p:cTn id="131" presetID="10" presetClass="entr" presetSubtype="0" fill="hold" grpId="0" nodeType="withEffect">
                                  <p:stCondLst>
                                    <p:cond delay="650"/>
                                  </p:stCondLst>
                                  <p:childTnLst>
                                    <p:set>
                                      <p:cBhvr>
                                        <p:cTn id="132" dur="1" fill="hold">
                                          <p:stCondLst>
                                            <p:cond delay="0"/>
                                          </p:stCondLst>
                                        </p:cTn>
                                        <p:tgtEl>
                                          <p:spTgt spid="27"/>
                                        </p:tgtEl>
                                        <p:attrNameLst>
                                          <p:attrName>style.visibility</p:attrName>
                                        </p:attrNameLst>
                                      </p:cBhvr>
                                      <p:to>
                                        <p:strVal val="visible"/>
                                      </p:to>
                                    </p:set>
                                    <p:animEffect transition="in" filter="fade">
                                      <p:cBhvr>
                                        <p:cTn id="133" dur="850"/>
                                        <p:tgtEl>
                                          <p:spTgt spid="27"/>
                                        </p:tgtEl>
                                      </p:cBhvr>
                                    </p:animEffect>
                                  </p:childTnLst>
                                </p:cTn>
                              </p:par>
                              <p:par>
                                <p:cTn id="134" presetID="0" presetClass="entr" presetSubtype="0" decel="80000" fill="hold" grpId="1" nodeType="withEffect">
                                  <p:stCondLst>
                                    <p:cond delay="650"/>
                                  </p:stCondLst>
                                  <p:childTnLst>
                                    <p:set>
                                      <p:cBhvr>
                                        <p:cTn id="135" dur="1" fill="hold">
                                          <p:stCondLst>
                                            <p:cond delay="849"/>
                                          </p:stCondLst>
                                        </p:cTn>
                                        <p:tgtEl>
                                          <p:spTgt spid="27"/>
                                        </p:tgtEl>
                                        <p:attrNameLst>
                                          <p:attrName>style.visibility</p:attrName>
                                        </p:attrNameLst>
                                      </p:cBhvr>
                                      <p:to>
                                        <p:strVal val="visible"/>
                                      </p:to>
                                    </p:set>
                                    <p:animMotion origin="layout" pathEditMode="relative">
                                      <p:cBhvr from="" to="">
                                        <p:cTn id="136" dur="850" fill="hold">
                                          <p:stCondLst>
                                            <p:cond delay="0"/>
                                          </p:stCondLst>
                                        </p:cTn>
                                        <p:tgtEl>
                                          <p:spTgt spid="27"/>
                                        </p:tgtEl>
                                        <p:attrNameLst>
                                          <p:attrName>ppt_x</p:attrName>
                                          <p:attrName>ppt_y</p:attrName>
                                        </p:attrNameLst>
                                      </p:cBhvr>
                                      <p:from x="0" y="25"/>
                                      <p:to x="0" y="0"/>
                                    </p:animMotion>
                                  </p:childTnLst>
                                </p:cTn>
                              </p:par>
                              <p:par>
                                <p:cTn id="137" presetID="10" presetClass="entr" presetSubtype="0" fill="hold" grpId="0" nodeType="withEffect">
                                  <p:stCondLst>
                                    <p:cond delay="650"/>
                                  </p:stCondLst>
                                  <p:childTnLst>
                                    <p:set>
                                      <p:cBhvr>
                                        <p:cTn id="138" dur="1" fill="hold">
                                          <p:stCondLst>
                                            <p:cond delay="0"/>
                                          </p:stCondLst>
                                        </p:cTn>
                                        <p:tgtEl>
                                          <p:spTgt spid="28"/>
                                        </p:tgtEl>
                                        <p:attrNameLst>
                                          <p:attrName>style.visibility</p:attrName>
                                        </p:attrNameLst>
                                      </p:cBhvr>
                                      <p:to>
                                        <p:strVal val="visible"/>
                                      </p:to>
                                    </p:set>
                                    <p:animEffect transition="in" filter="fade">
                                      <p:cBhvr>
                                        <p:cTn id="139" dur="850"/>
                                        <p:tgtEl>
                                          <p:spTgt spid="28"/>
                                        </p:tgtEl>
                                      </p:cBhvr>
                                    </p:animEffect>
                                  </p:childTnLst>
                                </p:cTn>
                              </p:par>
                              <p:par>
                                <p:cTn id="140" presetID="0" presetClass="entr" presetSubtype="0" decel="80000" fill="hold" grpId="1" nodeType="withEffect">
                                  <p:stCondLst>
                                    <p:cond delay="650"/>
                                  </p:stCondLst>
                                  <p:childTnLst>
                                    <p:set>
                                      <p:cBhvr>
                                        <p:cTn id="141" dur="1" fill="hold">
                                          <p:stCondLst>
                                            <p:cond delay="849"/>
                                          </p:stCondLst>
                                        </p:cTn>
                                        <p:tgtEl>
                                          <p:spTgt spid="28"/>
                                        </p:tgtEl>
                                        <p:attrNameLst>
                                          <p:attrName>style.visibility</p:attrName>
                                        </p:attrNameLst>
                                      </p:cBhvr>
                                      <p:to>
                                        <p:strVal val="visible"/>
                                      </p:to>
                                    </p:set>
                                    <p:animMotion origin="layout" pathEditMode="relative">
                                      <p:cBhvr from="" to="">
                                        <p:cTn id="142" dur="850" fill="hold">
                                          <p:stCondLst>
                                            <p:cond delay="0"/>
                                          </p:stCondLst>
                                        </p:cTn>
                                        <p:tgtEl>
                                          <p:spTgt spid="28"/>
                                        </p:tgtEl>
                                        <p:attrNameLst>
                                          <p:attrName>ppt_x</p:attrName>
                                          <p:attrName>ppt_y</p:attrName>
                                        </p:attrNameLst>
                                      </p:cBhvr>
                                      <p:from x="0" y="25"/>
                                      <p:to x="0" y="0"/>
                                    </p:animMotion>
                                  </p:childTnLst>
                                </p:cTn>
                              </p:par>
                              <p:par>
                                <p:cTn id="143" presetID="10" presetClass="entr" presetSubtype="0" fill="hold" nodeType="withEffect">
                                  <p:stCondLst>
                                    <p:cond delay="650"/>
                                  </p:stCondLst>
                                  <p:childTnLst>
                                    <p:set>
                                      <p:cBhvr>
                                        <p:cTn id="144" dur="1" fill="hold">
                                          <p:stCondLst>
                                            <p:cond delay="0"/>
                                          </p:stCondLst>
                                        </p:cTn>
                                        <p:tgtEl>
                                          <p:spTgt spid="29"/>
                                        </p:tgtEl>
                                        <p:attrNameLst>
                                          <p:attrName>style.visibility</p:attrName>
                                        </p:attrNameLst>
                                      </p:cBhvr>
                                      <p:to>
                                        <p:strVal val="visible"/>
                                      </p:to>
                                    </p:set>
                                    <p:animEffect transition="in" filter="fade">
                                      <p:cBhvr>
                                        <p:cTn id="145" dur="850"/>
                                        <p:tgtEl>
                                          <p:spTgt spid="29"/>
                                        </p:tgtEl>
                                      </p:cBhvr>
                                    </p:animEffect>
                                  </p:childTnLst>
                                </p:cTn>
                              </p:par>
                              <p:par>
                                <p:cTn id="146" presetID="0" presetClass="entr" presetSubtype="0" decel="80000" fill="hold" nodeType="withEffect">
                                  <p:stCondLst>
                                    <p:cond delay="650"/>
                                  </p:stCondLst>
                                  <p:childTnLst>
                                    <p:set>
                                      <p:cBhvr>
                                        <p:cTn id="147" dur="1" fill="hold">
                                          <p:stCondLst>
                                            <p:cond delay="849"/>
                                          </p:stCondLst>
                                        </p:cTn>
                                        <p:tgtEl>
                                          <p:spTgt spid="29"/>
                                        </p:tgtEl>
                                        <p:attrNameLst>
                                          <p:attrName>style.visibility</p:attrName>
                                        </p:attrNameLst>
                                      </p:cBhvr>
                                      <p:to>
                                        <p:strVal val="visible"/>
                                      </p:to>
                                    </p:set>
                                    <p:animMotion origin="layout" pathEditMode="relative">
                                      <p:cBhvr from="" to="">
                                        <p:cTn id="148" dur="850" fill="hold">
                                          <p:stCondLst>
                                            <p:cond delay="0"/>
                                          </p:stCondLst>
                                        </p:cTn>
                                        <p:tgtEl>
                                          <p:spTgt spid="2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P spid="20" grpId="0"/>
      <p:bldP spid="20" grpId="1"/>
      <p:bldP spid="21" grpId="0"/>
      <p:bldP spid="21" grpId="1"/>
      <p:bldP spid="22" grpId="0"/>
      <p:bldP spid="22" grpId="1"/>
      <p:bldP spid="24" grpId="0"/>
      <p:bldP spid="24" grpId="1"/>
      <p:bldP spid="25" grpId="0"/>
      <p:bldP spid="25" grpId="1"/>
      <p:bldP spid="27" grpId="0"/>
      <p:bldP spid="27" grpId="1"/>
      <p:bldP spid="28" grpId="0"/>
      <p:bldP spid="28"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EDDFF"/>
        </a:solidFill>
        <a:effectLst/>
      </p:bgPr>
    </p:bg>
    <p:spTree>
      <p:nvGrpSpPr>
        <p:cNvPr id="1" name=""/>
        <p:cNvGrpSpPr/>
        <p:nvPr/>
      </p:nvGrpSpPr>
      <p:grpSpPr>
        <a:xfrm>
          <a:off x="0" y="0"/>
          <a:ext cx="0" cy="0"/>
          <a:chOff x="0" y="0"/>
          <a:chExt cx="0" cy="0"/>
        </a:xfrm>
      </p:grpSpPr>
      <p:sp>
        <p:nvSpPr>
          <p:cNvPr id="9" name="s9-0">
            <a:extLst>
              <a:ext uri="{FF2B5EF4-FFF2-40B4-BE49-F238E27FC236}">
                <a16:creationId xmlns:a16="http://schemas.microsoft.com/office/drawing/2014/main" id="{7BA7B19A-0053-41FB-9969-B94B8C7120B6}"/>
              </a:ext>
            </a:extLst>
          </p:cNvPr>
          <p:cNvSpPr>
            <a:spLocks noGrp="1"/>
          </p:cNvSpPr>
          <p:nvPr/>
        </p:nvSpPr>
        <p:spPr>
          <a:xfrm>
            <a:off x="742950" y="590550"/>
            <a:ext cx="9144000" cy="857250"/>
          </a:xfrm>
          <a:prstGeom prst="rect">
            <a:avLst/>
          </a:prstGeom>
          <a:noFill/>
          <a:ln w="0">
            <a:noFill/>
          </a:ln>
        </p:spPr>
        <p:txBody>
          <a:bodyPr lIns="0" tIns="0" rIns="0" bIns="0">
            <a:noAutofit/>
          </a:bodyPr>
          <a:lstStyle>
            <a:defPPr>
              <a:defRPr sz="4800">
                <a:solidFill>
                  <a:srgbClr val="111F31"/>
                </a:solidFill>
                <a:latin typeface="Times New Roman"/>
                <a:ea typeface="Times New Roman"/>
                <a:cs typeface="Times New Roman"/>
              </a:defRPr>
            </a:defPPr>
            <a:lvl1pPr>
              <a:defRPr sz="4800">
                <a:solidFill>
                  <a:srgbClr val="111F31"/>
                </a:solidFill>
                <a:latin typeface="Times New Roman"/>
                <a:ea typeface="Times New Roman"/>
                <a:cs typeface="Times New Roman"/>
              </a:defRPr>
            </a:lvl1pPr>
            <a:lvl2pPr>
              <a:defRPr sz="4800">
                <a:solidFill>
                  <a:srgbClr val="111F31"/>
                </a:solidFill>
                <a:latin typeface="Times New Roman"/>
                <a:ea typeface="Times New Roman"/>
                <a:cs typeface="Times New Roman"/>
              </a:defRPr>
            </a:lvl2pPr>
            <a:lvl3pPr>
              <a:defRPr sz="4800">
                <a:solidFill>
                  <a:srgbClr val="111F31"/>
                </a:solidFill>
                <a:latin typeface="Times New Roman"/>
                <a:ea typeface="Times New Roman"/>
                <a:cs typeface="Times New Roman"/>
              </a:defRPr>
            </a:lvl3pPr>
            <a:lvl4pPr>
              <a:defRPr sz="4800">
                <a:solidFill>
                  <a:srgbClr val="111F31"/>
                </a:solidFill>
                <a:latin typeface="Times New Roman"/>
                <a:ea typeface="Times New Roman"/>
                <a:cs typeface="Times New Roman"/>
              </a:defRPr>
            </a:lvl4pPr>
            <a:lvl5pPr>
              <a:defRPr sz="4800">
                <a:solidFill>
                  <a:srgbClr val="111F31"/>
                </a:solidFill>
                <a:latin typeface="Times New Roman"/>
                <a:ea typeface="Times New Roman"/>
                <a:cs typeface="Times New Roman"/>
              </a:defRPr>
            </a:lvl5pPr>
            <a:lvl6pPr>
              <a:defRPr sz="4800">
                <a:solidFill>
                  <a:srgbClr val="111F31"/>
                </a:solidFill>
                <a:latin typeface="Times New Roman"/>
                <a:ea typeface="Times New Roman"/>
                <a:cs typeface="Times New Roman"/>
              </a:defRPr>
            </a:lvl6pPr>
            <a:lvl7pPr>
              <a:defRPr sz="4800">
                <a:solidFill>
                  <a:srgbClr val="111F31"/>
                </a:solidFill>
                <a:latin typeface="Times New Roman"/>
                <a:ea typeface="Times New Roman"/>
                <a:cs typeface="Times New Roman"/>
              </a:defRPr>
            </a:lvl7pPr>
            <a:lvl8pPr>
              <a:defRPr sz="4800">
                <a:solidFill>
                  <a:srgbClr val="111F31"/>
                </a:solidFill>
                <a:latin typeface="Times New Roman"/>
                <a:ea typeface="Times New Roman"/>
                <a:cs typeface="Times New Roman"/>
              </a:defRPr>
            </a:lvl8pPr>
            <a:lvl9pPr>
              <a:defRPr sz="4800">
                <a:solidFill>
                  <a:srgbClr val="111F31"/>
                </a:solidFill>
                <a:latin typeface="Times New Roman"/>
                <a:ea typeface="Times New Roman"/>
                <a:cs typeface="Times New Roman"/>
              </a:defRPr>
            </a:lvl9pPr>
          </a:lstStyle>
          <a:p>
            <a:pPr>
              <a:defRPr sz="4800">
                <a:solidFill>
                  <a:srgbClr val="111F31"/>
                </a:solidFill>
                <a:latin typeface="Times New Roman"/>
                <a:ea typeface="Times New Roman"/>
                <a:cs typeface="Times New Roman"/>
              </a:defRPr>
            </a:pPr>
            <a:r>
              <a:rPr sz="4800">
                <a:solidFill>
                  <a:srgbClr val="111F31"/>
                </a:solidFill>
                <a:latin typeface="Times New Roman"/>
                <a:ea typeface="Times New Roman"/>
                <a:cs typeface="Times New Roman"/>
              </a:rPr>
              <a:t>Thank you.</a:t>
            </a:r>
          </a:p>
        </p:txBody>
      </p:sp>
      <p:pic>
        <p:nvPicPr>
          <p:cNvPr id="2" name="Graphic 1">
            <a:extLst>
              <a:ext uri="{FF2B5EF4-FFF2-40B4-BE49-F238E27FC236}">
                <a16:creationId xmlns:a16="http://schemas.microsoft.com/office/drawing/2014/main" id="{DA691E62-2A2E-4737-BF2A-1976158DEBC1}"/>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66750" y="2000250"/>
            <a:ext cx="6191250" cy="1891951"/>
          </a:xfrm>
          <a:prstGeom prst="rect">
            <a:avLst/>
          </a:prstGeom>
        </p:spPr>
      </p:pic>
      <p:sp>
        <p:nvSpPr>
          <p:cNvPr id="3" name="s9-2">
            <a:extLst>
              <a:ext uri="{FF2B5EF4-FFF2-40B4-BE49-F238E27FC236}">
                <a16:creationId xmlns:a16="http://schemas.microsoft.com/office/drawing/2014/main" id="{5635CEDD-329E-49F6-B8AE-0FCAA8C4A9EA}"/>
              </a:ext>
            </a:extLst>
          </p:cNvPr>
          <p:cNvSpPr>
            <a:spLocks noGrp="1"/>
          </p:cNvSpPr>
          <p:nvPr/>
        </p:nvSpPr>
        <p:spPr>
          <a:xfrm>
            <a:off x="7324725" y="2076450"/>
            <a:ext cx="9525" cy="1876425"/>
          </a:xfrm>
          <a:prstGeom prst="rect">
            <a:avLst/>
          </a:prstGeom>
          <a:solidFill>
            <a:srgbClr val="111F31"/>
          </a:solidFill>
          <a:ln w="0">
            <a:noFill/>
          </a:ln>
        </p:spPr>
      </p:sp>
      <p:sp>
        <p:nvSpPr>
          <p:cNvPr id="4" name="s9-3">
            <a:extLst>
              <a:ext uri="{FF2B5EF4-FFF2-40B4-BE49-F238E27FC236}">
                <a16:creationId xmlns:a16="http://schemas.microsoft.com/office/drawing/2014/main" id="{BE1282D2-5FF0-4E71-9DA5-A611B9CD9A2F}"/>
              </a:ext>
            </a:extLst>
          </p:cNvPr>
          <p:cNvSpPr>
            <a:spLocks noGrp="1"/>
          </p:cNvSpPr>
          <p:nvPr/>
        </p:nvSpPr>
        <p:spPr>
          <a:xfrm>
            <a:off x="7791450" y="2495550"/>
            <a:ext cx="3667125" cy="1047750"/>
          </a:xfrm>
          <a:prstGeom prst="rect">
            <a:avLst/>
          </a:prstGeom>
          <a:noFill/>
          <a:ln w="0">
            <a:noFill/>
          </a:ln>
        </p:spPr>
        <p:txBody>
          <a:bodyPr lIns="0" tIns="0" rIns="0" bIns="0">
            <a:noAutofit/>
          </a:bodyPr>
          <a:lstStyle>
            <a:defPPr>
              <a:defRPr sz="2550">
                <a:solidFill>
                  <a:srgbClr val="111F31"/>
                </a:solidFill>
                <a:latin typeface="Times New Roman"/>
                <a:ea typeface="Times New Roman"/>
                <a:cs typeface="Times New Roman"/>
              </a:defRPr>
            </a:defPPr>
            <a:lvl1pPr>
              <a:defRPr sz="2550">
                <a:solidFill>
                  <a:srgbClr val="111F31"/>
                </a:solidFill>
                <a:latin typeface="Times New Roman"/>
                <a:ea typeface="Times New Roman"/>
                <a:cs typeface="Times New Roman"/>
              </a:defRPr>
            </a:lvl1pPr>
            <a:lvl2pPr>
              <a:defRPr sz="2550">
                <a:solidFill>
                  <a:srgbClr val="111F31"/>
                </a:solidFill>
                <a:latin typeface="Times New Roman"/>
                <a:ea typeface="Times New Roman"/>
                <a:cs typeface="Times New Roman"/>
              </a:defRPr>
            </a:lvl2pPr>
            <a:lvl3pPr>
              <a:defRPr sz="2550">
                <a:solidFill>
                  <a:srgbClr val="111F31"/>
                </a:solidFill>
                <a:latin typeface="Times New Roman"/>
                <a:ea typeface="Times New Roman"/>
                <a:cs typeface="Times New Roman"/>
              </a:defRPr>
            </a:lvl3pPr>
            <a:lvl4pPr>
              <a:defRPr sz="2550">
                <a:solidFill>
                  <a:srgbClr val="111F31"/>
                </a:solidFill>
                <a:latin typeface="Times New Roman"/>
                <a:ea typeface="Times New Roman"/>
                <a:cs typeface="Times New Roman"/>
              </a:defRPr>
            </a:lvl4pPr>
            <a:lvl5pPr>
              <a:defRPr sz="2550">
                <a:solidFill>
                  <a:srgbClr val="111F31"/>
                </a:solidFill>
                <a:latin typeface="Times New Roman"/>
                <a:ea typeface="Times New Roman"/>
                <a:cs typeface="Times New Roman"/>
              </a:defRPr>
            </a:lvl5pPr>
            <a:lvl6pPr>
              <a:defRPr sz="2550">
                <a:solidFill>
                  <a:srgbClr val="111F31"/>
                </a:solidFill>
                <a:latin typeface="Times New Roman"/>
                <a:ea typeface="Times New Roman"/>
                <a:cs typeface="Times New Roman"/>
              </a:defRPr>
            </a:lvl6pPr>
            <a:lvl7pPr>
              <a:defRPr sz="2550">
                <a:solidFill>
                  <a:srgbClr val="111F31"/>
                </a:solidFill>
                <a:latin typeface="Times New Roman"/>
                <a:ea typeface="Times New Roman"/>
                <a:cs typeface="Times New Roman"/>
              </a:defRPr>
            </a:lvl7pPr>
            <a:lvl8pPr>
              <a:defRPr sz="2550">
                <a:solidFill>
                  <a:srgbClr val="111F31"/>
                </a:solidFill>
                <a:latin typeface="Times New Roman"/>
                <a:ea typeface="Times New Roman"/>
                <a:cs typeface="Times New Roman"/>
              </a:defRPr>
            </a:lvl8pPr>
            <a:lvl9pPr>
              <a:defRPr sz="2550">
                <a:solidFill>
                  <a:srgbClr val="111F31"/>
                </a:solidFill>
                <a:latin typeface="Times New Roman"/>
                <a:ea typeface="Times New Roman"/>
                <a:cs typeface="Times New Roman"/>
              </a:defRPr>
            </a:lvl9pPr>
          </a:lstStyle>
          <a:p>
            <a:pPr>
              <a:defRPr sz="2550">
                <a:solidFill>
                  <a:srgbClr val="111F31"/>
                </a:solidFill>
                <a:latin typeface="Times New Roman"/>
                <a:ea typeface="Times New Roman"/>
                <a:cs typeface="Times New Roman"/>
              </a:defRPr>
            </a:pPr>
            <a:r>
              <a:rPr sz="2550">
                <a:solidFill>
                  <a:srgbClr val="111F31"/>
                </a:solidFill>
                <a:latin typeface="Times New Roman"/>
                <a:ea typeface="Times New Roman"/>
                <a:cs typeface="Times New Roman"/>
              </a:rPr>
              <a:t>agentic efficiency,</a:t>
            </a:r>
          </a:p>
          <a:p>
            <a:pPr>
              <a:defRPr sz="2550">
                <a:solidFill>
                  <a:srgbClr val="111F31"/>
                </a:solidFill>
                <a:latin typeface="Times New Roman"/>
                <a:ea typeface="Times New Roman"/>
                <a:cs typeface="Times New Roman"/>
              </a:defRPr>
            </a:pPr>
            <a:r>
              <a:rPr sz="2550">
                <a:solidFill>
                  <a:srgbClr val="111F31"/>
                </a:solidFill>
                <a:latin typeface="Times New Roman"/>
                <a:ea typeface="Times New Roman"/>
                <a:cs typeface="Times New Roman"/>
              </a:rPr>
              <a:t>academic accuracy</a:t>
            </a:r>
          </a:p>
        </p:txBody>
      </p:sp>
      <p:sp>
        <p:nvSpPr>
          <p:cNvPr id="5" name="s9-4">
            <a:extLst>
              <a:ext uri="{FF2B5EF4-FFF2-40B4-BE49-F238E27FC236}">
                <a16:creationId xmlns:a16="http://schemas.microsoft.com/office/drawing/2014/main" id="{F5B04F52-104D-4ECE-8A75-F65A13714A6D}"/>
              </a:ext>
            </a:extLst>
          </p:cNvPr>
          <p:cNvSpPr>
            <a:spLocks noGrp="1"/>
          </p:cNvSpPr>
          <p:nvPr/>
        </p:nvSpPr>
        <p:spPr>
          <a:xfrm>
            <a:off x="0" y="5133975"/>
            <a:ext cx="12192000" cy="1724025"/>
          </a:xfrm>
          <a:prstGeom prst="rect">
            <a:avLst/>
          </a:prstGeom>
          <a:solidFill>
            <a:srgbClr val="111F31"/>
          </a:solidFill>
          <a:ln w="0">
            <a:noFill/>
          </a:ln>
        </p:spPr>
      </p:sp>
      <p:sp>
        <p:nvSpPr>
          <p:cNvPr id="6" name="s9-5">
            <a:extLst>
              <a:ext uri="{FF2B5EF4-FFF2-40B4-BE49-F238E27FC236}">
                <a16:creationId xmlns:a16="http://schemas.microsoft.com/office/drawing/2014/main" id="{52AC73E8-3BDB-44E4-8C02-40FEFDAE4C79}"/>
              </a:ext>
            </a:extLst>
          </p:cNvPr>
          <p:cNvSpPr>
            <a:spLocks noGrp="1"/>
          </p:cNvSpPr>
          <p:nvPr/>
        </p:nvSpPr>
        <p:spPr>
          <a:xfrm>
            <a:off x="742950" y="5524500"/>
            <a:ext cx="10668000" cy="609600"/>
          </a:xfrm>
          <a:prstGeom prst="rect">
            <a:avLst/>
          </a:prstGeom>
          <a:noFill/>
          <a:ln w="0">
            <a:noFill/>
          </a:ln>
        </p:spPr>
        <p:txBody>
          <a:bodyPr lIns="0" tIns="0" rIns="0" bIns="0">
            <a:noAutofit/>
          </a:bodyPr>
          <a:lstStyle>
            <a:defPPr>
              <a:defRPr sz="3300">
                <a:solidFill>
                  <a:srgbClr val="FFFFFF"/>
                </a:solidFill>
                <a:latin typeface="Times New Roman"/>
                <a:ea typeface="Times New Roman"/>
                <a:cs typeface="Times New Roman"/>
              </a:defRPr>
            </a:defPPr>
            <a:lvl1pPr>
              <a:defRPr sz="3300">
                <a:solidFill>
                  <a:srgbClr val="FFFFFF"/>
                </a:solidFill>
                <a:latin typeface="Times New Roman"/>
                <a:ea typeface="Times New Roman"/>
                <a:cs typeface="Times New Roman"/>
              </a:defRPr>
            </a:lvl1pPr>
            <a:lvl2pPr>
              <a:defRPr sz="3300">
                <a:solidFill>
                  <a:srgbClr val="FFFFFF"/>
                </a:solidFill>
                <a:latin typeface="Times New Roman"/>
                <a:ea typeface="Times New Roman"/>
                <a:cs typeface="Times New Roman"/>
              </a:defRPr>
            </a:lvl2pPr>
            <a:lvl3pPr>
              <a:defRPr sz="3300">
                <a:solidFill>
                  <a:srgbClr val="FFFFFF"/>
                </a:solidFill>
                <a:latin typeface="Times New Roman"/>
                <a:ea typeface="Times New Roman"/>
                <a:cs typeface="Times New Roman"/>
              </a:defRPr>
            </a:lvl3pPr>
            <a:lvl4pPr>
              <a:defRPr sz="3300">
                <a:solidFill>
                  <a:srgbClr val="FFFFFF"/>
                </a:solidFill>
                <a:latin typeface="Times New Roman"/>
                <a:ea typeface="Times New Roman"/>
                <a:cs typeface="Times New Roman"/>
              </a:defRPr>
            </a:lvl4pPr>
            <a:lvl5pPr>
              <a:defRPr sz="3300">
                <a:solidFill>
                  <a:srgbClr val="FFFFFF"/>
                </a:solidFill>
                <a:latin typeface="Times New Roman"/>
                <a:ea typeface="Times New Roman"/>
                <a:cs typeface="Times New Roman"/>
              </a:defRPr>
            </a:lvl5pPr>
            <a:lvl6pPr>
              <a:defRPr sz="3300">
                <a:solidFill>
                  <a:srgbClr val="FFFFFF"/>
                </a:solidFill>
                <a:latin typeface="Times New Roman"/>
                <a:ea typeface="Times New Roman"/>
                <a:cs typeface="Times New Roman"/>
              </a:defRPr>
            </a:lvl6pPr>
            <a:lvl7pPr>
              <a:defRPr sz="3300">
                <a:solidFill>
                  <a:srgbClr val="FFFFFF"/>
                </a:solidFill>
                <a:latin typeface="Times New Roman"/>
                <a:ea typeface="Times New Roman"/>
                <a:cs typeface="Times New Roman"/>
              </a:defRPr>
            </a:lvl7pPr>
            <a:lvl8pPr>
              <a:defRPr sz="3300">
                <a:solidFill>
                  <a:srgbClr val="FFFFFF"/>
                </a:solidFill>
                <a:latin typeface="Times New Roman"/>
                <a:ea typeface="Times New Roman"/>
                <a:cs typeface="Times New Roman"/>
              </a:defRPr>
            </a:lvl8pPr>
            <a:lvl9pPr>
              <a:defRPr sz="3300">
                <a:solidFill>
                  <a:srgbClr val="FFFFFF"/>
                </a:solidFill>
                <a:latin typeface="Times New Roman"/>
                <a:ea typeface="Times New Roman"/>
                <a:cs typeface="Times New Roman"/>
              </a:defRPr>
            </a:lvl9pPr>
          </a:lstStyle>
          <a:p>
            <a:pPr>
              <a:defRPr sz="3300">
                <a:solidFill>
                  <a:srgbClr val="FFFFFF"/>
                </a:solidFill>
                <a:latin typeface="Times New Roman"/>
                <a:ea typeface="Times New Roman"/>
                <a:cs typeface="Times New Roman"/>
              </a:defRPr>
            </a:pPr>
            <a:r>
              <a:rPr sz="3300">
                <a:solidFill>
                  <a:srgbClr val="FFFFFF"/>
                </a:solidFill>
                <a:latin typeface="Times New Roman"/>
                <a:ea typeface="Times New Roman"/>
                <a:cs typeface="Times New Roman"/>
              </a:rPr>
              <a:t>Bring us your next purchase order.</a:t>
            </a:r>
          </a:p>
        </p:txBody>
      </p:sp>
      <p:sp>
        <p:nvSpPr>
          <p:cNvPr id="7" name="s9-6">
            <a:extLst>
              <a:ext uri="{FF2B5EF4-FFF2-40B4-BE49-F238E27FC236}">
                <a16:creationId xmlns:a16="http://schemas.microsoft.com/office/drawing/2014/main" id="{FB3B674A-B7EB-441C-AD5F-03617ADA0D01}"/>
              </a:ext>
            </a:extLst>
          </p:cNvPr>
          <p:cNvSpPr>
            <a:spLocks noGrp="1"/>
          </p:cNvSpPr>
          <p:nvPr/>
        </p:nvSpPr>
        <p:spPr>
          <a:xfrm>
            <a:off x="781050" y="6257925"/>
            <a:ext cx="10572750" cy="266700"/>
          </a:xfrm>
          <a:prstGeom prst="rect">
            <a:avLst/>
          </a:prstGeom>
          <a:noFill/>
          <a:ln w="0">
            <a:noFill/>
          </a:ln>
        </p:spPr>
        <p:txBody>
          <a:bodyPr lIns="0" tIns="0" rIns="0" bIns="0">
            <a:noAutofit/>
          </a:bodyPr>
          <a:lstStyle>
            <a:defPPr>
              <a:defRPr sz="1500">
                <a:solidFill>
                  <a:srgbClr val="BEDDFF"/>
                </a:solidFill>
                <a:latin typeface="Bahnschrift"/>
                <a:ea typeface="Bahnschrift"/>
                <a:cs typeface="Bahnschrift"/>
              </a:defRPr>
            </a:defPPr>
            <a:lvl1pPr>
              <a:defRPr sz="1500">
                <a:solidFill>
                  <a:srgbClr val="BEDDFF"/>
                </a:solidFill>
                <a:latin typeface="Bahnschrift"/>
                <a:ea typeface="Bahnschrift"/>
                <a:cs typeface="Bahnschrift"/>
              </a:defRPr>
            </a:lvl1pPr>
            <a:lvl2pPr>
              <a:defRPr sz="1500">
                <a:solidFill>
                  <a:srgbClr val="BEDDFF"/>
                </a:solidFill>
                <a:latin typeface="Bahnschrift"/>
                <a:ea typeface="Bahnschrift"/>
                <a:cs typeface="Bahnschrift"/>
              </a:defRPr>
            </a:lvl2pPr>
            <a:lvl3pPr>
              <a:defRPr sz="1500">
                <a:solidFill>
                  <a:srgbClr val="BEDDFF"/>
                </a:solidFill>
                <a:latin typeface="Bahnschrift"/>
                <a:ea typeface="Bahnschrift"/>
                <a:cs typeface="Bahnschrift"/>
              </a:defRPr>
            </a:lvl3pPr>
            <a:lvl4pPr>
              <a:defRPr sz="1500">
                <a:solidFill>
                  <a:srgbClr val="BEDDFF"/>
                </a:solidFill>
                <a:latin typeface="Bahnschrift"/>
                <a:ea typeface="Bahnschrift"/>
                <a:cs typeface="Bahnschrift"/>
              </a:defRPr>
            </a:lvl4pPr>
            <a:lvl5pPr>
              <a:defRPr sz="1500">
                <a:solidFill>
                  <a:srgbClr val="BEDDFF"/>
                </a:solidFill>
                <a:latin typeface="Bahnschrift"/>
                <a:ea typeface="Bahnschrift"/>
                <a:cs typeface="Bahnschrift"/>
              </a:defRPr>
            </a:lvl5pPr>
            <a:lvl6pPr>
              <a:defRPr sz="1500">
                <a:solidFill>
                  <a:srgbClr val="BEDDFF"/>
                </a:solidFill>
                <a:latin typeface="Bahnschrift"/>
                <a:ea typeface="Bahnschrift"/>
                <a:cs typeface="Bahnschrift"/>
              </a:defRPr>
            </a:lvl6pPr>
            <a:lvl7pPr>
              <a:defRPr sz="1500">
                <a:solidFill>
                  <a:srgbClr val="BEDDFF"/>
                </a:solidFill>
                <a:latin typeface="Bahnschrift"/>
                <a:ea typeface="Bahnschrift"/>
                <a:cs typeface="Bahnschrift"/>
              </a:defRPr>
            </a:lvl7pPr>
            <a:lvl8pPr>
              <a:defRPr sz="1500">
                <a:solidFill>
                  <a:srgbClr val="BEDDFF"/>
                </a:solidFill>
                <a:latin typeface="Bahnschrift"/>
                <a:ea typeface="Bahnschrift"/>
                <a:cs typeface="Bahnschrift"/>
              </a:defRPr>
            </a:lvl8pPr>
            <a:lvl9pPr>
              <a:defRPr sz="1500">
                <a:solidFill>
                  <a:srgbClr val="BEDDFF"/>
                </a:solidFill>
                <a:latin typeface="Bahnschrift"/>
                <a:ea typeface="Bahnschrift"/>
                <a:cs typeface="Bahnschrift"/>
              </a:defRPr>
            </a:lvl9pPr>
          </a:lstStyle>
          <a:p>
            <a:pPr>
              <a:defRPr sz="1500">
                <a:solidFill>
                  <a:srgbClr val="BEDDFF"/>
                </a:solidFill>
                <a:latin typeface="Bahnschrift"/>
                <a:ea typeface="Bahnschrift"/>
                <a:cs typeface="Bahnschrift"/>
              </a:defRPr>
            </a:pPr>
            <a:r>
              <a:rPr sz="1500">
                <a:solidFill>
                  <a:srgbClr val="BEDDFF"/>
                </a:solidFill>
                <a:latin typeface="Bahnschrift"/>
                <a:ea typeface="Bahnschrift"/>
                <a:cs typeface="Bahnschrift"/>
              </a:rPr>
              <a:t>Max Prince  /  Derek Nester  /  Will Hamlin</a:t>
            </a:r>
          </a:p>
        </p:txBody>
      </p:sp>
      <p:pic>
        <p:nvPicPr>
          <p:cNvPr id="8" name="Graphic 7">
            <a:extLst>
              <a:ext uri="{FF2B5EF4-FFF2-40B4-BE49-F238E27FC236}">
                <a16:creationId xmlns:a16="http://schemas.microsoft.com/office/drawing/2014/main" id="{932E095B-676C-4B30-9B16-E7138CE1DFEC}"/>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860227264"/>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50"/>
                                        <p:tgtEl>
                                          <p:spTgt spid="9"/>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9"/>
                                        </p:tgtEl>
                                        <p:attrNameLst>
                                          <p:attrName>style.visibility</p:attrName>
                                        </p:attrNameLst>
                                      </p:cBhvr>
                                      <p:to>
                                        <p:strVal val="visible"/>
                                      </p:to>
                                    </p:set>
                                    <p:animMotion origin="layout" pathEditMode="relative">
                                      <p:cBhvr from="" to="">
                                        <p:cTn id="10" dur="850" fill="hold">
                                          <p:stCondLst>
                                            <p:cond delay="0"/>
                                          </p:stCondLst>
                                        </p:cTn>
                                        <p:tgtEl>
                                          <p:spTgt spid="9"/>
                                        </p:tgtEl>
                                        <p:attrNameLst>
                                          <p:attrName>ppt_x</p:attrName>
                                          <p:attrName>ppt_y</p:attrName>
                                        </p:attrNameLst>
                                      </p:cBhvr>
                                      <p:from x="0" y="25"/>
                                      <p:to x="0" y="0"/>
                                    </p:animMotion>
                                  </p:childTnLst>
                                </p:cTn>
                              </p:par>
                              <p:par>
                                <p:cTn id="11" presetID="10" presetClass="entr" presetSubtype="0" fill="hold"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255"/>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850"/>
                                        <p:tgtEl>
                                          <p:spTgt spid="4"/>
                                        </p:tgtEl>
                                      </p:cBhvr>
                                    </p:animEffect>
                                  </p:childTnLst>
                                </p:cTn>
                              </p:par>
                              <p:par>
                                <p:cTn id="20" presetID="0" presetClass="entr" presetSubtype="0" decel="80000" fill="hold" grpId="1" nodeType="withEffect">
                                  <p:stCondLst>
                                    <p:cond delay="255"/>
                                  </p:stCondLst>
                                  <p:childTnLst>
                                    <p:set>
                                      <p:cBhvr>
                                        <p:cTn id="21" dur="1" fill="hold">
                                          <p:stCondLst>
                                            <p:cond delay="849"/>
                                          </p:stCondLst>
                                        </p:cTn>
                                        <p:tgtEl>
                                          <p:spTgt spid="4"/>
                                        </p:tgtEl>
                                        <p:attrNameLst>
                                          <p:attrName>style.visibility</p:attrName>
                                        </p:attrNameLst>
                                      </p:cBhvr>
                                      <p:to>
                                        <p:strVal val="visible"/>
                                      </p:to>
                                    </p:set>
                                    <p:animMotion origin="layout" pathEditMode="relative">
                                      <p:cBhvr from="" to="">
                                        <p:cTn id="22" dur="850" fill="hold">
                                          <p:stCondLst>
                                            <p:cond delay="0"/>
                                          </p:stCondLst>
                                        </p:cTn>
                                        <p:tgtEl>
                                          <p:spTgt spid="4"/>
                                        </p:tgtEl>
                                        <p:attrNameLst>
                                          <p:attrName>ppt_x</p:attrName>
                                          <p:attrName>ppt_y</p:attrName>
                                        </p:attrNameLst>
                                      </p:cBhvr>
                                      <p:from x="0" y="25"/>
                                      <p:to x="0" y="0"/>
                                    </p:animMotion>
                                  </p:childTnLst>
                                </p:cTn>
                              </p:par>
                              <p:par>
                                <p:cTn id="23" presetID="10" presetClass="entr" presetSubtype="0" fill="hold" grpId="0" nodeType="withEffect">
                                  <p:stCondLst>
                                    <p:cond delay="425"/>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850"/>
                                        <p:tgtEl>
                                          <p:spTgt spid="6"/>
                                        </p:tgtEl>
                                      </p:cBhvr>
                                    </p:animEffect>
                                  </p:childTnLst>
                                </p:cTn>
                              </p:par>
                              <p:par>
                                <p:cTn id="26" presetID="0" presetClass="entr" presetSubtype="0" decel="80000" fill="hold" grpId="1" nodeType="withEffect">
                                  <p:stCondLst>
                                    <p:cond delay="425"/>
                                  </p:stCondLst>
                                  <p:childTnLst>
                                    <p:set>
                                      <p:cBhvr>
                                        <p:cTn id="27" dur="1" fill="hold">
                                          <p:stCondLst>
                                            <p:cond delay="849"/>
                                          </p:stCondLst>
                                        </p:cTn>
                                        <p:tgtEl>
                                          <p:spTgt spid="6"/>
                                        </p:tgtEl>
                                        <p:attrNameLst>
                                          <p:attrName>style.visibility</p:attrName>
                                        </p:attrNameLst>
                                      </p:cBhvr>
                                      <p:to>
                                        <p:strVal val="visible"/>
                                      </p:to>
                                    </p:set>
                                    <p:animMotion origin="layout" pathEditMode="relative">
                                      <p:cBhvr from="" to="">
                                        <p:cTn id="28" dur="850" fill="hold">
                                          <p:stCondLst>
                                            <p:cond delay="0"/>
                                          </p:stCondLst>
                                        </p:cTn>
                                        <p:tgtEl>
                                          <p:spTgt spid="6"/>
                                        </p:tgtEl>
                                        <p:attrNameLst>
                                          <p:attrName>ppt_x</p:attrName>
                                          <p:attrName>ppt_y</p:attrName>
                                        </p:attrNameLst>
                                      </p:cBhvr>
                                      <p:from x="0" y="25"/>
                                      <p:to x="0" y="0"/>
                                    </p:animMotion>
                                  </p:childTnLst>
                                </p:cTn>
                              </p:par>
                              <p:par>
                                <p:cTn id="29" presetID="10" presetClass="entr" presetSubtype="0" fill="hold" grpId="0" nodeType="withEffect">
                                  <p:stCondLst>
                                    <p:cond delay="51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850"/>
                                        <p:tgtEl>
                                          <p:spTgt spid="7"/>
                                        </p:tgtEl>
                                      </p:cBhvr>
                                    </p:animEffect>
                                  </p:childTnLst>
                                </p:cTn>
                              </p:par>
                              <p:par>
                                <p:cTn id="32" presetID="0" presetClass="entr" presetSubtype="0" decel="80000" fill="hold" grpId="1" nodeType="withEffect">
                                  <p:stCondLst>
                                    <p:cond delay="510"/>
                                  </p:stCondLst>
                                  <p:childTnLst>
                                    <p:set>
                                      <p:cBhvr>
                                        <p:cTn id="33" dur="1" fill="hold">
                                          <p:stCondLst>
                                            <p:cond delay="849"/>
                                          </p:stCondLst>
                                        </p:cTn>
                                        <p:tgtEl>
                                          <p:spTgt spid="7"/>
                                        </p:tgtEl>
                                        <p:attrNameLst>
                                          <p:attrName>style.visibility</p:attrName>
                                        </p:attrNameLst>
                                      </p:cBhvr>
                                      <p:to>
                                        <p:strVal val="visible"/>
                                      </p:to>
                                    </p:set>
                                    <p:animMotion origin="layout" pathEditMode="relative">
                                      <p:cBhvr from="" to="">
                                        <p:cTn id="34" dur="850" fill="hold">
                                          <p:stCondLst>
                                            <p:cond delay="0"/>
                                          </p:stCondLst>
                                        </p:cTn>
                                        <p:tgtEl>
                                          <p:spTgt spid="7"/>
                                        </p:tgtEl>
                                        <p:attrNameLst>
                                          <p:attrName>ppt_x</p:attrName>
                                          <p:attrName>ppt_y</p:attrName>
                                        </p:attrNameLst>
                                      </p:cBhvr>
                                      <p:from x="0" y="25"/>
                                      <p:to x="0" y="0"/>
                                    </p:animMotion>
                                  </p:childTnLst>
                                </p:cTn>
                              </p:par>
                              <p:par>
                                <p:cTn id="35" presetID="10" presetClass="entr" presetSubtype="0" fill="hold" nodeType="withEffect">
                                  <p:stCondLst>
                                    <p:cond delay="595"/>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850"/>
                                        <p:tgtEl>
                                          <p:spTgt spid="8"/>
                                        </p:tgtEl>
                                      </p:cBhvr>
                                    </p:animEffect>
                                  </p:childTnLst>
                                </p:cTn>
                              </p:par>
                              <p:par>
                                <p:cTn id="38" presetID="0" presetClass="entr" presetSubtype="0" decel="80000" fill="hold" nodeType="withEffect">
                                  <p:stCondLst>
                                    <p:cond delay="595"/>
                                  </p:stCondLst>
                                  <p:childTnLst>
                                    <p:set>
                                      <p:cBhvr>
                                        <p:cTn id="39" dur="1" fill="hold">
                                          <p:stCondLst>
                                            <p:cond delay="849"/>
                                          </p:stCondLst>
                                        </p:cTn>
                                        <p:tgtEl>
                                          <p:spTgt spid="8"/>
                                        </p:tgtEl>
                                        <p:attrNameLst>
                                          <p:attrName>style.visibility</p:attrName>
                                        </p:attrNameLst>
                                      </p:cBhvr>
                                      <p:to>
                                        <p:strVal val="visible"/>
                                      </p:to>
                                    </p:set>
                                    <p:animMotion origin="layout" pathEditMode="relative">
                                      <p:cBhvr from="" to="">
                                        <p:cTn id="40" dur="850" fill="hold">
                                          <p:stCondLst>
                                            <p:cond delay="0"/>
                                          </p:stCondLst>
                                        </p:cTn>
                                        <p:tgtEl>
                                          <p:spTgt spid="8"/>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4" grpId="0"/>
      <p:bldP spid="4" grpId="1"/>
      <p:bldP spid="6" grpId="0"/>
      <p:bldP spid="6" grpId="1"/>
      <p:bldP spid="7" grpId="0"/>
      <p:bldP spid="7" grpI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2608</Words>
  <Application>Microsoft Office PowerPoint</Application>
  <DocSecurity>0</DocSecurity>
  <PresentationFormat>Widescreen</PresentationFormat>
  <Paragraphs>174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Bahnschrift</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William Hamlin</cp:lastModifiedBy>
  <cp:revision>1</cp:revision>
  <dcterms:created xsi:type="dcterms:W3CDTF">2026-10-18T16:08:24Z</dcterms:created>
  <dcterms:modified xsi:type="dcterms:W3CDTF">2026-10-18T16:13:17Z</dcterms:modified>
</cp:coreProperties>
</file>